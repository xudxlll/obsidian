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>
  <p:sldMasterIdLst>
    <p:sldMasterId id="2147483648" r:id="rId1"/>
    <p:sldMasterId id="2147483658" r:id="rId3"/>
  </p:sldMasterIdLst>
  <p:notesMasterIdLst>
    <p:notesMasterId r:id="rId5"/>
  </p:notesMasterIdLst>
  <p:handoutMasterIdLst>
    <p:handoutMasterId r:id="rId23"/>
  </p:handoutMasterIdLst>
  <p:sldIdLst>
    <p:sldId id="948" r:id="rId4"/>
    <p:sldId id="989" r:id="rId6"/>
    <p:sldId id="1015" r:id="rId7"/>
    <p:sldId id="1037" r:id="rId8"/>
    <p:sldId id="1050" r:id="rId9"/>
    <p:sldId id="1051" r:id="rId10"/>
    <p:sldId id="1052" r:id="rId11"/>
    <p:sldId id="1068" r:id="rId12"/>
    <p:sldId id="1069" r:id="rId13"/>
    <p:sldId id="1070" r:id="rId14"/>
    <p:sldId id="1058" r:id="rId15"/>
    <p:sldId id="1060" r:id="rId16"/>
    <p:sldId id="1065" r:id="rId17"/>
    <p:sldId id="1061" r:id="rId18"/>
    <p:sldId id="1045" r:id="rId19"/>
    <p:sldId id="1066" r:id="rId20"/>
    <p:sldId id="1044" r:id="rId21"/>
    <p:sldId id="1013" r:id="rId22"/>
  </p:sldIdLst>
  <p:sldSz cx="12192000" cy="6858000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8181"/>
    <a:srgbClr val="558ED5"/>
    <a:srgbClr val="007E39"/>
    <a:srgbClr val="231F20"/>
    <a:srgbClr val="000000"/>
    <a:srgbClr val="DC1F2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02" autoAdjust="0"/>
    <p:restoredTop sz="81417" autoAdjust="0"/>
  </p:normalViewPr>
  <p:slideViewPr>
    <p:cSldViewPr showGuides="1">
      <p:cViewPr varScale="1">
        <p:scale>
          <a:sx n="59" d="100"/>
          <a:sy n="59" d="100"/>
        </p:scale>
        <p:origin x="1158" y="60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88" d="100"/>
          <a:sy n="88" d="100"/>
        </p:scale>
        <p:origin x="3822" y="102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6" Type="http://schemas.openxmlformats.org/officeDocument/2006/relationships/tableStyles" Target="tableStyles.xml"/><Relationship Id="rId25" Type="http://schemas.openxmlformats.org/officeDocument/2006/relationships/viewProps" Target="viewProps.xml"/><Relationship Id="rId24" Type="http://schemas.openxmlformats.org/officeDocument/2006/relationships/presProps" Target="presProps.xml"/><Relationship Id="rId23" Type="http://schemas.openxmlformats.org/officeDocument/2006/relationships/handoutMaster" Target="handoutMasters/handoutMaster1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73867DC-A807-4635-80E2-015A0570BF07}" type="datetimeFigureOut">
              <a:rPr lang="zh-CN" altLang="en-US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F6B5AE57-9B45-47A7-B672-89D9F58C63C3}" type="slidenum">
              <a:rPr lang="zh-CN" altLang="en-US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5A9A24B1-843B-4ADA-839A-3BB9D3C85E5A}" type="datetimeFigureOut">
              <a:rPr lang="zh-CN" altLang="en-US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noProof="0"/>
              <a:t>单击此处编辑母版文本样式</a:t>
            </a:r>
            <a:endParaRPr lang="zh-CN" altLang="en-US" noProof="0"/>
          </a:p>
          <a:p>
            <a:pPr lvl="1"/>
            <a:r>
              <a:rPr lang="zh-CN" altLang="en-US" noProof="0"/>
              <a:t>第二级</a:t>
            </a:r>
            <a:endParaRPr lang="zh-CN" altLang="en-US" noProof="0"/>
          </a:p>
          <a:p>
            <a:pPr lvl="2"/>
            <a:r>
              <a:rPr lang="zh-CN" altLang="en-US" noProof="0"/>
              <a:t>第三级</a:t>
            </a:r>
            <a:endParaRPr lang="zh-CN" altLang="en-US" noProof="0"/>
          </a:p>
          <a:p>
            <a:pPr lvl="3"/>
            <a:r>
              <a:rPr lang="zh-CN" altLang="en-US" noProof="0"/>
              <a:t>第四级</a:t>
            </a:r>
            <a:endParaRPr lang="zh-CN" altLang="en-US" noProof="0"/>
          </a:p>
          <a:p>
            <a:pPr lvl="4"/>
            <a:r>
              <a:rPr lang="zh-CN" altLang="en-US" noProof="0"/>
              <a:t>第五级</a:t>
            </a:r>
            <a:endParaRPr lang="zh-CN" altLang="en-US" noProof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AC117731-F381-4A82-A84B-BA58BC05042A}" type="slidenum">
              <a:rPr lang="zh-CN" altLang="en-US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这些都是模式识别典型的应用场景</a:t>
            </a:r>
            <a:endParaRPr lang="en-US" altLang="zh-CN" dirty="0"/>
          </a:p>
          <a:p>
            <a:r>
              <a:rPr lang="zh-CN" altLang="en-US" dirty="0"/>
              <a:t>然后每一堆卖不同的价钱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C117731-F381-4A82-A84B-BA58BC05042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幻灯片图像占位符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17410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就需要对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NBA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球星进行能力梯度的分析</a:t>
            </a:r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17411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</a:ln>
        </p:spPr>
        <p:txBody>
          <a:bodyPr wrap="square" numCol="1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CA284D16-2544-43E3-AF47-81E7B9EF8D59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现在，我们就用</a:t>
            </a:r>
            <a:r>
              <a:rPr lang="en-US" altLang="zh-CN" dirty="0"/>
              <a:t>K-means</a:t>
            </a:r>
            <a:r>
              <a:rPr lang="zh-CN" altLang="en-US" dirty="0"/>
              <a:t>算法来这七名</a:t>
            </a:r>
            <a:r>
              <a:rPr lang="en-US" altLang="zh-CN" dirty="0"/>
              <a:t>NBA</a:t>
            </a:r>
            <a:r>
              <a:rPr lang="zh-CN" altLang="en-US" dirty="0"/>
              <a:t>球星的能力进行分析，来将他们划分为两个能力梯度</a:t>
            </a:r>
            <a:endParaRPr lang="en-US" altLang="zh-CN" dirty="0"/>
          </a:p>
          <a:p>
            <a:r>
              <a:rPr lang="zh-CN" altLang="en-US" dirty="0"/>
              <a:t>这里我们就用助攻和篮板两个指标来分析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C117731-F381-4A82-A84B-BA58BC05042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人工智能就是帮我们解决这种人力不能及或人力难以及的问题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C117731-F381-4A82-A84B-BA58BC05042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首先，我们把所有的球员放在一个由篮板和助攻组成的直角坐标系当中，那他们的位置怎么确定呢？比如詹姆斯</a:t>
            </a:r>
            <a:endParaRPr lang="en-US" altLang="zh-CN" dirty="0"/>
          </a:p>
          <a:p>
            <a:r>
              <a:rPr lang="zh-CN" altLang="en-US" dirty="0"/>
              <a:t>接着，随生成两个点，并把这两个点假定为两类球员的平均能力，现在我们就可以以这两个点为标准对球员的队伍进行划分了，</a:t>
            </a:r>
            <a:endParaRPr lang="en-US" altLang="zh-CN" dirty="0"/>
          </a:p>
          <a:p>
            <a:r>
              <a:rPr lang="zh-CN" altLang="en-US" dirty="0"/>
              <a:t>以詹姆斯为例</a:t>
            </a:r>
            <a:r>
              <a:rPr lang="en-US" altLang="zh-CN" dirty="0"/>
              <a:t>……..</a:t>
            </a:r>
            <a:endParaRPr lang="en-US" altLang="zh-CN" dirty="0"/>
          </a:p>
          <a:p>
            <a:r>
              <a:rPr lang="zh-CN" altLang="en-US" dirty="0"/>
              <a:t>现在我们就要计算詹姆斯到两个点的距离，之前给大家介绍过欧几里得距离，也叫作欧氏距离，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C117731-F381-4A82-A84B-BA58BC05042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首先，我们把所有的球员放在一个由篮板和助攻组成的直角坐标系当中，那他们的位置怎么确定呢？比如詹姆斯</a:t>
            </a:r>
            <a:endParaRPr lang="en-US" altLang="zh-CN" dirty="0"/>
          </a:p>
          <a:p>
            <a:r>
              <a:rPr lang="zh-CN" altLang="en-US" dirty="0"/>
              <a:t>接着，随生成两个点，并把这两个点假定为两类球员的平均能力，现在我们就可以以这两个点为标准对球员的队伍进行划分了，</a:t>
            </a:r>
            <a:endParaRPr lang="en-US" altLang="zh-CN" dirty="0"/>
          </a:p>
          <a:p>
            <a:r>
              <a:rPr lang="zh-CN" altLang="en-US" dirty="0"/>
              <a:t>以詹姆斯为例</a:t>
            </a:r>
            <a:r>
              <a:rPr lang="en-US" altLang="zh-CN" dirty="0"/>
              <a:t>……..</a:t>
            </a:r>
            <a:endParaRPr lang="en-US" altLang="zh-CN" dirty="0"/>
          </a:p>
          <a:p>
            <a:r>
              <a:rPr lang="zh-CN" altLang="en-US" dirty="0"/>
              <a:t>现在我们就要计算詹姆斯到两个点的距离，之前给大家介绍过欧几里得距离，也叫作欧氏距离，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C117731-F381-4A82-A84B-BA58BC05042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首先，我们把所有的球员放在一个由篮板和助攻组成的直角坐标系当中，那他们的位置怎么确定呢？比如詹姆斯</a:t>
            </a:r>
            <a:endParaRPr lang="en-US" altLang="zh-CN" dirty="0"/>
          </a:p>
          <a:p>
            <a:r>
              <a:rPr lang="zh-CN" altLang="en-US" dirty="0"/>
              <a:t>接着，随生成两个点，并把这两个点假定为两类球员的平均能力，现在我们就可以以这两个点为标准对球员的队伍进行划分了，</a:t>
            </a:r>
            <a:endParaRPr lang="en-US" altLang="zh-CN" dirty="0"/>
          </a:p>
          <a:p>
            <a:r>
              <a:rPr lang="zh-CN" altLang="en-US" dirty="0"/>
              <a:t>以詹姆斯为例</a:t>
            </a:r>
            <a:r>
              <a:rPr lang="en-US" altLang="zh-CN" dirty="0"/>
              <a:t>……..</a:t>
            </a:r>
            <a:endParaRPr lang="en-US" altLang="zh-CN" dirty="0"/>
          </a:p>
          <a:p>
            <a:r>
              <a:rPr lang="zh-CN" altLang="en-US" dirty="0"/>
              <a:t>现在我们就要计算詹姆斯到两个点的距离，之前给大家介绍过欧几里得距离，也叫作欧氏距离，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C117731-F381-4A82-A84B-BA58BC05042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首先，我们把所有的球员放在一个由篮板和助攻组成的直角坐标系当中，那他们的位置怎么确定呢？比如詹姆斯</a:t>
            </a:r>
            <a:endParaRPr lang="en-US" altLang="zh-CN" dirty="0"/>
          </a:p>
          <a:p>
            <a:r>
              <a:rPr lang="zh-CN" altLang="en-US" dirty="0"/>
              <a:t>接着，随生成两个点，并把这两个点假定为两类球员的平均能力，现在我们就可以以这两个点为标准对球员的队伍进行划分了，</a:t>
            </a:r>
            <a:endParaRPr lang="en-US" altLang="zh-CN" dirty="0"/>
          </a:p>
          <a:p>
            <a:r>
              <a:rPr lang="zh-CN" altLang="en-US" dirty="0"/>
              <a:t>以詹姆斯为例</a:t>
            </a:r>
            <a:r>
              <a:rPr lang="en-US" altLang="zh-CN" dirty="0"/>
              <a:t>……..</a:t>
            </a:r>
            <a:endParaRPr lang="en-US" altLang="zh-CN" dirty="0"/>
          </a:p>
          <a:p>
            <a:r>
              <a:rPr lang="zh-CN" altLang="en-US" dirty="0"/>
              <a:t>现在我们就要计算詹姆斯到两个点的距离，之前给大家介绍过欧几里得距离，也叫作欧氏距离，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C117731-F381-4A82-A84B-BA58BC05042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首先，我们把所有的球员放在一个由篮板和助攻组成的直角坐标系当中，那他们的位置怎么确定呢？比如詹姆斯</a:t>
            </a:r>
            <a:endParaRPr lang="en-US" altLang="zh-CN" dirty="0"/>
          </a:p>
          <a:p>
            <a:r>
              <a:rPr lang="zh-CN" altLang="en-US" dirty="0"/>
              <a:t>接着，随生成两个点，并把这两个点假定为两类球员的平均能力，现在我们就可以以这两个点为标准对球员的队伍进行划分了，</a:t>
            </a:r>
            <a:endParaRPr lang="en-US" altLang="zh-CN" dirty="0"/>
          </a:p>
          <a:p>
            <a:r>
              <a:rPr lang="zh-CN" altLang="en-US" dirty="0"/>
              <a:t>以詹姆斯为例</a:t>
            </a:r>
            <a:r>
              <a:rPr lang="en-US" altLang="zh-CN" dirty="0"/>
              <a:t>……..</a:t>
            </a:r>
            <a:endParaRPr lang="en-US" altLang="zh-CN" dirty="0"/>
          </a:p>
          <a:p>
            <a:r>
              <a:rPr lang="zh-CN" altLang="en-US" dirty="0"/>
              <a:t>现在我们就要计算詹姆斯到两个点的距离，之前给大家介绍过欧几里得距离，也叫作欧氏距离，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C117731-F381-4A82-A84B-BA58BC05042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首先，我们把所有的球员放在一个由篮板和助攻组成的直角坐标系当中，那他们的位置怎么确定呢？比如詹姆斯</a:t>
            </a:r>
            <a:endParaRPr lang="en-US" altLang="zh-CN" dirty="0"/>
          </a:p>
          <a:p>
            <a:r>
              <a:rPr lang="zh-CN" altLang="en-US" dirty="0"/>
              <a:t>接着，随生成两个点，并把这两个点假定为两类球员的平均能力，现在我们就可以以这两个点为标准对球员的队伍进行划分了，</a:t>
            </a:r>
            <a:endParaRPr lang="en-US" altLang="zh-CN" dirty="0"/>
          </a:p>
          <a:p>
            <a:r>
              <a:rPr lang="zh-CN" altLang="en-US" dirty="0"/>
              <a:t>以詹姆斯为例</a:t>
            </a:r>
            <a:r>
              <a:rPr lang="en-US" altLang="zh-CN" dirty="0"/>
              <a:t>……..</a:t>
            </a:r>
            <a:endParaRPr lang="en-US" altLang="zh-CN" dirty="0"/>
          </a:p>
          <a:p>
            <a:r>
              <a:rPr lang="zh-CN" altLang="en-US" dirty="0"/>
              <a:t>现在我们就要计算詹姆斯到两个点的距离，之前给大家介绍过欧几里得距离，也叫作欧氏距离，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C117731-F381-4A82-A84B-BA58BC05042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首先，我们把所有的球员放在一个由篮板和助攻组成的直角坐标系当中，那他们的位置怎么确定呢？比如詹姆斯</a:t>
            </a:r>
            <a:endParaRPr lang="en-US" altLang="zh-CN" dirty="0"/>
          </a:p>
          <a:p>
            <a:r>
              <a:rPr lang="zh-CN" altLang="en-US" dirty="0"/>
              <a:t>接着，随生成两个点，并把这两个点假定为两类球员的平均能力，现在我们就可以以这两个点为标准对球员的队伍进行划分了，</a:t>
            </a:r>
            <a:endParaRPr lang="en-US" altLang="zh-CN" dirty="0"/>
          </a:p>
          <a:p>
            <a:r>
              <a:rPr lang="zh-CN" altLang="en-US" dirty="0"/>
              <a:t>以詹姆斯为例</a:t>
            </a:r>
            <a:r>
              <a:rPr lang="en-US" altLang="zh-CN" dirty="0"/>
              <a:t>……..</a:t>
            </a:r>
            <a:endParaRPr lang="en-US" altLang="zh-CN" dirty="0"/>
          </a:p>
          <a:p>
            <a:r>
              <a:rPr lang="zh-CN" altLang="en-US" dirty="0"/>
              <a:t>现在我们就要计算詹姆斯到两个点的距离，之前给大家介绍过欧几里得距离，也叫作欧氏距离，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C117731-F381-4A82-A84B-BA58BC05042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首先，我们把所有的球员放在一个由篮板和助攻组成的直角坐标系当中，那他们的位置怎么确定呢？比如詹姆斯</a:t>
            </a:r>
            <a:endParaRPr lang="en-US" altLang="zh-CN" dirty="0"/>
          </a:p>
          <a:p>
            <a:r>
              <a:rPr lang="zh-CN" altLang="en-US" dirty="0"/>
              <a:t>接着，随生成两个点，并把这两个点假定为两类球员的平均能力，现在我们就可以以这两个点为标准对球员的队伍进行划分了，</a:t>
            </a:r>
            <a:endParaRPr lang="en-US" altLang="zh-CN" dirty="0"/>
          </a:p>
          <a:p>
            <a:r>
              <a:rPr lang="zh-CN" altLang="en-US" dirty="0"/>
              <a:t>以詹姆斯为例</a:t>
            </a:r>
            <a:r>
              <a:rPr lang="en-US" altLang="zh-CN" dirty="0"/>
              <a:t>……..</a:t>
            </a:r>
            <a:endParaRPr lang="en-US" altLang="zh-CN" dirty="0"/>
          </a:p>
          <a:p>
            <a:r>
              <a:rPr lang="zh-CN" altLang="en-US" dirty="0"/>
              <a:t>现在我们就要计算詹姆斯到两个点的距离，之前给大家介绍过欧几里得距离，也叫作欧氏距离，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C117731-F381-4A82-A84B-BA58BC05042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C117731-F381-4A82-A84B-BA58BC05042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C117731-F381-4A82-A84B-BA58BC05042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C117731-F381-4A82-A84B-BA58BC05042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C117731-F381-4A82-A84B-BA58BC05042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知识讲解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1"/>
          <p:cNvSpPr/>
          <p:nvPr userDrawn="1"/>
        </p:nvSpPr>
        <p:spPr>
          <a:xfrm>
            <a:off x="5424488" y="0"/>
            <a:ext cx="6767512" cy="6840538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03316" y="2088880"/>
            <a:ext cx="10363200" cy="1470025"/>
          </a:xfrm>
        </p:spPr>
        <p:txBody>
          <a:bodyPr>
            <a:noAutofit/>
          </a:bodyPr>
          <a:lstStyle>
            <a:lvl1pPr algn="l">
              <a:defRPr sz="6000" b="1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900341" y="3564703"/>
            <a:ext cx="5675713" cy="622920"/>
          </a:xfrm>
          <a:solidFill>
            <a:srgbClr val="DC1F26"/>
          </a:solidFill>
        </p:spPr>
        <p:txBody>
          <a:bodyPr/>
          <a:lstStyle>
            <a:lvl1pPr marL="0" indent="0" algn="l">
              <a:buNone/>
              <a:defRPr b="1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7" name="文本占位符 16"/>
          <p:cNvSpPr>
            <a:spLocks noGrp="1"/>
          </p:cNvSpPr>
          <p:nvPr>
            <p:ph type="body" sz="quarter" idx="10"/>
          </p:nvPr>
        </p:nvSpPr>
        <p:spPr>
          <a:xfrm>
            <a:off x="3311691" y="3558905"/>
            <a:ext cx="5856684" cy="647675"/>
          </a:xfrm>
        </p:spPr>
        <p:txBody>
          <a:bodyPr>
            <a:noAutofit/>
          </a:bodyPr>
          <a:lstStyle>
            <a:lvl1pPr algn="r">
              <a:buNone/>
              <a:defRPr sz="4000" b="1">
                <a:solidFill>
                  <a:srgbClr val="00B0F0"/>
                </a:solidFill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知识讲解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5"/>
          <p:cNvGrpSpPr/>
          <p:nvPr userDrawn="1"/>
        </p:nvGrpSpPr>
        <p:grpSpPr bwMode="auto">
          <a:xfrm>
            <a:off x="95250" y="6389688"/>
            <a:ext cx="528638" cy="396875"/>
            <a:chOff x="71406" y="6069958"/>
            <a:chExt cx="716628" cy="716628"/>
          </a:xfrm>
        </p:grpSpPr>
        <p:sp>
          <p:nvSpPr>
            <p:cNvPr id="5" name="十字形 10"/>
            <p:cNvSpPr/>
            <p:nvPr userDrawn="1"/>
          </p:nvSpPr>
          <p:spPr>
            <a:xfrm>
              <a:off x="71406" y="6282080"/>
              <a:ext cx="503576" cy="504506"/>
            </a:xfrm>
            <a:prstGeom prst="plus">
              <a:avLst>
                <a:gd name="adj" fmla="val 37842"/>
              </a:avLst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6" name="十字形 13"/>
            <p:cNvSpPr/>
            <p:nvPr userDrawn="1"/>
          </p:nvSpPr>
          <p:spPr>
            <a:xfrm>
              <a:off x="499661" y="6069958"/>
              <a:ext cx="288373" cy="286651"/>
            </a:xfrm>
            <a:prstGeom prst="plus">
              <a:avLst>
                <a:gd name="adj" fmla="val 37842"/>
              </a:avLst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</p:grpSp>
      <p:sp>
        <p:nvSpPr>
          <p:cNvPr id="7" name="标题 1"/>
          <p:cNvSpPr txBox="1"/>
          <p:nvPr userDrawn="1"/>
        </p:nvSpPr>
        <p:spPr>
          <a:xfrm>
            <a:off x="0" y="2565400"/>
            <a:ext cx="623888" cy="1495425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39" rIns="91439" anchor="ctr"/>
          <a:lstStyle>
            <a:lvl1pPr algn="l" defTabSz="914400" rtl="0" eaLnBrk="1" latinLnBrk="0" hangingPunct="1">
              <a:spcBef>
                <a:spcPct val="0"/>
              </a:spcBef>
              <a:buNone/>
              <a:defRPr sz="2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pPr algn="ctr" fontAlgn="auto">
              <a:spcAft>
                <a:spcPts val="0"/>
              </a:spcAft>
              <a:defRPr/>
            </a:pPr>
            <a:r>
              <a:rPr lang="zh-CN" altLang="en-US" sz="1600" b="1" dirty="0">
                <a:solidFill>
                  <a:srgbClr val="F9FAFB"/>
                </a:solidFill>
              </a:rPr>
              <a:t>知识讲解</a:t>
            </a:r>
            <a:endParaRPr lang="en-US" altLang="zh-CN" sz="1600" b="1" dirty="0">
              <a:solidFill>
                <a:srgbClr val="F9FAFB"/>
              </a:solidFill>
            </a:endParaRPr>
          </a:p>
        </p:txBody>
      </p:sp>
      <p:pic>
        <p:nvPicPr>
          <p:cNvPr id="8" name="图片 8" descr="未标题-1"/>
          <p:cNvPicPr>
            <a:picLocks noChangeAspect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10001250" y="209550"/>
            <a:ext cx="1663700" cy="4111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23392" y="260648"/>
            <a:ext cx="9025003" cy="713088"/>
          </a:xfrm>
        </p:spPr>
        <p:txBody>
          <a:bodyPr>
            <a:noAutofit/>
          </a:bodyPr>
          <a:lstStyle>
            <a:lvl1pPr algn="l">
              <a:defRPr sz="3200" b="1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6" name="内容占位符 15"/>
          <p:cNvSpPr>
            <a:spLocks noGrp="1"/>
          </p:cNvSpPr>
          <p:nvPr>
            <p:ph sz="quarter" idx="10"/>
          </p:nvPr>
        </p:nvSpPr>
        <p:spPr>
          <a:xfrm>
            <a:off x="623393" y="1052737"/>
            <a:ext cx="10753195" cy="1009507"/>
          </a:xfrm>
        </p:spPr>
        <p:txBody>
          <a:bodyPr>
            <a:spAutoFit/>
          </a:bodyPr>
          <a:lstStyle>
            <a:lvl1pPr>
              <a:lnSpc>
                <a:spcPct val="120000"/>
              </a:lnSpc>
              <a:defRPr sz="2400"/>
            </a:lvl1pPr>
            <a:lvl2pPr>
              <a:lnSpc>
                <a:spcPct val="120000"/>
              </a:lnSpc>
              <a:defRPr sz="2200"/>
            </a:lvl2pPr>
            <a:lvl3pPr marL="914400" indent="0">
              <a:buNone/>
              <a:defRPr sz="1800">
                <a:solidFill>
                  <a:srgbClr val="00B0F0"/>
                </a:solidFill>
              </a:defRPr>
            </a:lvl3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en-US" altLang="zh-CN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知识讲解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 userDrawn="1"/>
        </p:nvSpPr>
        <p:spPr>
          <a:xfrm>
            <a:off x="0" y="2566988"/>
            <a:ext cx="623888" cy="1495425"/>
          </a:xfrm>
          <a:prstGeom prst="rect">
            <a:avLst/>
          </a:prstGeom>
          <a:solidFill>
            <a:srgbClr val="00B050"/>
          </a:solidFill>
          <a:ln>
            <a:solidFill>
              <a:srgbClr val="00B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39" rIns="91439" anchor="ctr"/>
          <a:lstStyle>
            <a:lvl1pPr algn="l" defTabSz="914400" rtl="0" eaLnBrk="1" latinLnBrk="0" hangingPunct="1">
              <a:spcBef>
                <a:spcPct val="0"/>
              </a:spcBef>
              <a:buNone/>
              <a:defRPr sz="2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pPr algn="ctr" fontAlgn="auto">
              <a:spcAft>
                <a:spcPts val="0"/>
              </a:spcAft>
              <a:defRPr/>
            </a:pPr>
            <a:r>
              <a:rPr lang="zh-CN" altLang="en-US" sz="1600" b="1" dirty="0">
                <a:solidFill>
                  <a:srgbClr val="F9FAFB"/>
                </a:solidFill>
              </a:rPr>
              <a:t>代码</a:t>
            </a:r>
            <a:endParaRPr lang="en-US" altLang="zh-CN" sz="1600" b="1" dirty="0">
              <a:solidFill>
                <a:srgbClr val="F9FAFB"/>
              </a:solidFill>
            </a:endParaRPr>
          </a:p>
          <a:p>
            <a:pPr algn="ctr" fontAlgn="auto">
              <a:spcAft>
                <a:spcPts val="0"/>
              </a:spcAft>
              <a:defRPr/>
            </a:pPr>
            <a:r>
              <a:rPr lang="zh-CN" altLang="en-US" sz="1600" b="1" dirty="0">
                <a:solidFill>
                  <a:srgbClr val="F9FAFB"/>
                </a:solidFill>
              </a:rPr>
              <a:t>实践</a:t>
            </a:r>
            <a:endParaRPr lang="en-US" altLang="zh-CN" sz="1600" b="1" dirty="0">
              <a:solidFill>
                <a:srgbClr val="F9FAFB"/>
              </a:solidFill>
            </a:endParaRPr>
          </a:p>
        </p:txBody>
      </p:sp>
      <p:grpSp>
        <p:nvGrpSpPr>
          <p:cNvPr id="5" name="组合 5"/>
          <p:cNvGrpSpPr/>
          <p:nvPr userDrawn="1"/>
        </p:nvGrpSpPr>
        <p:grpSpPr bwMode="auto">
          <a:xfrm>
            <a:off x="95250" y="6389688"/>
            <a:ext cx="528638" cy="396875"/>
            <a:chOff x="71406" y="6069958"/>
            <a:chExt cx="716628" cy="716628"/>
          </a:xfrm>
        </p:grpSpPr>
        <p:sp>
          <p:nvSpPr>
            <p:cNvPr id="6" name="十字形 10"/>
            <p:cNvSpPr/>
            <p:nvPr userDrawn="1"/>
          </p:nvSpPr>
          <p:spPr>
            <a:xfrm>
              <a:off x="71406" y="6282080"/>
              <a:ext cx="503576" cy="504506"/>
            </a:xfrm>
            <a:prstGeom prst="plus">
              <a:avLst>
                <a:gd name="adj" fmla="val 37842"/>
              </a:avLst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7" name="十字形 13"/>
            <p:cNvSpPr/>
            <p:nvPr userDrawn="1"/>
          </p:nvSpPr>
          <p:spPr>
            <a:xfrm>
              <a:off x="499661" y="6069958"/>
              <a:ext cx="288373" cy="286651"/>
            </a:xfrm>
            <a:prstGeom prst="plus">
              <a:avLst>
                <a:gd name="adj" fmla="val 37842"/>
              </a:avLst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</p:grpSp>
      <p:pic>
        <p:nvPicPr>
          <p:cNvPr id="8" name="图片 11" descr="未标题-1"/>
          <p:cNvPicPr>
            <a:picLocks noChangeAspect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10001250" y="209550"/>
            <a:ext cx="1663700" cy="4111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23392" y="260648"/>
            <a:ext cx="9025003" cy="713088"/>
          </a:xfrm>
        </p:spPr>
        <p:txBody>
          <a:bodyPr>
            <a:noAutofit/>
          </a:bodyPr>
          <a:lstStyle>
            <a:lvl1pPr algn="l">
              <a:defRPr sz="3200" b="1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6" name="内容占位符 15"/>
          <p:cNvSpPr>
            <a:spLocks noGrp="1"/>
          </p:cNvSpPr>
          <p:nvPr>
            <p:ph sz="quarter" idx="10"/>
          </p:nvPr>
        </p:nvSpPr>
        <p:spPr>
          <a:xfrm>
            <a:off x="623393" y="1052737"/>
            <a:ext cx="10753195" cy="1009507"/>
          </a:xfrm>
        </p:spPr>
        <p:txBody>
          <a:bodyPr>
            <a:spAutoFit/>
          </a:bodyPr>
          <a:lstStyle>
            <a:lvl1pPr>
              <a:lnSpc>
                <a:spcPct val="120000"/>
              </a:lnSpc>
              <a:defRPr sz="2400"/>
            </a:lvl1pPr>
            <a:lvl2pPr>
              <a:lnSpc>
                <a:spcPct val="120000"/>
              </a:lnSpc>
              <a:defRPr sz="2200"/>
            </a:lvl2pPr>
            <a:lvl3pPr marL="914400" indent="0">
              <a:buNone/>
              <a:defRPr sz="1800">
                <a:solidFill>
                  <a:srgbClr val="00B0F0"/>
                </a:solidFill>
              </a:defRPr>
            </a:lvl3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en-US" altLang="zh-CN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堂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 userDrawn="1"/>
        </p:nvSpPr>
        <p:spPr>
          <a:xfrm>
            <a:off x="0" y="2565400"/>
            <a:ext cx="623888" cy="1495425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39" rIns="91439" anchor="ctr"/>
          <a:lstStyle>
            <a:lvl1pPr algn="l" defTabSz="914400" rtl="0" eaLnBrk="1" latinLnBrk="0" hangingPunct="1">
              <a:spcBef>
                <a:spcPct val="0"/>
              </a:spcBef>
              <a:buNone/>
              <a:defRPr sz="2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pPr algn="ctr" fontAlgn="auto">
              <a:spcAft>
                <a:spcPts val="0"/>
              </a:spcAft>
              <a:defRPr/>
            </a:pPr>
            <a:r>
              <a:rPr lang="zh-CN" altLang="en-US" sz="1600" b="1" dirty="0">
                <a:solidFill>
                  <a:srgbClr val="F9FAFB"/>
                </a:solidFill>
              </a:rPr>
              <a:t>课</a:t>
            </a:r>
            <a:endParaRPr lang="en-US" altLang="zh-CN" sz="1600" b="1" dirty="0">
              <a:solidFill>
                <a:srgbClr val="F9FAFB"/>
              </a:solidFill>
            </a:endParaRPr>
          </a:p>
          <a:p>
            <a:pPr algn="ctr" fontAlgn="auto">
              <a:spcAft>
                <a:spcPts val="0"/>
              </a:spcAft>
              <a:defRPr/>
            </a:pPr>
            <a:r>
              <a:rPr lang="zh-CN" altLang="en-US" sz="1600" b="1" dirty="0">
                <a:solidFill>
                  <a:srgbClr val="F9FAFB"/>
                </a:solidFill>
              </a:rPr>
              <a:t>堂</a:t>
            </a:r>
            <a:endParaRPr lang="en-US" altLang="zh-CN" sz="1600" b="1" dirty="0">
              <a:solidFill>
                <a:srgbClr val="F9FAFB"/>
              </a:solidFill>
            </a:endParaRPr>
          </a:p>
          <a:p>
            <a:pPr algn="ctr" fontAlgn="auto">
              <a:spcAft>
                <a:spcPts val="0"/>
              </a:spcAft>
              <a:defRPr/>
            </a:pPr>
            <a:r>
              <a:rPr lang="zh-CN" altLang="en-US" sz="1600" b="1" dirty="0">
                <a:solidFill>
                  <a:srgbClr val="F9FAFB"/>
                </a:solidFill>
              </a:rPr>
              <a:t>练习</a:t>
            </a:r>
            <a:endParaRPr lang="en-US" altLang="zh-CN" sz="1600" b="1" dirty="0">
              <a:solidFill>
                <a:srgbClr val="F9FAFB"/>
              </a:solidFill>
            </a:endParaRPr>
          </a:p>
        </p:txBody>
      </p:sp>
      <p:sp>
        <p:nvSpPr>
          <p:cNvPr id="5" name="十字形 10"/>
          <p:cNvSpPr/>
          <p:nvPr userDrawn="1"/>
        </p:nvSpPr>
        <p:spPr>
          <a:xfrm>
            <a:off x="95250" y="6283325"/>
            <a:ext cx="671513" cy="503238"/>
          </a:xfrm>
          <a:prstGeom prst="plus">
            <a:avLst>
              <a:gd name="adj" fmla="val 37842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6" name="十字形 13"/>
          <p:cNvSpPr/>
          <p:nvPr userDrawn="1"/>
        </p:nvSpPr>
        <p:spPr>
          <a:xfrm>
            <a:off x="666750" y="6070600"/>
            <a:ext cx="384175" cy="287338"/>
          </a:xfrm>
          <a:prstGeom prst="plus">
            <a:avLst>
              <a:gd name="adj" fmla="val 37842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pic>
        <p:nvPicPr>
          <p:cNvPr id="7" name="图片 7" descr="未标题-1"/>
          <p:cNvPicPr>
            <a:picLocks noChangeAspect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10001250" y="209550"/>
            <a:ext cx="1663700" cy="4111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761963" y="571483"/>
            <a:ext cx="7524803" cy="1047757"/>
          </a:xfrm>
        </p:spPr>
        <p:txBody>
          <a:bodyPr>
            <a:noAutofit/>
          </a:bodyPr>
          <a:lstStyle>
            <a:lvl1pPr algn="l">
              <a:defRPr sz="2800" b="1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5" name="内容占位符 15"/>
          <p:cNvSpPr>
            <a:spLocks noGrp="1"/>
          </p:cNvSpPr>
          <p:nvPr>
            <p:ph sz="quarter" idx="10"/>
          </p:nvPr>
        </p:nvSpPr>
        <p:spPr>
          <a:xfrm>
            <a:off x="815414" y="1628800"/>
            <a:ext cx="10849204" cy="4824536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400"/>
            </a:lvl2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圆角矩形 8"/>
          <p:cNvSpPr/>
          <p:nvPr userDrawn="1"/>
        </p:nvSpPr>
        <p:spPr>
          <a:xfrm>
            <a:off x="1200150" y="3162300"/>
            <a:ext cx="9120188" cy="215900"/>
          </a:xfrm>
          <a:prstGeom prst="roundRect">
            <a:avLst/>
          </a:prstGeom>
          <a:solidFill>
            <a:srgbClr val="DC1F26"/>
          </a:solidFill>
          <a:ln w="38100">
            <a:noFill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图片 4" descr="未标题-1"/>
          <p:cNvPicPr>
            <a:picLocks noChangeAspect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10001250" y="209550"/>
            <a:ext cx="1663700" cy="4111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238216" y="2060849"/>
            <a:ext cx="9048813" cy="1047757"/>
          </a:xfrm>
        </p:spPr>
        <p:txBody>
          <a:bodyPr>
            <a:noAutofit/>
          </a:bodyPr>
          <a:lstStyle>
            <a:lvl1pPr algn="l">
              <a:defRPr sz="4800" b="1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内容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圆角矩形 8"/>
          <p:cNvSpPr/>
          <p:nvPr userDrawn="1"/>
        </p:nvSpPr>
        <p:spPr>
          <a:xfrm>
            <a:off x="1200150" y="3162300"/>
            <a:ext cx="9120188" cy="215900"/>
          </a:xfrm>
          <a:prstGeom prst="roundRect">
            <a:avLst/>
          </a:prstGeom>
          <a:solidFill>
            <a:srgbClr val="00B050"/>
          </a:solidFill>
          <a:ln w="38100">
            <a:noFill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图片 4" descr="未标题-1"/>
          <p:cNvPicPr>
            <a:picLocks noChangeAspect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10001250" y="209550"/>
            <a:ext cx="1663700" cy="4111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238216" y="2060849"/>
            <a:ext cx="9048813" cy="1047757"/>
          </a:xfrm>
        </p:spPr>
        <p:txBody>
          <a:bodyPr>
            <a:noAutofit/>
          </a:bodyPr>
          <a:lstStyle>
            <a:lvl1pPr algn="l">
              <a:defRPr sz="4800" b="1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十字形 8"/>
          <p:cNvSpPr/>
          <p:nvPr userDrawn="1"/>
        </p:nvSpPr>
        <p:spPr>
          <a:xfrm>
            <a:off x="190500" y="6215063"/>
            <a:ext cx="671513" cy="503237"/>
          </a:xfrm>
          <a:prstGeom prst="plus">
            <a:avLst>
              <a:gd name="adj" fmla="val 37842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5" name="十字形 9"/>
          <p:cNvSpPr/>
          <p:nvPr userDrawn="1"/>
        </p:nvSpPr>
        <p:spPr>
          <a:xfrm>
            <a:off x="758825" y="6000750"/>
            <a:ext cx="384175" cy="287338"/>
          </a:xfrm>
          <a:prstGeom prst="plus">
            <a:avLst>
              <a:gd name="adj" fmla="val 37842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6" name="矩形 11"/>
          <p:cNvSpPr/>
          <p:nvPr userDrawn="1"/>
        </p:nvSpPr>
        <p:spPr>
          <a:xfrm>
            <a:off x="0" y="549275"/>
            <a:ext cx="12192000" cy="935038"/>
          </a:xfrm>
          <a:prstGeom prst="rect">
            <a:avLst/>
          </a:prstGeom>
          <a:solidFill>
            <a:srgbClr val="DC1F26"/>
          </a:solidFill>
          <a:ln>
            <a:solidFill>
              <a:srgbClr val="DC1F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4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内容</a:t>
            </a:r>
            <a:endParaRPr lang="zh-CN" altLang="en-US" sz="4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295467" y="1916831"/>
            <a:ext cx="9313035" cy="3672409"/>
          </a:xfrm>
          <a:noFill/>
        </p:spPr>
        <p:txBody>
          <a:bodyPr>
            <a:normAutofit/>
          </a:bodyPr>
          <a:lstStyle>
            <a:lvl1pPr marL="457200" indent="-457200" algn="l">
              <a:buFont typeface="+mj-lt"/>
              <a:buAutoNum type="arabicPeriod"/>
              <a:defRPr sz="3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未标题-1"/>
          <p:cNvPicPr>
            <a:picLocks noChangeAspect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10001250" y="209550"/>
            <a:ext cx="1663700" cy="4111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0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1F20">
            <a:alpha val="89018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27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609600" y="1600200"/>
            <a:ext cx="10972800" cy="452596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标题占位符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1267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609600" y="1600200"/>
            <a:ext cx="10972800" cy="452596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240E43F5-C8D8-4925-95C6-274768847452}" type="datetimeFigureOut">
              <a:rPr lang="zh-CN" altLang="en-US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899F85A8-0007-4529-81B7-5597D4663F11}" type="slidenum">
              <a:rPr lang="zh-CN" altLang="en-US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9.xml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image" Target="../media/image10.jpeg"/><Relationship Id="rId7" Type="http://schemas.openxmlformats.org/officeDocument/2006/relationships/image" Target="../media/image9.jpeg"/><Relationship Id="rId6" Type="http://schemas.openxmlformats.org/officeDocument/2006/relationships/image" Target="../media/image8.jpeg"/><Relationship Id="rId5" Type="http://schemas.openxmlformats.org/officeDocument/2006/relationships/image" Target="../media/image7.jpeg"/><Relationship Id="rId4" Type="http://schemas.openxmlformats.org/officeDocument/2006/relationships/image" Target="../media/image6.jpeg"/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0" Type="http://schemas.openxmlformats.org/officeDocument/2006/relationships/notesSlide" Target="../notesSlides/notesSlide3.xml"/><Relationship Id="rId1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image" Target="../media/image14.png"/><Relationship Id="rId8" Type="http://schemas.openxmlformats.org/officeDocument/2006/relationships/image" Target="../media/image13.png"/><Relationship Id="rId7" Type="http://schemas.openxmlformats.org/officeDocument/2006/relationships/image" Target="../media/image5.jpeg"/><Relationship Id="rId6" Type="http://schemas.openxmlformats.org/officeDocument/2006/relationships/image" Target="../media/image3.jpeg"/><Relationship Id="rId5" Type="http://schemas.openxmlformats.org/officeDocument/2006/relationships/image" Target="../media/image12.jpeg"/><Relationship Id="rId4" Type="http://schemas.openxmlformats.org/officeDocument/2006/relationships/image" Target="../media/image7.jpeg"/><Relationship Id="rId3" Type="http://schemas.openxmlformats.org/officeDocument/2006/relationships/image" Target="../media/image11.jpeg"/><Relationship Id="rId20" Type="http://schemas.openxmlformats.org/officeDocument/2006/relationships/notesSlide" Target="../notesSlides/notesSlide4.xml"/><Relationship Id="rId2" Type="http://schemas.openxmlformats.org/officeDocument/2006/relationships/image" Target="../media/image6.jpeg"/><Relationship Id="rId19" Type="http://schemas.openxmlformats.org/officeDocument/2006/relationships/slideLayout" Target="../slideLayouts/slideLayout9.xml"/><Relationship Id="rId18" Type="http://schemas.openxmlformats.org/officeDocument/2006/relationships/image" Target="../media/image23.png"/><Relationship Id="rId17" Type="http://schemas.openxmlformats.org/officeDocument/2006/relationships/image" Target="../media/image22.png"/><Relationship Id="rId16" Type="http://schemas.openxmlformats.org/officeDocument/2006/relationships/image" Target="../media/image21.jpeg"/><Relationship Id="rId15" Type="http://schemas.openxmlformats.org/officeDocument/2006/relationships/image" Target="../media/image20.png"/><Relationship Id="rId14" Type="http://schemas.openxmlformats.org/officeDocument/2006/relationships/image" Target="../media/image19.png"/><Relationship Id="rId13" Type="http://schemas.openxmlformats.org/officeDocument/2006/relationships/image" Target="../media/image18.png"/><Relationship Id="rId12" Type="http://schemas.openxmlformats.org/officeDocument/2006/relationships/image" Target="../media/image17.png"/><Relationship Id="rId11" Type="http://schemas.openxmlformats.org/officeDocument/2006/relationships/image" Target="../media/image16.png"/><Relationship Id="rId10" Type="http://schemas.openxmlformats.org/officeDocument/2006/relationships/image" Target="../media/image15.png"/><Relationship Id="rId1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5.xml"/><Relationship Id="rId8" Type="http://schemas.openxmlformats.org/officeDocument/2006/relationships/slideLayout" Target="../slideLayouts/slideLayout9.xml"/><Relationship Id="rId7" Type="http://schemas.openxmlformats.org/officeDocument/2006/relationships/image" Target="../media/image23.png"/><Relationship Id="rId6" Type="http://schemas.openxmlformats.org/officeDocument/2006/relationships/image" Target="../media/image20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Relationship Id="rId3" Type="http://schemas.openxmlformats.org/officeDocument/2006/relationships/image" Target="../media/image24.png"/><Relationship Id="rId2" Type="http://schemas.openxmlformats.org/officeDocument/2006/relationships/image" Target="../media/image13.png"/><Relationship Id="rId1" Type="http://schemas.openxmlformats.org/officeDocument/2006/relationships/image" Target="../media/image3.jpe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image" Target="../media/image14.png"/><Relationship Id="rId8" Type="http://schemas.openxmlformats.org/officeDocument/2006/relationships/image" Target="../media/image13.png"/><Relationship Id="rId7" Type="http://schemas.openxmlformats.org/officeDocument/2006/relationships/image" Target="../media/image5.jpeg"/><Relationship Id="rId6" Type="http://schemas.openxmlformats.org/officeDocument/2006/relationships/image" Target="../media/image3.jpeg"/><Relationship Id="rId5" Type="http://schemas.openxmlformats.org/officeDocument/2006/relationships/image" Target="../media/image12.jpeg"/><Relationship Id="rId4" Type="http://schemas.openxmlformats.org/officeDocument/2006/relationships/image" Target="../media/image7.jpeg"/><Relationship Id="rId3" Type="http://schemas.openxmlformats.org/officeDocument/2006/relationships/image" Target="../media/image11.jpeg"/><Relationship Id="rId20" Type="http://schemas.openxmlformats.org/officeDocument/2006/relationships/notesSlide" Target="../notesSlides/notesSlide6.xml"/><Relationship Id="rId2" Type="http://schemas.openxmlformats.org/officeDocument/2006/relationships/image" Target="../media/image6.jpeg"/><Relationship Id="rId19" Type="http://schemas.openxmlformats.org/officeDocument/2006/relationships/slideLayout" Target="../slideLayouts/slideLayout9.xml"/><Relationship Id="rId18" Type="http://schemas.openxmlformats.org/officeDocument/2006/relationships/image" Target="../media/image20.png"/><Relationship Id="rId17" Type="http://schemas.openxmlformats.org/officeDocument/2006/relationships/image" Target="../media/image23.png"/><Relationship Id="rId16" Type="http://schemas.openxmlformats.org/officeDocument/2006/relationships/image" Target="../media/image22.png"/><Relationship Id="rId15" Type="http://schemas.openxmlformats.org/officeDocument/2006/relationships/image" Target="../media/image21.jpeg"/><Relationship Id="rId14" Type="http://schemas.openxmlformats.org/officeDocument/2006/relationships/image" Target="../media/image19.png"/><Relationship Id="rId13" Type="http://schemas.openxmlformats.org/officeDocument/2006/relationships/image" Target="../media/image18.png"/><Relationship Id="rId12" Type="http://schemas.openxmlformats.org/officeDocument/2006/relationships/image" Target="../media/image17.png"/><Relationship Id="rId11" Type="http://schemas.openxmlformats.org/officeDocument/2006/relationships/image" Target="../media/image16.png"/><Relationship Id="rId10" Type="http://schemas.openxmlformats.org/officeDocument/2006/relationships/image" Target="../media/image15.png"/><Relationship Id="rId1" Type="http://schemas.openxmlformats.org/officeDocument/2006/relationships/image" Target="../media/image4.jpe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image" Target="../media/image14.png"/><Relationship Id="rId8" Type="http://schemas.openxmlformats.org/officeDocument/2006/relationships/image" Target="../media/image13.png"/><Relationship Id="rId7" Type="http://schemas.openxmlformats.org/officeDocument/2006/relationships/image" Target="../media/image5.jpeg"/><Relationship Id="rId6" Type="http://schemas.openxmlformats.org/officeDocument/2006/relationships/image" Target="../media/image3.jpeg"/><Relationship Id="rId5" Type="http://schemas.openxmlformats.org/officeDocument/2006/relationships/image" Target="../media/image12.jpeg"/><Relationship Id="rId4" Type="http://schemas.openxmlformats.org/officeDocument/2006/relationships/image" Target="../media/image7.jpeg"/><Relationship Id="rId3" Type="http://schemas.openxmlformats.org/officeDocument/2006/relationships/image" Target="../media/image11.jpeg"/><Relationship Id="rId22" Type="http://schemas.openxmlformats.org/officeDocument/2006/relationships/notesSlide" Target="../notesSlides/notesSlide7.xml"/><Relationship Id="rId21" Type="http://schemas.openxmlformats.org/officeDocument/2006/relationships/slideLayout" Target="../slideLayouts/slideLayout9.xml"/><Relationship Id="rId20" Type="http://schemas.openxmlformats.org/officeDocument/2006/relationships/image" Target="../media/image22.png"/><Relationship Id="rId2" Type="http://schemas.openxmlformats.org/officeDocument/2006/relationships/image" Target="../media/image6.jpeg"/><Relationship Id="rId19" Type="http://schemas.openxmlformats.org/officeDocument/2006/relationships/image" Target="../media/image21.jpeg"/><Relationship Id="rId18" Type="http://schemas.openxmlformats.org/officeDocument/2006/relationships/image" Target="../media/image28.png"/><Relationship Id="rId17" Type="http://schemas.openxmlformats.org/officeDocument/2006/relationships/image" Target="../media/image27.png"/><Relationship Id="rId16" Type="http://schemas.openxmlformats.org/officeDocument/2006/relationships/image" Target="../media/image20.png"/><Relationship Id="rId15" Type="http://schemas.openxmlformats.org/officeDocument/2006/relationships/image" Target="../media/image23.png"/><Relationship Id="rId14" Type="http://schemas.openxmlformats.org/officeDocument/2006/relationships/image" Target="../media/image19.png"/><Relationship Id="rId13" Type="http://schemas.openxmlformats.org/officeDocument/2006/relationships/image" Target="../media/image18.png"/><Relationship Id="rId12" Type="http://schemas.openxmlformats.org/officeDocument/2006/relationships/image" Target="../media/image17.png"/><Relationship Id="rId11" Type="http://schemas.openxmlformats.org/officeDocument/2006/relationships/image" Target="../media/image16.png"/><Relationship Id="rId10" Type="http://schemas.openxmlformats.org/officeDocument/2006/relationships/image" Target="../media/image15.png"/><Relationship Id="rId1" Type="http://schemas.openxmlformats.org/officeDocument/2006/relationships/image" Target="../media/image4.jpe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image" Target="../media/image14.png"/><Relationship Id="rId8" Type="http://schemas.openxmlformats.org/officeDocument/2006/relationships/image" Target="../media/image13.png"/><Relationship Id="rId7" Type="http://schemas.openxmlformats.org/officeDocument/2006/relationships/image" Target="../media/image5.jpeg"/><Relationship Id="rId6" Type="http://schemas.openxmlformats.org/officeDocument/2006/relationships/image" Target="../media/image3.jpeg"/><Relationship Id="rId5" Type="http://schemas.openxmlformats.org/officeDocument/2006/relationships/image" Target="../media/image12.jpeg"/><Relationship Id="rId4" Type="http://schemas.openxmlformats.org/officeDocument/2006/relationships/image" Target="../media/image7.jpeg"/><Relationship Id="rId3" Type="http://schemas.openxmlformats.org/officeDocument/2006/relationships/image" Target="../media/image11.jpeg"/><Relationship Id="rId22" Type="http://schemas.openxmlformats.org/officeDocument/2006/relationships/notesSlide" Target="../notesSlides/notesSlide8.xml"/><Relationship Id="rId21" Type="http://schemas.openxmlformats.org/officeDocument/2006/relationships/slideLayout" Target="../slideLayouts/slideLayout9.xml"/><Relationship Id="rId20" Type="http://schemas.openxmlformats.org/officeDocument/2006/relationships/image" Target="../media/image28.png"/><Relationship Id="rId2" Type="http://schemas.openxmlformats.org/officeDocument/2006/relationships/image" Target="../media/image6.jpeg"/><Relationship Id="rId19" Type="http://schemas.openxmlformats.org/officeDocument/2006/relationships/image" Target="../media/image27.png"/><Relationship Id="rId18" Type="http://schemas.openxmlformats.org/officeDocument/2006/relationships/image" Target="../media/image20.png"/><Relationship Id="rId17" Type="http://schemas.openxmlformats.org/officeDocument/2006/relationships/image" Target="../media/image23.png"/><Relationship Id="rId16" Type="http://schemas.openxmlformats.org/officeDocument/2006/relationships/image" Target="../media/image22.png"/><Relationship Id="rId15" Type="http://schemas.openxmlformats.org/officeDocument/2006/relationships/image" Target="../media/image21.jpeg"/><Relationship Id="rId14" Type="http://schemas.openxmlformats.org/officeDocument/2006/relationships/image" Target="../media/image19.png"/><Relationship Id="rId13" Type="http://schemas.openxmlformats.org/officeDocument/2006/relationships/image" Target="../media/image18.png"/><Relationship Id="rId12" Type="http://schemas.openxmlformats.org/officeDocument/2006/relationships/image" Target="../media/image17.png"/><Relationship Id="rId11" Type="http://schemas.openxmlformats.org/officeDocument/2006/relationships/image" Target="../media/image16.png"/><Relationship Id="rId10" Type="http://schemas.openxmlformats.org/officeDocument/2006/relationships/image" Target="../media/image15.png"/><Relationship Id="rId1" Type="http://schemas.openxmlformats.org/officeDocument/2006/relationships/image" Target="../media/image4.jpeg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image" Target="../media/image14.png"/><Relationship Id="rId8" Type="http://schemas.openxmlformats.org/officeDocument/2006/relationships/image" Target="../media/image13.png"/><Relationship Id="rId7" Type="http://schemas.openxmlformats.org/officeDocument/2006/relationships/image" Target="../media/image5.jpeg"/><Relationship Id="rId6" Type="http://schemas.openxmlformats.org/officeDocument/2006/relationships/image" Target="../media/image3.jpeg"/><Relationship Id="rId5" Type="http://schemas.openxmlformats.org/officeDocument/2006/relationships/image" Target="../media/image12.jpeg"/><Relationship Id="rId4" Type="http://schemas.openxmlformats.org/officeDocument/2006/relationships/image" Target="../media/image7.jpeg"/><Relationship Id="rId3" Type="http://schemas.openxmlformats.org/officeDocument/2006/relationships/image" Target="../media/image11.jpeg"/><Relationship Id="rId24" Type="http://schemas.openxmlformats.org/officeDocument/2006/relationships/notesSlide" Target="../notesSlides/notesSlide9.xml"/><Relationship Id="rId23" Type="http://schemas.openxmlformats.org/officeDocument/2006/relationships/slideLayout" Target="../slideLayouts/slideLayout9.xml"/><Relationship Id="rId22" Type="http://schemas.openxmlformats.org/officeDocument/2006/relationships/image" Target="../media/image30.png"/><Relationship Id="rId21" Type="http://schemas.openxmlformats.org/officeDocument/2006/relationships/image" Target="../media/image29.png"/><Relationship Id="rId20" Type="http://schemas.openxmlformats.org/officeDocument/2006/relationships/image" Target="../media/image28.png"/><Relationship Id="rId2" Type="http://schemas.openxmlformats.org/officeDocument/2006/relationships/image" Target="../media/image6.jpeg"/><Relationship Id="rId19" Type="http://schemas.openxmlformats.org/officeDocument/2006/relationships/image" Target="../media/image27.png"/><Relationship Id="rId18" Type="http://schemas.openxmlformats.org/officeDocument/2006/relationships/image" Target="../media/image20.png"/><Relationship Id="rId17" Type="http://schemas.openxmlformats.org/officeDocument/2006/relationships/image" Target="../media/image23.png"/><Relationship Id="rId16" Type="http://schemas.openxmlformats.org/officeDocument/2006/relationships/image" Target="../media/image22.png"/><Relationship Id="rId15" Type="http://schemas.openxmlformats.org/officeDocument/2006/relationships/image" Target="../media/image21.jpeg"/><Relationship Id="rId14" Type="http://schemas.openxmlformats.org/officeDocument/2006/relationships/image" Target="../media/image19.png"/><Relationship Id="rId13" Type="http://schemas.openxmlformats.org/officeDocument/2006/relationships/image" Target="../media/image18.png"/><Relationship Id="rId12" Type="http://schemas.openxmlformats.org/officeDocument/2006/relationships/image" Target="../media/image17.png"/><Relationship Id="rId11" Type="http://schemas.openxmlformats.org/officeDocument/2006/relationships/image" Target="../media/image16.png"/><Relationship Id="rId10" Type="http://schemas.openxmlformats.org/officeDocument/2006/relationships/image" Target="../media/image15.png"/><Relationship Id="rId1" Type="http://schemas.openxmlformats.org/officeDocument/2006/relationships/image" Target="../media/image4.jpeg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image" Target="../media/image13.png"/><Relationship Id="rId8" Type="http://schemas.openxmlformats.org/officeDocument/2006/relationships/image" Target="../media/image5.jpeg"/><Relationship Id="rId7" Type="http://schemas.openxmlformats.org/officeDocument/2006/relationships/image" Target="../media/image3.jpeg"/><Relationship Id="rId6" Type="http://schemas.openxmlformats.org/officeDocument/2006/relationships/image" Target="../media/image12.jpeg"/><Relationship Id="rId5" Type="http://schemas.openxmlformats.org/officeDocument/2006/relationships/image" Target="../media/image7.jpeg"/><Relationship Id="rId4" Type="http://schemas.openxmlformats.org/officeDocument/2006/relationships/image" Target="../media/image11.jpeg"/><Relationship Id="rId3" Type="http://schemas.openxmlformats.org/officeDocument/2006/relationships/image" Target="../media/image6.jpeg"/><Relationship Id="rId22" Type="http://schemas.openxmlformats.org/officeDocument/2006/relationships/notesSlide" Target="../notesSlides/notesSlide10.xml"/><Relationship Id="rId21" Type="http://schemas.openxmlformats.org/officeDocument/2006/relationships/slideLayout" Target="../slideLayouts/slideLayout9.xml"/><Relationship Id="rId20" Type="http://schemas.openxmlformats.org/officeDocument/2006/relationships/image" Target="../media/image32.png"/><Relationship Id="rId2" Type="http://schemas.openxmlformats.org/officeDocument/2006/relationships/image" Target="../media/image4.jpeg"/><Relationship Id="rId19" Type="http://schemas.openxmlformats.org/officeDocument/2006/relationships/image" Target="../media/image31.png"/><Relationship Id="rId18" Type="http://schemas.openxmlformats.org/officeDocument/2006/relationships/image" Target="../media/image22.png"/><Relationship Id="rId17" Type="http://schemas.openxmlformats.org/officeDocument/2006/relationships/image" Target="../media/image30.png"/><Relationship Id="rId16" Type="http://schemas.openxmlformats.org/officeDocument/2006/relationships/image" Target="../media/image29.png"/><Relationship Id="rId15" Type="http://schemas.openxmlformats.org/officeDocument/2006/relationships/image" Target="../media/image19.png"/><Relationship Id="rId14" Type="http://schemas.openxmlformats.org/officeDocument/2006/relationships/image" Target="../media/image18.png"/><Relationship Id="rId13" Type="http://schemas.openxmlformats.org/officeDocument/2006/relationships/image" Target="../media/image17.png"/><Relationship Id="rId12" Type="http://schemas.openxmlformats.org/officeDocument/2006/relationships/image" Target="../media/image16.png"/><Relationship Id="rId11" Type="http://schemas.openxmlformats.org/officeDocument/2006/relationships/image" Target="../media/image15.png"/><Relationship Id="rId10" Type="http://schemas.openxmlformats.org/officeDocument/2006/relationships/image" Target="../media/image14.png"/><Relationship Id="rId1" Type="http://schemas.openxmlformats.org/officeDocument/2006/relationships/image" Target="../media/image21.jpeg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image" Target="../media/image14.png"/><Relationship Id="rId8" Type="http://schemas.openxmlformats.org/officeDocument/2006/relationships/image" Target="../media/image13.png"/><Relationship Id="rId7" Type="http://schemas.openxmlformats.org/officeDocument/2006/relationships/image" Target="../media/image5.jpeg"/><Relationship Id="rId6" Type="http://schemas.openxmlformats.org/officeDocument/2006/relationships/image" Target="../media/image3.jpeg"/><Relationship Id="rId5" Type="http://schemas.openxmlformats.org/officeDocument/2006/relationships/image" Target="../media/image12.jpeg"/><Relationship Id="rId4" Type="http://schemas.openxmlformats.org/officeDocument/2006/relationships/image" Target="../media/image7.jpeg"/><Relationship Id="rId3" Type="http://schemas.openxmlformats.org/officeDocument/2006/relationships/image" Target="../media/image11.jpeg"/><Relationship Id="rId24" Type="http://schemas.openxmlformats.org/officeDocument/2006/relationships/notesSlide" Target="../notesSlides/notesSlide11.xml"/><Relationship Id="rId23" Type="http://schemas.openxmlformats.org/officeDocument/2006/relationships/slideLayout" Target="../slideLayouts/slideLayout9.xml"/><Relationship Id="rId22" Type="http://schemas.openxmlformats.org/officeDocument/2006/relationships/image" Target="../media/image22.png"/><Relationship Id="rId21" Type="http://schemas.openxmlformats.org/officeDocument/2006/relationships/image" Target="../media/image21.jpeg"/><Relationship Id="rId20" Type="http://schemas.openxmlformats.org/officeDocument/2006/relationships/image" Target="../media/image36.png"/><Relationship Id="rId2" Type="http://schemas.openxmlformats.org/officeDocument/2006/relationships/image" Target="../media/image6.jpeg"/><Relationship Id="rId19" Type="http://schemas.openxmlformats.org/officeDocument/2006/relationships/image" Target="../media/image35.png"/><Relationship Id="rId18" Type="http://schemas.openxmlformats.org/officeDocument/2006/relationships/image" Target="../media/image32.png"/><Relationship Id="rId17" Type="http://schemas.openxmlformats.org/officeDocument/2006/relationships/image" Target="../media/image31.png"/><Relationship Id="rId16" Type="http://schemas.openxmlformats.org/officeDocument/2006/relationships/image" Target="../media/image34.png"/><Relationship Id="rId15" Type="http://schemas.openxmlformats.org/officeDocument/2006/relationships/image" Target="../media/image33.png"/><Relationship Id="rId14" Type="http://schemas.openxmlformats.org/officeDocument/2006/relationships/image" Target="../media/image19.png"/><Relationship Id="rId13" Type="http://schemas.openxmlformats.org/officeDocument/2006/relationships/image" Target="../media/image18.png"/><Relationship Id="rId12" Type="http://schemas.openxmlformats.org/officeDocument/2006/relationships/image" Target="../media/image17.png"/><Relationship Id="rId11" Type="http://schemas.openxmlformats.org/officeDocument/2006/relationships/image" Target="../media/image16.png"/><Relationship Id="rId10" Type="http://schemas.openxmlformats.org/officeDocument/2006/relationships/image" Target="../media/image15.png"/><Relationship Id="rId1" Type="http://schemas.openxmlformats.org/officeDocument/2006/relationships/image" Target="../media/image4.jpeg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image" Target="../media/image14.png"/><Relationship Id="rId8" Type="http://schemas.openxmlformats.org/officeDocument/2006/relationships/image" Target="../media/image13.png"/><Relationship Id="rId7" Type="http://schemas.openxmlformats.org/officeDocument/2006/relationships/image" Target="../media/image5.jpeg"/><Relationship Id="rId6" Type="http://schemas.openxmlformats.org/officeDocument/2006/relationships/image" Target="../media/image3.jpeg"/><Relationship Id="rId5" Type="http://schemas.openxmlformats.org/officeDocument/2006/relationships/image" Target="../media/image12.jpeg"/><Relationship Id="rId4" Type="http://schemas.openxmlformats.org/officeDocument/2006/relationships/image" Target="../media/image7.jpeg"/><Relationship Id="rId3" Type="http://schemas.openxmlformats.org/officeDocument/2006/relationships/image" Target="../media/image11.jpeg"/><Relationship Id="rId20" Type="http://schemas.openxmlformats.org/officeDocument/2006/relationships/notesSlide" Target="../notesSlides/notesSlide12.xml"/><Relationship Id="rId2" Type="http://schemas.openxmlformats.org/officeDocument/2006/relationships/image" Target="../media/image6.jpeg"/><Relationship Id="rId19" Type="http://schemas.openxmlformats.org/officeDocument/2006/relationships/slideLayout" Target="../slideLayouts/slideLayout9.xml"/><Relationship Id="rId18" Type="http://schemas.openxmlformats.org/officeDocument/2006/relationships/image" Target="../media/image22.png"/><Relationship Id="rId17" Type="http://schemas.openxmlformats.org/officeDocument/2006/relationships/image" Target="../media/image21.jpeg"/><Relationship Id="rId16" Type="http://schemas.openxmlformats.org/officeDocument/2006/relationships/image" Target="../media/image36.png"/><Relationship Id="rId15" Type="http://schemas.openxmlformats.org/officeDocument/2006/relationships/image" Target="../media/image37.png"/><Relationship Id="rId14" Type="http://schemas.openxmlformats.org/officeDocument/2006/relationships/image" Target="../media/image19.png"/><Relationship Id="rId13" Type="http://schemas.openxmlformats.org/officeDocument/2006/relationships/image" Target="../media/image18.png"/><Relationship Id="rId12" Type="http://schemas.openxmlformats.org/officeDocument/2006/relationships/image" Target="../media/image17.png"/><Relationship Id="rId11" Type="http://schemas.openxmlformats.org/officeDocument/2006/relationships/image" Target="../media/image16.png"/><Relationship Id="rId10" Type="http://schemas.openxmlformats.org/officeDocument/2006/relationships/image" Target="../media/image15.png"/><Relationship Id="rId1" Type="http://schemas.openxmlformats.org/officeDocument/2006/relationships/image" Target="../media/image4.jpe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image" Target="../media/image15.png"/><Relationship Id="rId8" Type="http://schemas.openxmlformats.org/officeDocument/2006/relationships/image" Target="../media/image14.png"/><Relationship Id="rId7" Type="http://schemas.openxmlformats.org/officeDocument/2006/relationships/image" Target="../media/image5.jpeg"/><Relationship Id="rId6" Type="http://schemas.openxmlformats.org/officeDocument/2006/relationships/image" Target="../media/image3.jpeg"/><Relationship Id="rId5" Type="http://schemas.openxmlformats.org/officeDocument/2006/relationships/image" Target="../media/image12.jpeg"/><Relationship Id="rId4" Type="http://schemas.openxmlformats.org/officeDocument/2006/relationships/image" Target="../media/image7.jpeg"/><Relationship Id="rId3" Type="http://schemas.openxmlformats.org/officeDocument/2006/relationships/image" Target="../media/image11.jpeg"/><Relationship Id="rId20" Type="http://schemas.openxmlformats.org/officeDocument/2006/relationships/notesSlide" Target="../notesSlides/notesSlide15.xml"/><Relationship Id="rId2" Type="http://schemas.openxmlformats.org/officeDocument/2006/relationships/image" Target="../media/image6.jpeg"/><Relationship Id="rId19" Type="http://schemas.openxmlformats.org/officeDocument/2006/relationships/slideLayout" Target="../slideLayouts/slideLayout9.xml"/><Relationship Id="rId18" Type="http://schemas.openxmlformats.org/officeDocument/2006/relationships/image" Target="../media/image13.png"/><Relationship Id="rId17" Type="http://schemas.openxmlformats.org/officeDocument/2006/relationships/image" Target="../media/image22.png"/><Relationship Id="rId16" Type="http://schemas.openxmlformats.org/officeDocument/2006/relationships/image" Target="../media/image21.jpeg"/><Relationship Id="rId15" Type="http://schemas.openxmlformats.org/officeDocument/2006/relationships/image" Target="../media/image36.png"/><Relationship Id="rId14" Type="http://schemas.openxmlformats.org/officeDocument/2006/relationships/image" Target="../media/image38.png"/><Relationship Id="rId13" Type="http://schemas.openxmlformats.org/officeDocument/2006/relationships/image" Target="../media/image19.png"/><Relationship Id="rId12" Type="http://schemas.openxmlformats.org/officeDocument/2006/relationships/image" Target="../media/image18.png"/><Relationship Id="rId11" Type="http://schemas.openxmlformats.org/officeDocument/2006/relationships/image" Target="../media/image17.png"/><Relationship Id="rId10" Type="http://schemas.openxmlformats.org/officeDocument/2006/relationships/image" Target="../media/image16.png"/><Relationship Id="rId1" Type="http://schemas.openxmlformats.org/officeDocument/2006/relationships/image" Target="../media/image4.jpeg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6.xml"/><Relationship Id="rId3" Type="http://schemas.openxmlformats.org/officeDocument/2006/relationships/slideLayout" Target="../slideLayouts/slideLayout9.xml"/><Relationship Id="rId2" Type="http://schemas.openxmlformats.org/officeDocument/2006/relationships/image" Target="../media/image40.png"/><Relationship Id="rId1" Type="http://schemas.openxmlformats.org/officeDocument/2006/relationships/image" Target="../media/image39.jpe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标题 1"/>
          <p:cNvSpPr>
            <a:spLocks noGrp="1"/>
          </p:cNvSpPr>
          <p:nvPr>
            <p:ph type="ctrTitle"/>
          </p:nvPr>
        </p:nvSpPr>
        <p:spPr>
          <a:xfrm>
            <a:off x="2135560" y="1700808"/>
            <a:ext cx="6624736" cy="1470025"/>
          </a:xfrm>
        </p:spPr>
        <p:txBody>
          <a:bodyPr/>
          <a:lstStyle/>
          <a:p>
            <a:pPr eaLnBrk="1" hangingPunct="1"/>
            <a:r>
              <a:rPr lang="zh-CN" altLang="en-US" sz="5400" dirty="0"/>
              <a:t>聚类算法</a:t>
            </a:r>
            <a:endParaRPr lang="zh-CN" altLang="en-US" sz="5400" dirty="0"/>
          </a:p>
        </p:txBody>
      </p:sp>
      <p:grpSp>
        <p:nvGrpSpPr>
          <p:cNvPr id="2" name="组合 1"/>
          <p:cNvGrpSpPr/>
          <p:nvPr/>
        </p:nvGrpSpPr>
        <p:grpSpPr>
          <a:xfrm>
            <a:off x="5087888" y="3429000"/>
            <a:ext cx="4756430" cy="707886"/>
            <a:chOff x="5087888" y="3429000"/>
            <a:chExt cx="4756430" cy="707886"/>
          </a:xfrm>
        </p:grpSpPr>
        <p:sp>
          <p:nvSpPr>
            <p:cNvPr id="4" name="矩形 3"/>
            <p:cNvSpPr/>
            <p:nvPr/>
          </p:nvSpPr>
          <p:spPr>
            <a:xfrm>
              <a:off x="5087888" y="3429000"/>
              <a:ext cx="4756430" cy="70788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4000" b="1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——                </a:t>
              </a:r>
              <a:r>
                <a:rPr lang="zh-CN" altLang="en-US" sz="4000" b="1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聚类</a:t>
              </a:r>
              <a:endParaRPr lang="zh-CN" altLang="en-US" dirty="0"/>
            </a:p>
          </p:txBody>
        </p:sp>
        <p:sp>
          <p:nvSpPr>
            <p:cNvPr id="6" name="矩形 5"/>
            <p:cNvSpPr/>
            <p:nvPr/>
          </p:nvSpPr>
          <p:spPr>
            <a:xfrm>
              <a:off x="6314579" y="3429000"/>
              <a:ext cx="2448106" cy="70788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4000" b="1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K-means</a:t>
              </a:r>
              <a:endParaRPr lang="zh-CN" altLang="en-US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385" name="组合 78"/>
          <p:cNvGrpSpPr/>
          <p:nvPr/>
        </p:nvGrpSpPr>
        <p:grpSpPr bwMode="auto">
          <a:xfrm>
            <a:off x="479743" y="188640"/>
            <a:ext cx="2530475" cy="695325"/>
            <a:chOff x="179512" y="-57376"/>
            <a:chExt cx="2531550" cy="695586"/>
          </a:xfrm>
        </p:grpSpPr>
        <p:sp>
          <p:nvSpPr>
            <p:cNvPr id="16391" name="标题 1"/>
            <p:cNvSpPr txBox="1"/>
            <p:nvPr/>
          </p:nvSpPr>
          <p:spPr bwMode="auto">
            <a:xfrm>
              <a:off x="179512" y="-57376"/>
              <a:ext cx="2531550" cy="647856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/>
            <a:lstStyle/>
            <a:p>
              <a:pPr algn="ctr"/>
              <a:r>
                <a:rPr lang="zh-CN" altLang="en-US" sz="32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聚类</a:t>
              </a:r>
              <a:endPara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9" name="圆角矩形 88"/>
            <p:cNvSpPr/>
            <p:nvPr/>
          </p:nvSpPr>
          <p:spPr>
            <a:xfrm>
              <a:off x="324035" y="519102"/>
              <a:ext cx="2304442" cy="119108"/>
            </a:xfrm>
            <a:prstGeom prst="roundRect">
              <a:avLst/>
            </a:prstGeom>
            <a:solidFill>
              <a:srgbClr val="DC1F26"/>
            </a:solidFill>
            <a:ln w="38100">
              <a:noFill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6" name="圆角矩形 26"/>
          <p:cNvSpPr/>
          <p:nvPr/>
        </p:nvSpPr>
        <p:spPr>
          <a:xfrm>
            <a:off x="1246786" y="1245906"/>
            <a:ext cx="7729533" cy="565150"/>
          </a:xfrm>
          <a:prstGeom prst="roundRect">
            <a:avLst/>
          </a:prstGeom>
          <a:solidFill>
            <a:srgbClr val="DC1F2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400" dirty="0"/>
              <a:t>将对象的集合分成由类似的对象组成的多个类别的过程。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115" r="33085"/>
          <a:stretch>
            <a:fillRect/>
          </a:stretch>
        </p:blipFill>
        <p:spPr>
          <a:xfrm>
            <a:off x="2254899" y="2734052"/>
            <a:ext cx="1296144" cy="3022600"/>
          </a:xfrm>
          <a:prstGeom prst="roundRect">
            <a:avLst/>
          </a:prstGeom>
        </p:spPr>
      </p:pic>
      <p:grpSp>
        <p:nvGrpSpPr>
          <p:cNvPr id="7" name="组合 6"/>
          <p:cNvGrpSpPr/>
          <p:nvPr/>
        </p:nvGrpSpPr>
        <p:grpSpPr>
          <a:xfrm>
            <a:off x="4799856" y="2636912"/>
            <a:ext cx="5976664" cy="461665"/>
            <a:chOff x="4799856" y="2636912"/>
            <a:chExt cx="5976664" cy="461665"/>
          </a:xfrm>
        </p:grpSpPr>
        <p:sp>
          <p:nvSpPr>
            <p:cNvPr id="4" name="菱形 3"/>
            <p:cNvSpPr/>
            <p:nvPr/>
          </p:nvSpPr>
          <p:spPr>
            <a:xfrm>
              <a:off x="4799856" y="2746891"/>
              <a:ext cx="288032" cy="241705"/>
            </a:xfrm>
            <a:prstGeom prst="diamond">
              <a:avLst/>
            </a:prstGeom>
            <a:solidFill>
              <a:schemeClr val="bg2">
                <a:lumMod val="60000"/>
                <a:lumOff val="40000"/>
              </a:schemeClr>
            </a:solidFill>
            <a:ln>
              <a:solidFill>
                <a:schemeClr val="bg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文本框 4"/>
            <p:cNvSpPr txBox="1"/>
            <p:nvPr/>
          </p:nvSpPr>
          <p:spPr>
            <a:xfrm>
              <a:off x="5303912" y="2636912"/>
              <a:ext cx="547260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dirty="0"/>
                <a:t>NBA</a:t>
              </a:r>
              <a:r>
                <a:rPr lang="zh-CN" altLang="en-US" sz="2400" dirty="0"/>
                <a:t>球员能力分析</a:t>
              </a:r>
              <a:endParaRPr lang="zh-CN" altLang="en-US" sz="2400" dirty="0"/>
            </a:p>
          </p:txBody>
        </p:sp>
      </p:grpSp>
      <p:sp>
        <p:nvSpPr>
          <p:cNvPr id="6" name="文本框 5"/>
          <p:cNvSpPr txBox="1"/>
          <p:nvPr/>
        </p:nvSpPr>
        <p:spPr>
          <a:xfrm>
            <a:off x="5273992" y="5335321"/>
            <a:ext cx="24482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/>
              <a:t>防守</a:t>
            </a:r>
            <a:endParaRPr lang="zh-CN" altLang="en-US" sz="2000" dirty="0"/>
          </a:p>
        </p:txBody>
      </p:sp>
      <p:sp>
        <p:nvSpPr>
          <p:cNvPr id="26" name="文本框 25"/>
          <p:cNvSpPr txBox="1"/>
          <p:nvPr/>
        </p:nvSpPr>
        <p:spPr>
          <a:xfrm>
            <a:off x="5276996" y="4430286"/>
            <a:ext cx="24482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/>
              <a:t>篮板</a:t>
            </a:r>
            <a:endParaRPr lang="zh-CN" altLang="en-US" sz="2000" dirty="0"/>
          </a:p>
        </p:txBody>
      </p:sp>
      <p:sp>
        <p:nvSpPr>
          <p:cNvPr id="27" name="文本框 26"/>
          <p:cNvSpPr txBox="1"/>
          <p:nvPr/>
        </p:nvSpPr>
        <p:spPr>
          <a:xfrm>
            <a:off x="5273992" y="4849110"/>
            <a:ext cx="24482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/>
              <a:t>助攻</a:t>
            </a:r>
            <a:endParaRPr lang="zh-CN" altLang="en-US" sz="2000" dirty="0"/>
          </a:p>
        </p:txBody>
      </p:sp>
      <p:sp>
        <p:nvSpPr>
          <p:cNvPr id="28" name="文本框 27"/>
          <p:cNvSpPr txBox="1"/>
          <p:nvPr/>
        </p:nvSpPr>
        <p:spPr>
          <a:xfrm>
            <a:off x="5273992" y="3944075"/>
            <a:ext cx="24482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/>
              <a:t>得分</a:t>
            </a:r>
            <a:endParaRPr lang="zh-CN" altLang="en-US" sz="2000" dirty="0"/>
          </a:p>
        </p:txBody>
      </p:sp>
      <p:sp>
        <p:nvSpPr>
          <p:cNvPr id="29" name="文本框 28"/>
          <p:cNvSpPr txBox="1"/>
          <p:nvPr/>
        </p:nvSpPr>
        <p:spPr>
          <a:xfrm>
            <a:off x="5257224" y="5559922"/>
            <a:ext cx="24482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/>
              <a:t>……</a:t>
            </a:r>
            <a:endParaRPr lang="zh-CN" altLang="en-US" sz="2800" dirty="0"/>
          </a:p>
        </p:txBody>
      </p:sp>
      <p:grpSp>
        <p:nvGrpSpPr>
          <p:cNvPr id="8" name="组合 7"/>
          <p:cNvGrpSpPr/>
          <p:nvPr/>
        </p:nvGrpSpPr>
        <p:grpSpPr>
          <a:xfrm>
            <a:off x="4799856" y="3409280"/>
            <a:ext cx="5976664" cy="461665"/>
            <a:chOff x="4799856" y="3409280"/>
            <a:chExt cx="5976664" cy="461665"/>
          </a:xfrm>
        </p:grpSpPr>
        <p:sp>
          <p:nvSpPr>
            <p:cNvPr id="24" name="文本框 23"/>
            <p:cNvSpPr txBox="1"/>
            <p:nvPr/>
          </p:nvSpPr>
          <p:spPr>
            <a:xfrm>
              <a:off x="5303912" y="3409280"/>
              <a:ext cx="547260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dirty="0"/>
                <a:t>球员能力指标？</a:t>
              </a:r>
              <a:endParaRPr lang="zh-CN" altLang="en-US" sz="2400" dirty="0"/>
            </a:p>
          </p:txBody>
        </p:sp>
        <p:sp>
          <p:nvSpPr>
            <p:cNvPr id="30" name="菱形 29"/>
            <p:cNvSpPr/>
            <p:nvPr/>
          </p:nvSpPr>
          <p:spPr>
            <a:xfrm>
              <a:off x="4799856" y="3519259"/>
              <a:ext cx="288032" cy="241705"/>
            </a:xfrm>
            <a:prstGeom prst="diamond">
              <a:avLst/>
            </a:prstGeom>
            <a:solidFill>
              <a:schemeClr val="bg2">
                <a:lumMod val="60000"/>
                <a:lumOff val="40000"/>
              </a:schemeClr>
            </a:solidFill>
            <a:ln>
              <a:solidFill>
                <a:schemeClr val="bg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000"/>
                            </p:stCondLst>
                            <p:childTnLst>
                              <p:par>
                                <p:cTn id="3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50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2000"/>
                            </p:stCondLst>
                            <p:childTnLst>
                              <p:par>
                                <p:cTn id="3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6" grpId="0"/>
      <p:bldP spid="26" grpId="0"/>
      <p:bldP spid="27" grpId="0"/>
      <p:bldP spid="28" grpId="0"/>
      <p:bldP spid="29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文本框 22"/>
          <p:cNvSpPr txBox="1"/>
          <p:nvPr/>
        </p:nvSpPr>
        <p:spPr>
          <a:xfrm>
            <a:off x="227349" y="3573016"/>
            <a:ext cx="12601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/>
              <a:t>助攻</a:t>
            </a:r>
            <a:endParaRPr lang="zh-CN" altLang="en-US" sz="2400" b="1" dirty="0"/>
          </a:p>
        </p:txBody>
      </p:sp>
      <p:sp>
        <p:nvSpPr>
          <p:cNvPr id="24" name="文本框 23"/>
          <p:cNvSpPr txBox="1"/>
          <p:nvPr/>
        </p:nvSpPr>
        <p:spPr>
          <a:xfrm>
            <a:off x="189709" y="4623519"/>
            <a:ext cx="12601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/>
              <a:t>篮板</a:t>
            </a:r>
            <a:endParaRPr lang="zh-CN" altLang="en-US" sz="2800" b="1" dirty="0"/>
          </a:p>
        </p:txBody>
      </p:sp>
      <p:sp>
        <p:nvSpPr>
          <p:cNvPr id="35" name="矩形 34"/>
          <p:cNvSpPr/>
          <p:nvPr/>
        </p:nvSpPr>
        <p:spPr>
          <a:xfrm>
            <a:off x="349363" y="400246"/>
            <a:ext cx="234230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dirty="0"/>
              <a:t>K-means</a:t>
            </a:r>
            <a:r>
              <a:rPr lang="zh-CN" altLang="en-US" sz="2800" dirty="0"/>
              <a:t>算法</a:t>
            </a:r>
            <a:endParaRPr lang="zh-CN" altLang="en-US" sz="2800" dirty="0"/>
          </a:p>
        </p:txBody>
      </p:sp>
      <p:pic>
        <p:nvPicPr>
          <p:cNvPr id="36" name="图片 35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808" t="1514" r="12767" b="41845"/>
          <a:stretch>
            <a:fillRect/>
          </a:stretch>
        </p:blipFill>
        <p:spPr>
          <a:xfrm>
            <a:off x="1344902" y="2323692"/>
            <a:ext cx="725339" cy="689169"/>
          </a:xfrm>
          <a:prstGeom prst="ellipse">
            <a:avLst/>
          </a:prstGeom>
        </p:spPr>
      </p:pic>
      <p:pic>
        <p:nvPicPr>
          <p:cNvPr id="37" name="图片 36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431" t="1" r="17796" b="41846"/>
          <a:stretch>
            <a:fillRect/>
          </a:stretch>
        </p:blipFill>
        <p:spPr>
          <a:xfrm>
            <a:off x="2528116" y="2316427"/>
            <a:ext cx="759572" cy="703701"/>
          </a:xfrm>
          <a:prstGeom prst="ellipse">
            <a:avLst/>
          </a:prstGeom>
        </p:spPr>
      </p:pic>
      <p:pic>
        <p:nvPicPr>
          <p:cNvPr id="38" name="图片 37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446" t="-967" r="17698" b="54928"/>
          <a:stretch>
            <a:fillRect/>
          </a:stretch>
        </p:blipFill>
        <p:spPr>
          <a:xfrm>
            <a:off x="3809417" y="2319141"/>
            <a:ext cx="750172" cy="670026"/>
          </a:xfrm>
          <a:prstGeom prst="ellipse">
            <a:avLst/>
          </a:prstGeom>
        </p:spPr>
      </p:pic>
      <p:pic>
        <p:nvPicPr>
          <p:cNvPr id="39" name="图片 38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243" t="-917" r="28786" b="57271"/>
          <a:stretch>
            <a:fillRect/>
          </a:stretch>
        </p:blipFill>
        <p:spPr>
          <a:xfrm>
            <a:off x="5087888" y="2316427"/>
            <a:ext cx="722735" cy="651043"/>
          </a:xfrm>
          <a:prstGeom prst="ellipse">
            <a:avLst/>
          </a:prstGeom>
        </p:spPr>
      </p:pic>
      <p:pic>
        <p:nvPicPr>
          <p:cNvPr id="40" name="图片 39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225" r="13436" b="41596"/>
          <a:stretch>
            <a:fillRect/>
          </a:stretch>
        </p:blipFill>
        <p:spPr>
          <a:xfrm>
            <a:off x="7634873" y="2289754"/>
            <a:ext cx="764453" cy="680097"/>
          </a:xfrm>
          <a:prstGeom prst="ellipse">
            <a:avLst/>
          </a:prstGeom>
        </p:spPr>
      </p:pic>
      <p:pic>
        <p:nvPicPr>
          <p:cNvPr id="41" name="图片 40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63351" y="2277848"/>
            <a:ext cx="775841" cy="692262"/>
          </a:xfrm>
          <a:prstGeom prst="ellipse">
            <a:avLst/>
          </a:prstGeom>
        </p:spPr>
      </p:pic>
      <p:pic>
        <p:nvPicPr>
          <p:cNvPr id="43" name="图片 42"/>
          <p:cNvPicPr>
            <a:picLocks noChangeAspect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161" t="11018" r="28907" b="51902"/>
          <a:stretch>
            <a:fillRect/>
          </a:stretch>
        </p:blipFill>
        <p:spPr>
          <a:xfrm>
            <a:off x="8926944" y="2359984"/>
            <a:ext cx="666434" cy="603693"/>
          </a:xfrm>
          <a:prstGeom prst="ellipse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3195549" y="400246"/>
            <a:ext cx="437465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/>
              <a:t>NBA</a:t>
            </a:r>
            <a:r>
              <a:rPr lang="zh-CN" altLang="en-US" sz="2800" dirty="0"/>
              <a:t>球星能力分析</a:t>
            </a:r>
            <a:endParaRPr lang="zh-CN" altLang="en-US" sz="2800" dirty="0"/>
          </a:p>
        </p:txBody>
      </p:sp>
      <p:sp>
        <p:nvSpPr>
          <p:cNvPr id="3" name="文本框 2"/>
          <p:cNvSpPr txBox="1"/>
          <p:nvPr/>
        </p:nvSpPr>
        <p:spPr>
          <a:xfrm>
            <a:off x="1271464" y="1857936"/>
            <a:ext cx="9380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詹姆斯</a:t>
            </a:r>
            <a:endParaRPr lang="zh-CN" altLang="en-US" b="1" dirty="0"/>
          </a:p>
        </p:txBody>
      </p:sp>
      <p:sp>
        <p:nvSpPr>
          <p:cNvPr id="42" name="文本框 41"/>
          <p:cNvSpPr txBox="1"/>
          <p:nvPr/>
        </p:nvSpPr>
        <p:spPr>
          <a:xfrm>
            <a:off x="2528939" y="1850057"/>
            <a:ext cx="724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韦德</a:t>
            </a:r>
            <a:endParaRPr lang="zh-CN" altLang="en-US" b="1" dirty="0"/>
          </a:p>
        </p:txBody>
      </p:sp>
      <p:sp>
        <p:nvSpPr>
          <p:cNvPr id="49" name="文本框 48"/>
          <p:cNvSpPr txBox="1"/>
          <p:nvPr/>
        </p:nvSpPr>
        <p:spPr>
          <a:xfrm>
            <a:off x="3888735" y="1853385"/>
            <a:ext cx="9380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威少</a:t>
            </a:r>
            <a:endParaRPr lang="zh-CN" altLang="en-US" b="1" dirty="0"/>
          </a:p>
        </p:txBody>
      </p:sp>
      <p:sp>
        <p:nvSpPr>
          <p:cNvPr id="50" name="文本框 49"/>
          <p:cNvSpPr txBox="1"/>
          <p:nvPr/>
        </p:nvSpPr>
        <p:spPr>
          <a:xfrm>
            <a:off x="5099147" y="1829517"/>
            <a:ext cx="724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库里</a:t>
            </a:r>
            <a:endParaRPr lang="zh-CN" altLang="en-US" b="1" dirty="0"/>
          </a:p>
        </p:txBody>
      </p:sp>
      <p:sp>
        <p:nvSpPr>
          <p:cNvPr id="51" name="文本框 50"/>
          <p:cNvSpPr txBox="1"/>
          <p:nvPr/>
        </p:nvSpPr>
        <p:spPr>
          <a:xfrm>
            <a:off x="6312024" y="1850057"/>
            <a:ext cx="9380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杜兰特</a:t>
            </a:r>
            <a:endParaRPr lang="zh-CN" altLang="en-US" b="1" dirty="0"/>
          </a:p>
        </p:txBody>
      </p:sp>
      <p:sp>
        <p:nvSpPr>
          <p:cNvPr id="52" name="文本框 51"/>
          <p:cNvSpPr txBox="1"/>
          <p:nvPr/>
        </p:nvSpPr>
        <p:spPr>
          <a:xfrm>
            <a:off x="7690917" y="1849233"/>
            <a:ext cx="9380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哈登</a:t>
            </a:r>
            <a:endParaRPr lang="zh-CN" altLang="en-US" b="1" dirty="0"/>
          </a:p>
        </p:txBody>
      </p:sp>
      <p:sp>
        <p:nvSpPr>
          <p:cNvPr id="53" name="文本框 52"/>
          <p:cNvSpPr txBox="1"/>
          <p:nvPr/>
        </p:nvSpPr>
        <p:spPr>
          <a:xfrm>
            <a:off x="8904312" y="1856827"/>
            <a:ext cx="7074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保罗</a:t>
            </a:r>
            <a:endParaRPr lang="zh-CN" altLang="en-US" b="1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557" t="446" r="27557" b="52305"/>
          <a:stretch>
            <a:fillRect/>
          </a:stretch>
        </p:blipFill>
        <p:spPr>
          <a:xfrm>
            <a:off x="10120996" y="2302211"/>
            <a:ext cx="612223" cy="660557"/>
          </a:xfrm>
          <a:prstGeom prst="ellipse">
            <a:avLst/>
          </a:prstGeom>
        </p:spPr>
      </p:pic>
      <p:sp>
        <p:nvSpPr>
          <p:cNvPr id="60" name="文本框 59"/>
          <p:cNvSpPr txBox="1"/>
          <p:nvPr/>
        </p:nvSpPr>
        <p:spPr>
          <a:xfrm>
            <a:off x="10086074" y="1829517"/>
            <a:ext cx="7074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欧文</a:t>
            </a:r>
            <a:endParaRPr lang="zh-CN" altLang="en-US" b="1" dirty="0"/>
          </a:p>
        </p:txBody>
      </p:sp>
      <p:grpSp>
        <p:nvGrpSpPr>
          <p:cNvPr id="5" name="组合 4"/>
          <p:cNvGrpSpPr/>
          <p:nvPr/>
        </p:nvGrpSpPr>
        <p:grpSpPr>
          <a:xfrm>
            <a:off x="1127448" y="1849233"/>
            <a:ext cx="9865096" cy="3839883"/>
            <a:chOff x="1127448" y="1849233"/>
            <a:chExt cx="9865096" cy="3839883"/>
          </a:xfrm>
        </p:grpSpPr>
        <p:grpSp>
          <p:nvGrpSpPr>
            <p:cNvPr id="61" name="组合 60"/>
            <p:cNvGrpSpPr/>
            <p:nvPr/>
          </p:nvGrpSpPr>
          <p:grpSpPr>
            <a:xfrm>
              <a:off x="1127448" y="1849233"/>
              <a:ext cx="9865096" cy="3816424"/>
              <a:chOff x="1376989" y="1422049"/>
              <a:chExt cx="9865096" cy="3816424"/>
            </a:xfrm>
          </p:grpSpPr>
          <p:cxnSp>
            <p:nvCxnSpPr>
              <p:cNvPr id="11" name="直接连接符 10"/>
              <p:cNvCxnSpPr/>
              <p:nvPr/>
            </p:nvCxnSpPr>
            <p:spPr>
              <a:xfrm>
                <a:off x="1376989" y="2862209"/>
                <a:ext cx="9865096" cy="0"/>
              </a:xfrm>
              <a:prstGeom prst="line">
                <a:avLst/>
              </a:prstGeom>
              <a:ln w="38100">
                <a:solidFill>
                  <a:schemeClr val="bg2">
                    <a:lumMod val="40000"/>
                    <a:lumOff val="6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直接连接符 13"/>
              <p:cNvCxnSpPr/>
              <p:nvPr/>
            </p:nvCxnSpPr>
            <p:spPr>
              <a:xfrm>
                <a:off x="1376989" y="3870321"/>
                <a:ext cx="9865096" cy="0"/>
              </a:xfrm>
              <a:prstGeom prst="line">
                <a:avLst/>
              </a:prstGeom>
              <a:ln w="38100">
                <a:solidFill>
                  <a:schemeClr val="bg2">
                    <a:lumMod val="40000"/>
                    <a:lumOff val="6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直接连接符 14"/>
              <p:cNvCxnSpPr/>
              <p:nvPr/>
            </p:nvCxnSpPr>
            <p:spPr>
              <a:xfrm>
                <a:off x="1376989" y="4878433"/>
                <a:ext cx="9865096" cy="0"/>
              </a:xfrm>
              <a:prstGeom prst="line">
                <a:avLst/>
              </a:prstGeom>
              <a:ln w="38100">
                <a:solidFill>
                  <a:schemeClr val="bg2">
                    <a:lumMod val="40000"/>
                    <a:lumOff val="6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直接连接符 16"/>
              <p:cNvCxnSpPr/>
              <p:nvPr/>
            </p:nvCxnSpPr>
            <p:spPr>
              <a:xfrm>
                <a:off x="2529117" y="1422049"/>
                <a:ext cx="0" cy="3816424"/>
              </a:xfrm>
              <a:prstGeom prst="line">
                <a:avLst/>
              </a:prstGeom>
              <a:ln w="38100">
                <a:solidFill>
                  <a:schemeClr val="bg2">
                    <a:lumMod val="40000"/>
                    <a:lumOff val="6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直接连接符 17"/>
              <p:cNvCxnSpPr/>
              <p:nvPr/>
            </p:nvCxnSpPr>
            <p:spPr>
              <a:xfrm>
                <a:off x="7641685" y="1422049"/>
                <a:ext cx="0" cy="3816424"/>
              </a:xfrm>
              <a:prstGeom prst="line">
                <a:avLst/>
              </a:prstGeom>
              <a:ln w="38100">
                <a:solidFill>
                  <a:schemeClr val="bg2">
                    <a:lumMod val="40000"/>
                    <a:lumOff val="6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直接连接符 18"/>
              <p:cNvCxnSpPr/>
              <p:nvPr/>
            </p:nvCxnSpPr>
            <p:spPr>
              <a:xfrm>
                <a:off x="5049397" y="1422049"/>
                <a:ext cx="0" cy="3816424"/>
              </a:xfrm>
              <a:prstGeom prst="line">
                <a:avLst/>
              </a:prstGeom>
              <a:ln w="38100">
                <a:solidFill>
                  <a:schemeClr val="bg2">
                    <a:lumMod val="40000"/>
                    <a:lumOff val="6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直接连接符 19"/>
              <p:cNvCxnSpPr/>
              <p:nvPr/>
            </p:nvCxnSpPr>
            <p:spPr>
              <a:xfrm>
                <a:off x="3825261" y="1422049"/>
                <a:ext cx="0" cy="3816424"/>
              </a:xfrm>
              <a:prstGeom prst="line">
                <a:avLst/>
              </a:prstGeom>
              <a:ln w="38100">
                <a:solidFill>
                  <a:schemeClr val="bg2">
                    <a:lumMod val="40000"/>
                    <a:lumOff val="6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直接连接符 20"/>
              <p:cNvCxnSpPr/>
              <p:nvPr/>
            </p:nvCxnSpPr>
            <p:spPr>
              <a:xfrm>
                <a:off x="6345541" y="1422049"/>
                <a:ext cx="0" cy="3816424"/>
              </a:xfrm>
              <a:prstGeom prst="line">
                <a:avLst/>
              </a:prstGeom>
              <a:ln w="38100">
                <a:solidFill>
                  <a:schemeClr val="bg2">
                    <a:lumMod val="40000"/>
                    <a:lumOff val="6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" name="文本框 24"/>
              <p:cNvSpPr txBox="1"/>
              <p:nvPr/>
            </p:nvSpPr>
            <p:spPr>
              <a:xfrm>
                <a:off x="2814439" y="4109729"/>
                <a:ext cx="879646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800" b="1" dirty="0"/>
                  <a:t>4.2</a:t>
                </a:r>
                <a:endParaRPr lang="zh-CN" altLang="en-US" sz="2800" b="1" dirty="0"/>
              </a:p>
            </p:txBody>
          </p:sp>
          <p:sp>
            <p:nvSpPr>
              <p:cNvPr id="26" name="文本框 25"/>
              <p:cNvSpPr txBox="1"/>
              <p:nvPr/>
            </p:nvSpPr>
            <p:spPr>
              <a:xfrm>
                <a:off x="3969277" y="4134780"/>
                <a:ext cx="933922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800" b="1" dirty="0"/>
                  <a:t>12.0</a:t>
                </a:r>
                <a:endParaRPr lang="zh-CN" altLang="en-US" sz="2800" b="1" dirty="0"/>
              </a:p>
            </p:txBody>
          </p:sp>
          <p:sp>
            <p:nvSpPr>
              <p:cNvPr id="27" name="文本框 26"/>
              <p:cNvSpPr txBox="1"/>
              <p:nvPr/>
            </p:nvSpPr>
            <p:spPr>
              <a:xfrm>
                <a:off x="5265421" y="4134780"/>
                <a:ext cx="695645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800" b="1" dirty="0"/>
                  <a:t>5.8</a:t>
                </a:r>
                <a:endParaRPr lang="zh-CN" altLang="en-US" sz="2800" b="1" dirty="0"/>
              </a:p>
            </p:txBody>
          </p:sp>
          <p:sp>
            <p:nvSpPr>
              <p:cNvPr id="28" name="文本框 27"/>
              <p:cNvSpPr txBox="1"/>
              <p:nvPr/>
            </p:nvSpPr>
            <p:spPr>
              <a:xfrm>
                <a:off x="6602489" y="4098644"/>
                <a:ext cx="740424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800" b="1" dirty="0"/>
                  <a:t>7.4</a:t>
                </a:r>
                <a:endParaRPr lang="zh-CN" altLang="en-US" sz="2800" b="1" dirty="0"/>
              </a:p>
            </p:txBody>
          </p:sp>
          <p:sp>
            <p:nvSpPr>
              <p:cNvPr id="29" name="文本框 28"/>
              <p:cNvSpPr txBox="1"/>
              <p:nvPr/>
            </p:nvSpPr>
            <p:spPr>
              <a:xfrm>
                <a:off x="7935496" y="4105479"/>
                <a:ext cx="786309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800" b="1" dirty="0"/>
                  <a:t>5.0</a:t>
                </a:r>
                <a:endParaRPr lang="zh-CN" altLang="en-US" sz="2800" b="1" dirty="0"/>
              </a:p>
            </p:txBody>
          </p:sp>
          <p:sp>
            <p:nvSpPr>
              <p:cNvPr id="30" name="文本框 29"/>
              <p:cNvSpPr txBox="1"/>
              <p:nvPr/>
            </p:nvSpPr>
            <p:spPr>
              <a:xfrm>
                <a:off x="2839680" y="3092110"/>
                <a:ext cx="829165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800" b="1" dirty="0"/>
                  <a:t>3.6</a:t>
                </a:r>
                <a:endParaRPr lang="zh-CN" altLang="en-US" sz="2800" b="1" dirty="0"/>
              </a:p>
            </p:txBody>
          </p:sp>
          <p:sp>
            <p:nvSpPr>
              <p:cNvPr id="31" name="文本框 30"/>
              <p:cNvSpPr txBox="1"/>
              <p:nvPr/>
            </p:nvSpPr>
            <p:spPr>
              <a:xfrm>
                <a:off x="4113974" y="3105335"/>
                <a:ext cx="780388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800" b="1" dirty="0"/>
                  <a:t>7.5</a:t>
                </a:r>
                <a:endParaRPr lang="zh-CN" altLang="en-US" sz="2800" b="1" dirty="0"/>
              </a:p>
            </p:txBody>
          </p:sp>
          <p:sp>
            <p:nvSpPr>
              <p:cNvPr id="32" name="文本框 31"/>
              <p:cNvSpPr txBox="1"/>
              <p:nvPr/>
            </p:nvSpPr>
            <p:spPr>
              <a:xfrm>
                <a:off x="5265421" y="3111944"/>
                <a:ext cx="819874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800" b="1" dirty="0"/>
                  <a:t>4.0</a:t>
                </a:r>
                <a:endParaRPr lang="zh-CN" altLang="en-US" sz="2800" b="1" dirty="0"/>
              </a:p>
            </p:txBody>
          </p:sp>
          <p:sp>
            <p:nvSpPr>
              <p:cNvPr id="33" name="文本框 32"/>
              <p:cNvSpPr txBox="1"/>
              <p:nvPr/>
            </p:nvSpPr>
            <p:spPr>
              <a:xfrm>
                <a:off x="6642313" y="3118065"/>
                <a:ext cx="702708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800" b="1" dirty="0"/>
                  <a:t>4.3</a:t>
                </a:r>
                <a:endParaRPr lang="zh-CN" altLang="en-US" sz="2800" b="1" dirty="0"/>
              </a:p>
            </p:txBody>
          </p:sp>
          <p:sp>
            <p:nvSpPr>
              <p:cNvPr id="34" name="文本框 33"/>
              <p:cNvSpPr txBox="1"/>
              <p:nvPr/>
            </p:nvSpPr>
            <p:spPr>
              <a:xfrm>
                <a:off x="7929717" y="3118779"/>
                <a:ext cx="679591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800" b="1" dirty="0"/>
                  <a:t>6.5</a:t>
                </a:r>
                <a:endParaRPr lang="zh-CN" altLang="en-US" sz="2800" b="1" dirty="0"/>
              </a:p>
            </p:txBody>
          </p:sp>
          <p:cxnSp>
            <p:nvCxnSpPr>
              <p:cNvPr id="44" name="直接连接符 43"/>
              <p:cNvCxnSpPr/>
              <p:nvPr/>
            </p:nvCxnSpPr>
            <p:spPr>
              <a:xfrm>
                <a:off x="8865821" y="1422049"/>
                <a:ext cx="0" cy="3816424"/>
              </a:xfrm>
              <a:prstGeom prst="line">
                <a:avLst/>
              </a:prstGeom>
              <a:ln w="38100">
                <a:solidFill>
                  <a:schemeClr val="bg2">
                    <a:lumMod val="40000"/>
                    <a:lumOff val="6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5" name="文本框 44"/>
              <p:cNvSpPr txBox="1"/>
              <p:nvPr/>
            </p:nvSpPr>
            <p:spPr>
              <a:xfrm>
                <a:off x="1551941" y="4112088"/>
                <a:ext cx="816275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800" b="1" dirty="0"/>
                  <a:t>8.7</a:t>
                </a:r>
                <a:endParaRPr lang="zh-CN" altLang="en-US" sz="2800" b="1" dirty="0"/>
              </a:p>
            </p:txBody>
          </p:sp>
          <p:sp>
            <p:nvSpPr>
              <p:cNvPr id="46" name="文本框 45"/>
              <p:cNvSpPr txBox="1"/>
              <p:nvPr/>
            </p:nvSpPr>
            <p:spPr>
              <a:xfrm>
                <a:off x="1582942" y="3093810"/>
                <a:ext cx="852172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800" b="1" dirty="0"/>
                  <a:t>9.0</a:t>
                </a:r>
                <a:endParaRPr lang="zh-CN" altLang="en-US" sz="2800" b="1" dirty="0"/>
              </a:p>
            </p:txBody>
          </p:sp>
          <p:sp>
            <p:nvSpPr>
              <p:cNvPr id="47" name="文本框 46"/>
              <p:cNvSpPr txBox="1"/>
              <p:nvPr/>
            </p:nvSpPr>
            <p:spPr>
              <a:xfrm>
                <a:off x="9103446" y="4134780"/>
                <a:ext cx="748692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800" b="1" dirty="0"/>
                  <a:t>5.9</a:t>
                </a:r>
                <a:endParaRPr lang="zh-CN" altLang="en-US" sz="2800" b="1" dirty="0"/>
              </a:p>
            </p:txBody>
          </p:sp>
          <p:sp>
            <p:nvSpPr>
              <p:cNvPr id="48" name="文本框 47"/>
              <p:cNvSpPr txBox="1"/>
              <p:nvPr/>
            </p:nvSpPr>
            <p:spPr>
              <a:xfrm>
                <a:off x="9100140" y="3093810"/>
                <a:ext cx="845801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800" b="1" dirty="0"/>
                  <a:t>5.8</a:t>
                </a:r>
                <a:endParaRPr lang="zh-CN" altLang="en-US" sz="2800" b="1" dirty="0"/>
              </a:p>
            </p:txBody>
          </p:sp>
        </p:grpSp>
        <p:cxnSp>
          <p:nvCxnSpPr>
            <p:cNvPr id="62" name="直接连接符 61"/>
            <p:cNvCxnSpPr/>
            <p:nvPr/>
          </p:nvCxnSpPr>
          <p:spPr>
            <a:xfrm>
              <a:off x="9840416" y="1872692"/>
              <a:ext cx="0" cy="3816424"/>
            </a:xfrm>
            <a:prstGeom prst="line">
              <a:avLst/>
            </a:prstGeom>
            <a:ln w="38100">
              <a:solidFill>
                <a:schemeClr val="bg2">
                  <a:lumMod val="40000"/>
                  <a:lumOff val="6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3" name="文本框 62"/>
            <p:cNvSpPr txBox="1"/>
            <p:nvPr/>
          </p:nvSpPr>
          <p:spPr>
            <a:xfrm>
              <a:off x="10013189" y="4552401"/>
              <a:ext cx="74869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800" b="1" dirty="0"/>
                <a:t>8.1</a:t>
              </a:r>
              <a:endParaRPr lang="zh-CN" altLang="en-US" sz="2800" b="1" dirty="0"/>
            </a:p>
          </p:txBody>
        </p:sp>
        <p:sp>
          <p:nvSpPr>
            <p:cNvPr id="64" name="文本框 63"/>
            <p:cNvSpPr txBox="1"/>
            <p:nvPr/>
          </p:nvSpPr>
          <p:spPr>
            <a:xfrm>
              <a:off x="10009883" y="3511431"/>
              <a:ext cx="845801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800" b="1" dirty="0"/>
                <a:t>7.3</a:t>
              </a:r>
              <a:endParaRPr lang="zh-CN" altLang="en-US" sz="2800" b="1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500"/>
                            </p:stCondLst>
                            <p:childTnLst>
                              <p:par>
                                <p:cTn id="6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24" grpId="0"/>
      <p:bldP spid="2" grpId="0"/>
      <p:bldP spid="3" grpId="0"/>
      <p:bldP spid="42" grpId="0"/>
      <p:bldP spid="49" grpId="0"/>
      <p:bldP spid="50" grpId="0"/>
      <p:bldP spid="51" grpId="0"/>
      <p:bldP spid="52" grpId="0"/>
      <p:bldP spid="53" grpId="0"/>
      <p:bldP spid="60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627149" y="6093296"/>
            <a:ext cx="7170831" cy="612492"/>
            <a:chOff x="2906758" y="6323422"/>
            <a:chExt cx="7170831" cy="612492"/>
          </a:xfrm>
        </p:grpSpPr>
        <p:cxnSp>
          <p:nvCxnSpPr>
            <p:cNvPr id="5" name="直接箭头连接符 4"/>
            <p:cNvCxnSpPr/>
            <p:nvPr/>
          </p:nvCxnSpPr>
          <p:spPr>
            <a:xfrm>
              <a:off x="2906758" y="6494231"/>
              <a:ext cx="6476963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直接连接符 5"/>
            <p:cNvCxnSpPr/>
            <p:nvPr/>
          </p:nvCxnSpPr>
          <p:spPr>
            <a:xfrm>
              <a:off x="3647728" y="6323423"/>
              <a:ext cx="0" cy="170808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直接连接符 6"/>
            <p:cNvCxnSpPr/>
            <p:nvPr/>
          </p:nvCxnSpPr>
          <p:spPr>
            <a:xfrm>
              <a:off x="4223792" y="6323423"/>
              <a:ext cx="0" cy="170808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直接连接符 7"/>
            <p:cNvCxnSpPr/>
            <p:nvPr/>
          </p:nvCxnSpPr>
          <p:spPr>
            <a:xfrm>
              <a:off x="4799856" y="6323423"/>
              <a:ext cx="0" cy="170808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直接连接符 8"/>
            <p:cNvCxnSpPr/>
            <p:nvPr/>
          </p:nvCxnSpPr>
          <p:spPr>
            <a:xfrm>
              <a:off x="5375920" y="6323422"/>
              <a:ext cx="0" cy="170808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直接连接符 9"/>
            <p:cNvCxnSpPr/>
            <p:nvPr/>
          </p:nvCxnSpPr>
          <p:spPr>
            <a:xfrm>
              <a:off x="5951984" y="6323422"/>
              <a:ext cx="0" cy="170808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直接连接符 10"/>
            <p:cNvCxnSpPr/>
            <p:nvPr/>
          </p:nvCxnSpPr>
          <p:spPr>
            <a:xfrm>
              <a:off x="6528048" y="6323422"/>
              <a:ext cx="0" cy="170808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接连接符 11"/>
            <p:cNvCxnSpPr/>
            <p:nvPr/>
          </p:nvCxnSpPr>
          <p:spPr>
            <a:xfrm>
              <a:off x="7151473" y="6323422"/>
              <a:ext cx="0" cy="170808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接连接符 12"/>
            <p:cNvCxnSpPr/>
            <p:nvPr/>
          </p:nvCxnSpPr>
          <p:spPr>
            <a:xfrm>
              <a:off x="7655529" y="6323422"/>
              <a:ext cx="0" cy="170808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/>
            <p:nvPr/>
          </p:nvCxnSpPr>
          <p:spPr>
            <a:xfrm>
              <a:off x="8159585" y="6323422"/>
              <a:ext cx="0" cy="170808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连接符 14"/>
            <p:cNvCxnSpPr/>
            <p:nvPr/>
          </p:nvCxnSpPr>
          <p:spPr>
            <a:xfrm>
              <a:off x="8688288" y="6323422"/>
              <a:ext cx="0" cy="170808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文本框 15"/>
            <p:cNvSpPr txBox="1"/>
            <p:nvPr/>
          </p:nvSpPr>
          <p:spPr>
            <a:xfrm>
              <a:off x="9044797" y="6566582"/>
              <a:ext cx="103279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b="1" dirty="0"/>
                <a:t>篮板</a:t>
              </a:r>
              <a:endParaRPr lang="zh-CN" altLang="en-US" b="1" dirty="0"/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3494872" y="6478899"/>
              <a:ext cx="32501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/>
                <a:t>3</a:t>
              </a:r>
              <a:endParaRPr lang="zh-CN" altLang="en-US" b="1" dirty="0"/>
            </a:p>
          </p:txBody>
        </p:sp>
        <p:sp>
          <p:nvSpPr>
            <p:cNvPr id="18" name="文本框 17"/>
            <p:cNvSpPr txBox="1"/>
            <p:nvPr/>
          </p:nvSpPr>
          <p:spPr>
            <a:xfrm>
              <a:off x="4055127" y="6470969"/>
              <a:ext cx="32501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/>
                <a:t>4</a:t>
              </a:r>
              <a:endParaRPr lang="zh-CN" altLang="en-US" b="1" dirty="0"/>
            </a:p>
          </p:txBody>
        </p:sp>
        <p:sp>
          <p:nvSpPr>
            <p:cNvPr id="19" name="文本框 18"/>
            <p:cNvSpPr txBox="1"/>
            <p:nvPr/>
          </p:nvSpPr>
          <p:spPr>
            <a:xfrm>
              <a:off x="4637956" y="6475151"/>
              <a:ext cx="32501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/>
                <a:t>5</a:t>
              </a:r>
              <a:endParaRPr lang="zh-CN" altLang="en-US" b="1" dirty="0"/>
            </a:p>
          </p:txBody>
        </p:sp>
        <p:sp>
          <p:nvSpPr>
            <p:cNvPr id="20" name="文本框 19"/>
            <p:cNvSpPr txBox="1"/>
            <p:nvPr/>
          </p:nvSpPr>
          <p:spPr>
            <a:xfrm>
              <a:off x="5214019" y="6455987"/>
              <a:ext cx="32501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/>
                <a:t>6</a:t>
              </a:r>
              <a:endParaRPr lang="zh-CN" altLang="en-US" b="1" dirty="0"/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5805891" y="6490296"/>
              <a:ext cx="32501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/>
                <a:t>7</a:t>
              </a:r>
              <a:endParaRPr lang="zh-CN" altLang="en-US" b="1" dirty="0"/>
            </a:p>
          </p:txBody>
        </p:sp>
        <p:sp>
          <p:nvSpPr>
            <p:cNvPr id="22" name="文本框 21"/>
            <p:cNvSpPr txBox="1"/>
            <p:nvPr/>
          </p:nvSpPr>
          <p:spPr>
            <a:xfrm>
              <a:off x="6366146" y="6482366"/>
              <a:ext cx="32501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/>
                <a:t>8</a:t>
              </a:r>
              <a:endParaRPr lang="zh-CN" altLang="en-US" b="1" dirty="0"/>
            </a:p>
          </p:txBody>
        </p:sp>
        <p:sp>
          <p:nvSpPr>
            <p:cNvPr id="23" name="文本框 22"/>
            <p:cNvSpPr txBox="1"/>
            <p:nvPr/>
          </p:nvSpPr>
          <p:spPr>
            <a:xfrm>
              <a:off x="6935416" y="6470969"/>
              <a:ext cx="32501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/>
                <a:t>9</a:t>
              </a:r>
              <a:endParaRPr lang="zh-CN" altLang="en-US" b="1" dirty="0"/>
            </a:p>
          </p:txBody>
        </p:sp>
        <p:sp>
          <p:nvSpPr>
            <p:cNvPr id="24" name="文本框 23"/>
            <p:cNvSpPr txBox="1"/>
            <p:nvPr/>
          </p:nvSpPr>
          <p:spPr>
            <a:xfrm>
              <a:off x="7453348" y="6463754"/>
              <a:ext cx="45365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/>
                <a:t>10</a:t>
              </a:r>
              <a:endParaRPr lang="zh-CN" altLang="en-US" b="1" dirty="0"/>
            </a:p>
          </p:txBody>
        </p:sp>
        <p:sp>
          <p:nvSpPr>
            <p:cNvPr id="25" name="文本框 24"/>
            <p:cNvSpPr txBox="1"/>
            <p:nvPr/>
          </p:nvSpPr>
          <p:spPr>
            <a:xfrm>
              <a:off x="7957762" y="6465598"/>
              <a:ext cx="59584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/>
                <a:t>11</a:t>
              </a:r>
              <a:endParaRPr lang="zh-CN" altLang="en-US" b="1" dirty="0"/>
            </a:p>
          </p:txBody>
        </p:sp>
        <p:sp>
          <p:nvSpPr>
            <p:cNvPr id="26" name="文本框 25"/>
            <p:cNvSpPr txBox="1"/>
            <p:nvPr/>
          </p:nvSpPr>
          <p:spPr>
            <a:xfrm>
              <a:off x="8475527" y="6477979"/>
              <a:ext cx="50741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/>
                <a:t>12</a:t>
              </a:r>
              <a:endParaRPr lang="zh-CN" altLang="en-US" b="1" dirty="0"/>
            </a:p>
          </p:txBody>
        </p:sp>
      </p:grpSp>
      <p:pic>
        <p:nvPicPr>
          <p:cNvPr id="27" name="图片 26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389" r="21923" b="36428"/>
          <a:stretch>
            <a:fillRect/>
          </a:stretch>
        </p:blipFill>
        <p:spPr>
          <a:xfrm>
            <a:off x="1795275" y="4655088"/>
            <a:ext cx="576064" cy="646030"/>
          </a:xfrm>
          <a:prstGeom prst="ellipse">
            <a:avLst/>
          </a:prstGeom>
        </p:spPr>
      </p:pic>
      <p:pic>
        <p:nvPicPr>
          <p:cNvPr id="28" name="图片 27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130" r="26899" b="47125"/>
          <a:stretch>
            <a:fillRect/>
          </a:stretch>
        </p:blipFill>
        <p:spPr>
          <a:xfrm>
            <a:off x="2752310" y="4512946"/>
            <a:ext cx="576064" cy="534646"/>
          </a:xfrm>
          <a:prstGeom prst="ellipse">
            <a:avLst/>
          </a:prstGeom>
        </p:spPr>
      </p:pic>
      <p:pic>
        <p:nvPicPr>
          <p:cNvPr id="29" name="图片 2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5368" y="4281528"/>
            <a:ext cx="575216" cy="575216"/>
          </a:xfrm>
          <a:prstGeom prst="ellipse">
            <a:avLst/>
          </a:prstGeom>
        </p:spPr>
      </p:pic>
      <p:pic>
        <p:nvPicPr>
          <p:cNvPr id="30" name="图片 29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086" r="19844" b="44050"/>
          <a:stretch>
            <a:fillRect/>
          </a:stretch>
        </p:blipFill>
        <p:spPr>
          <a:xfrm>
            <a:off x="2181979" y="2976164"/>
            <a:ext cx="576064" cy="613708"/>
          </a:xfrm>
          <a:prstGeom prst="ellipse">
            <a:avLst/>
          </a:prstGeom>
        </p:spPr>
      </p:pic>
      <p:pic>
        <p:nvPicPr>
          <p:cNvPr id="31" name="图片 30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045" t="8887" r="22876" b="45424"/>
          <a:stretch>
            <a:fillRect/>
          </a:stretch>
        </p:blipFill>
        <p:spPr>
          <a:xfrm>
            <a:off x="2837178" y="3353288"/>
            <a:ext cx="529020" cy="507760"/>
          </a:xfrm>
          <a:prstGeom prst="ellipse">
            <a:avLst/>
          </a:prstGeom>
        </p:spPr>
      </p:pic>
      <p:pic>
        <p:nvPicPr>
          <p:cNvPr id="32" name="图片 31"/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341" r="20773" b="47362"/>
          <a:stretch>
            <a:fillRect/>
          </a:stretch>
        </p:blipFill>
        <p:spPr>
          <a:xfrm>
            <a:off x="4494919" y="1530038"/>
            <a:ext cx="504057" cy="521415"/>
          </a:xfrm>
          <a:prstGeom prst="ellipse">
            <a:avLst/>
          </a:prstGeom>
        </p:spPr>
      </p:pic>
      <p:pic>
        <p:nvPicPr>
          <p:cNvPr id="33" name="图片 32"/>
          <p:cNvPicPr>
            <a:picLocks noChangeAspect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929" t="-193" r="25178" b="54927"/>
          <a:stretch>
            <a:fillRect/>
          </a:stretch>
        </p:blipFill>
        <p:spPr>
          <a:xfrm>
            <a:off x="6043378" y="2311695"/>
            <a:ext cx="495610" cy="497738"/>
          </a:xfrm>
          <a:prstGeom prst="ellipse">
            <a:avLst/>
          </a:prstGeom>
        </p:spPr>
      </p:pic>
      <p:grpSp>
        <p:nvGrpSpPr>
          <p:cNvPr id="34" name="组合 33"/>
          <p:cNvGrpSpPr/>
          <p:nvPr/>
        </p:nvGrpSpPr>
        <p:grpSpPr>
          <a:xfrm>
            <a:off x="194601" y="154638"/>
            <a:ext cx="1131184" cy="6464978"/>
            <a:chOff x="194601" y="154638"/>
            <a:chExt cx="1131184" cy="6464978"/>
          </a:xfrm>
        </p:grpSpPr>
        <p:grpSp>
          <p:nvGrpSpPr>
            <p:cNvPr id="35" name="组合 34"/>
            <p:cNvGrpSpPr/>
            <p:nvPr/>
          </p:nvGrpSpPr>
          <p:grpSpPr>
            <a:xfrm>
              <a:off x="1039064" y="428431"/>
              <a:ext cx="171961" cy="6155366"/>
              <a:chOff x="3287688" y="-597610"/>
              <a:chExt cx="171961" cy="6155366"/>
            </a:xfrm>
          </p:grpSpPr>
          <p:cxnSp>
            <p:nvCxnSpPr>
              <p:cNvPr id="50" name="直接箭头连接符 49"/>
              <p:cNvCxnSpPr/>
              <p:nvPr/>
            </p:nvCxnSpPr>
            <p:spPr>
              <a:xfrm flipV="1">
                <a:off x="3287688" y="-597610"/>
                <a:ext cx="0" cy="6155366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直接连接符 50"/>
              <p:cNvCxnSpPr/>
              <p:nvPr/>
            </p:nvCxnSpPr>
            <p:spPr>
              <a:xfrm>
                <a:off x="3287688" y="3789040"/>
                <a:ext cx="144016" cy="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直接连接符 51"/>
              <p:cNvCxnSpPr/>
              <p:nvPr/>
            </p:nvCxnSpPr>
            <p:spPr>
              <a:xfrm>
                <a:off x="3301841" y="4941168"/>
                <a:ext cx="144016" cy="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直接连接符 52"/>
              <p:cNvCxnSpPr/>
              <p:nvPr/>
            </p:nvCxnSpPr>
            <p:spPr>
              <a:xfrm>
                <a:off x="3301480" y="4365104"/>
                <a:ext cx="144016" cy="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直接连接符 53"/>
              <p:cNvCxnSpPr/>
              <p:nvPr/>
            </p:nvCxnSpPr>
            <p:spPr>
              <a:xfrm>
                <a:off x="3301480" y="764704"/>
                <a:ext cx="144016" cy="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直接连接符 54"/>
              <p:cNvCxnSpPr/>
              <p:nvPr/>
            </p:nvCxnSpPr>
            <p:spPr>
              <a:xfrm>
                <a:off x="3301480" y="3140968"/>
                <a:ext cx="144016" cy="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直接连接符 55"/>
              <p:cNvCxnSpPr/>
              <p:nvPr/>
            </p:nvCxnSpPr>
            <p:spPr>
              <a:xfrm>
                <a:off x="3301480" y="2564904"/>
                <a:ext cx="144016" cy="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直接连接符 56"/>
              <p:cNvCxnSpPr/>
              <p:nvPr/>
            </p:nvCxnSpPr>
            <p:spPr>
              <a:xfrm>
                <a:off x="3315633" y="1916832"/>
                <a:ext cx="144016" cy="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直接连接符 57"/>
              <p:cNvCxnSpPr/>
              <p:nvPr/>
            </p:nvCxnSpPr>
            <p:spPr>
              <a:xfrm>
                <a:off x="3315272" y="1340768"/>
                <a:ext cx="144016" cy="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6" name="文本框 35"/>
            <p:cNvSpPr txBox="1"/>
            <p:nvPr/>
          </p:nvSpPr>
          <p:spPr>
            <a:xfrm>
              <a:off x="627149" y="6250284"/>
              <a:ext cx="44314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i="1" dirty="0"/>
                <a:t>O</a:t>
              </a:r>
              <a:endParaRPr lang="zh-CN" altLang="en-US" b="1" i="1" dirty="0"/>
            </a:p>
          </p:txBody>
        </p:sp>
        <p:sp>
          <p:nvSpPr>
            <p:cNvPr id="37" name="文本框 36"/>
            <p:cNvSpPr txBox="1"/>
            <p:nvPr/>
          </p:nvSpPr>
          <p:spPr>
            <a:xfrm>
              <a:off x="194601" y="154638"/>
              <a:ext cx="6457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b="1" dirty="0"/>
                <a:t>助攻</a:t>
              </a:r>
              <a:endParaRPr lang="zh-CN" altLang="en-US" b="1" dirty="0"/>
            </a:p>
          </p:txBody>
        </p:sp>
        <p:sp>
          <p:nvSpPr>
            <p:cNvPr id="38" name="文本框 37"/>
            <p:cNvSpPr txBox="1"/>
            <p:nvPr/>
          </p:nvSpPr>
          <p:spPr>
            <a:xfrm>
              <a:off x="652062" y="5229200"/>
              <a:ext cx="32501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/>
                <a:t>3</a:t>
              </a:r>
              <a:endParaRPr lang="zh-CN" altLang="en-US" b="1" dirty="0"/>
            </a:p>
          </p:txBody>
        </p:sp>
        <p:sp>
          <p:nvSpPr>
            <p:cNvPr id="39" name="文本框 38"/>
            <p:cNvSpPr txBox="1"/>
            <p:nvPr/>
          </p:nvSpPr>
          <p:spPr>
            <a:xfrm>
              <a:off x="652061" y="4653136"/>
              <a:ext cx="32501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/>
                <a:t>4</a:t>
              </a:r>
              <a:endParaRPr lang="zh-CN" altLang="en-US" b="1" dirty="0"/>
            </a:p>
          </p:txBody>
        </p:sp>
        <p:sp>
          <p:nvSpPr>
            <p:cNvPr id="40" name="文本框 39"/>
            <p:cNvSpPr txBox="1"/>
            <p:nvPr/>
          </p:nvSpPr>
          <p:spPr>
            <a:xfrm>
              <a:off x="649015" y="4005064"/>
              <a:ext cx="32501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/>
                <a:t>5</a:t>
              </a:r>
              <a:endParaRPr lang="zh-CN" altLang="en-US" b="1" dirty="0"/>
            </a:p>
          </p:txBody>
        </p:sp>
        <p:sp>
          <p:nvSpPr>
            <p:cNvPr id="41" name="文本框 40"/>
            <p:cNvSpPr txBox="1"/>
            <p:nvPr/>
          </p:nvSpPr>
          <p:spPr>
            <a:xfrm>
              <a:off x="653553" y="3429000"/>
              <a:ext cx="32501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/>
                <a:t>6</a:t>
              </a:r>
              <a:endParaRPr lang="zh-CN" altLang="en-US" b="1" dirty="0"/>
            </a:p>
          </p:txBody>
        </p:sp>
        <p:sp>
          <p:nvSpPr>
            <p:cNvPr id="42" name="文本框 41"/>
            <p:cNvSpPr txBox="1"/>
            <p:nvPr/>
          </p:nvSpPr>
          <p:spPr>
            <a:xfrm>
              <a:off x="653553" y="2780928"/>
              <a:ext cx="32501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/>
                <a:t>7</a:t>
              </a:r>
              <a:endParaRPr lang="zh-CN" altLang="en-US" b="1" dirty="0"/>
            </a:p>
          </p:txBody>
        </p:sp>
        <p:sp>
          <p:nvSpPr>
            <p:cNvPr id="43" name="文本框 42"/>
            <p:cNvSpPr txBox="1"/>
            <p:nvPr/>
          </p:nvSpPr>
          <p:spPr>
            <a:xfrm>
              <a:off x="670472" y="2232046"/>
              <a:ext cx="32501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/>
                <a:t>8</a:t>
              </a:r>
              <a:endParaRPr lang="zh-CN" altLang="en-US" b="1" dirty="0"/>
            </a:p>
          </p:txBody>
        </p:sp>
        <p:sp>
          <p:nvSpPr>
            <p:cNvPr id="44" name="文本框 43"/>
            <p:cNvSpPr txBox="1"/>
            <p:nvPr/>
          </p:nvSpPr>
          <p:spPr>
            <a:xfrm>
              <a:off x="695400" y="1628800"/>
              <a:ext cx="32501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/>
                <a:t>9</a:t>
              </a:r>
              <a:endParaRPr lang="zh-CN" altLang="en-US" b="1" dirty="0"/>
            </a:p>
          </p:txBody>
        </p:sp>
        <p:sp>
          <p:nvSpPr>
            <p:cNvPr id="45" name="文本框 44"/>
            <p:cNvSpPr txBox="1"/>
            <p:nvPr/>
          </p:nvSpPr>
          <p:spPr>
            <a:xfrm>
              <a:off x="632062" y="1077033"/>
              <a:ext cx="66656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/>
                <a:t>10</a:t>
              </a:r>
              <a:endParaRPr lang="zh-CN" altLang="en-US" b="1" dirty="0"/>
            </a:p>
          </p:txBody>
        </p:sp>
        <p:cxnSp>
          <p:nvCxnSpPr>
            <p:cNvPr id="46" name="直接连接符 45"/>
            <p:cNvCxnSpPr/>
            <p:nvPr/>
          </p:nvCxnSpPr>
          <p:spPr>
            <a:xfrm>
              <a:off x="1053217" y="1210947"/>
              <a:ext cx="144016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直接连接符 46"/>
            <p:cNvCxnSpPr/>
            <p:nvPr/>
          </p:nvCxnSpPr>
          <p:spPr>
            <a:xfrm>
              <a:off x="1052856" y="634883"/>
              <a:ext cx="144016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8" name="文本框 47"/>
            <p:cNvSpPr txBox="1"/>
            <p:nvPr/>
          </p:nvSpPr>
          <p:spPr>
            <a:xfrm>
              <a:off x="659220" y="508731"/>
              <a:ext cx="666565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altLang="zh-CN" b="1" dirty="0"/>
                <a:t>11</a:t>
              </a:r>
              <a:endParaRPr lang="zh-CN" altLang="en-US" b="1" dirty="0"/>
            </a:p>
          </p:txBody>
        </p:sp>
        <p:sp>
          <p:nvSpPr>
            <p:cNvPr id="49" name="文本框 48"/>
            <p:cNvSpPr txBox="1"/>
            <p:nvPr/>
          </p:nvSpPr>
          <p:spPr>
            <a:xfrm>
              <a:off x="645819" y="5802804"/>
              <a:ext cx="32501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/>
                <a:t>2</a:t>
              </a:r>
              <a:endParaRPr lang="zh-CN" altLang="en-US" b="1" dirty="0"/>
            </a:p>
          </p:txBody>
        </p:sp>
      </p:grpSp>
      <p:sp>
        <p:nvSpPr>
          <p:cNvPr id="59" name="椭圆 58"/>
          <p:cNvSpPr/>
          <p:nvPr/>
        </p:nvSpPr>
        <p:spPr>
          <a:xfrm>
            <a:off x="4007688" y="1650382"/>
            <a:ext cx="312329" cy="312329"/>
          </a:xfrm>
          <a:prstGeom prst="ellipse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1" name="文本框 60"/>
              <p:cNvSpPr txBox="1"/>
              <p:nvPr/>
            </p:nvSpPr>
            <p:spPr>
              <a:xfrm>
                <a:off x="4651010" y="2100541"/>
                <a:ext cx="95141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9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61" name="文本框 6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51010" y="2100541"/>
                <a:ext cx="951414" cy="276999"/>
              </a:xfrm>
              <a:prstGeom prst="rect">
                <a:avLst/>
              </a:prstGeom>
              <a:blipFill rotWithShape="1">
                <a:blip r:embed="rId8"/>
                <a:stretch>
                  <a:fillRect l="-28" t="-215" r="-3890" b="3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2" name="文本框 61"/>
              <p:cNvSpPr txBox="1"/>
              <p:nvPr/>
            </p:nvSpPr>
            <p:spPr>
              <a:xfrm>
                <a:off x="1624830" y="5388865"/>
                <a:ext cx="95141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62" name="文本框 6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4830" y="5388865"/>
                <a:ext cx="951414" cy="276999"/>
              </a:xfrm>
              <a:prstGeom prst="rect">
                <a:avLst/>
              </a:prstGeom>
              <a:blipFill rotWithShape="1">
                <a:blip r:embed="rId9"/>
                <a:stretch>
                  <a:fillRect l="-53" t="-92" r="-3866" b="14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3" name="文本框 62"/>
              <p:cNvSpPr txBox="1"/>
              <p:nvPr/>
            </p:nvSpPr>
            <p:spPr>
              <a:xfrm>
                <a:off x="2859121" y="5121784"/>
                <a:ext cx="95141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63" name="文本框 6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9121" y="5121784"/>
                <a:ext cx="951414" cy="276999"/>
              </a:xfrm>
              <a:prstGeom prst="rect">
                <a:avLst/>
              </a:prstGeom>
              <a:blipFill rotWithShape="1">
                <a:blip r:embed="rId10"/>
                <a:stretch>
                  <a:fillRect l="-37" t="-184" r="-3882" b="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4" name="文本框 63"/>
              <p:cNvSpPr txBox="1"/>
              <p:nvPr/>
            </p:nvSpPr>
            <p:spPr>
              <a:xfrm>
                <a:off x="3103045" y="3904503"/>
                <a:ext cx="95141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9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64" name="文本框 6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03045" y="3904503"/>
                <a:ext cx="951414" cy="276999"/>
              </a:xfrm>
              <a:prstGeom prst="rect">
                <a:avLst/>
              </a:prstGeom>
              <a:blipFill rotWithShape="1">
                <a:blip r:embed="rId11"/>
                <a:stretch>
                  <a:fillRect l="-46" t="-189" r="-3873" b="1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5" name="文本框 64"/>
              <p:cNvSpPr txBox="1"/>
              <p:nvPr/>
            </p:nvSpPr>
            <p:spPr>
              <a:xfrm>
                <a:off x="1631845" y="3564435"/>
                <a:ext cx="95141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65" name="文本框 6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1845" y="3564435"/>
                <a:ext cx="951414" cy="276999"/>
              </a:xfrm>
              <a:prstGeom prst="rect">
                <a:avLst/>
              </a:prstGeom>
              <a:blipFill rotWithShape="1">
                <a:blip r:embed="rId12"/>
                <a:stretch>
                  <a:fillRect l="-56" t="-65" r="-3863" b="11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6" name="文本框 65"/>
              <p:cNvSpPr txBox="1"/>
              <p:nvPr/>
            </p:nvSpPr>
            <p:spPr>
              <a:xfrm>
                <a:off x="5841531" y="2922675"/>
                <a:ext cx="107965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12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66" name="文本框 6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41531" y="2922675"/>
                <a:ext cx="1079655" cy="276999"/>
              </a:xfrm>
              <a:prstGeom prst="rect">
                <a:avLst/>
              </a:prstGeom>
              <a:blipFill rotWithShape="1">
                <a:blip r:embed="rId13"/>
                <a:stretch>
                  <a:fillRect l="-15" t="-146" r="-3323" b="19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7" name="文本框 66"/>
              <p:cNvSpPr txBox="1"/>
              <p:nvPr/>
            </p:nvSpPr>
            <p:spPr>
              <a:xfrm>
                <a:off x="4185552" y="4731215"/>
                <a:ext cx="95141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67" name="文本框 6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85552" y="4731215"/>
                <a:ext cx="951414" cy="276999"/>
              </a:xfrm>
              <a:prstGeom prst="rect">
                <a:avLst/>
              </a:prstGeom>
              <a:blipFill rotWithShape="1">
                <a:blip r:embed="rId14"/>
                <a:stretch>
                  <a:fillRect l="-28" t="-168" r="-3890" b="21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0" name="文本框 69"/>
              <p:cNvSpPr txBox="1"/>
              <p:nvPr/>
            </p:nvSpPr>
            <p:spPr>
              <a:xfrm>
                <a:off x="3741357" y="1988840"/>
                <a:ext cx="842475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CN" sz="160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6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8</m:t>
                          </m:r>
                          <m:r>
                            <a:rPr lang="en-US" altLang="zh-CN" sz="16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altLang="zh-CN" sz="16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altLang="zh-CN" sz="16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CN" sz="16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9</m:t>
                          </m:r>
                          <m:r>
                            <a:rPr lang="en-US" altLang="zh-CN" sz="16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altLang="zh-CN" sz="16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zh-CN" altLang="en-US" sz="1600" dirty="0">
                  <a:solidFill>
                    <a:srgbClr val="FFFF00"/>
                  </a:solidFill>
                </a:endParaRPr>
              </a:p>
            </p:txBody>
          </p:sp>
        </mc:Choice>
        <mc:Fallback>
          <p:sp>
            <p:nvSpPr>
              <p:cNvPr id="70" name="文本框 6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41357" y="1988840"/>
                <a:ext cx="842475" cy="246221"/>
              </a:xfrm>
              <a:prstGeom prst="rect">
                <a:avLst/>
              </a:prstGeom>
              <a:blipFill rotWithShape="1">
                <a:blip r:embed="rId15"/>
                <a:stretch>
                  <a:fillRect l="-68" t="-8" r="-4098" b="20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3" name="直接箭头连接符 82"/>
          <p:cNvCxnSpPr>
            <a:endCxn id="59" idx="6"/>
          </p:cNvCxnSpPr>
          <p:nvPr/>
        </p:nvCxnSpPr>
        <p:spPr>
          <a:xfrm flipH="1" flipV="1">
            <a:off x="4320017" y="1806547"/>
            <a:ext cx="231595" cy="13528"/>
          </a:xfrm>
          <a:prstGeom prst="straightConnector1">
            <a:avLst/>
          </a:prstGeom>
          <a:ln w="38100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直接箭头连接符 83"/>
          <p:cNvCxnSpPr>
            <a:stCxn id="32" idx="4"/>
          </p:cNvCxnSpPr>
          <p:nvPr/>
        </p:nvCxnSpPr>
        <p:spPr>
          <a:xfrm flipH="1">
            <a:off x="4176081" y="2051453"/>
            <a:ext cx="570867" cy="1148221"/>
          </a:xfrm>
          <a:prstGeom prst="straightConnector1">
            <a:avLst/>
          </a:prstGeom>
          <a:ln w="38100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文本框 94"/>
          <p:cNvSpPr txBox="1"/>
          <p:nvPr/>
        </p:nvSpPr>
        <p:spPr>
          <a:xfrm>
            <a:off x="7104112" y="916694"/>
            <a:ext cx="41764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/>
              <a:t>1</a:t>
            </a:r>
            <a:r>
              <a:rPr lang="zh-CN" altLang="en-US" sz="2000" b="1" dirty="0"/>
              <a:t>、随机生成两个点</a:t>
            </a:r>
            <a:endParaRPr lang="en-US" altLang="zh-CN" sz="2000" b="1" dirty="0"/>
          </a:p>
        </p:txBody>
      </p:sp>
      <p:sp>
        <p:nvSpPr>
          <p:cNvPr id="96" name="文本框 95"/>
          <p:cNvSpPr txBox="1"/>
          <p:nvPr/>
        </p:nvSpPr>
        <p:spPr>
          <a:xfrm>
            <a:off x="7135033" y="1362039"/>
            <a:ext cx="50569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/>
              <a:t>2</a:t>
            </a:r>
            <a:r>
              <a:rPr lang="zh-CN" altLang="en-US" sz="2000" b="1" dirty="0"/>
              <a:t>、类别划分</a:t>
            </a:r>
            <a:endParaRPr lang="zh-CN" altLang="en-US" sz="2000" b="1" dirty="0"/>
          </a:p>
        </p:txBody>
      </p:sp>
      <p:sp>
        <p:nvSpPr>
          <p:cNvPr id="97" name="文本框 96"/>
          <p:cNvSpPr txBox="1"/>
          <p:nvPr/>
        </p:nvSpPr>
        <p:spPr>
          <a:xfrm>
            <a:off x="7683296" y="1849801"/>
            <a:ext cx="3628201" cy="1754326"/>
          </a:xfrm>
          <a:prstGeom prst="rect">
            <a:avLst/>
          </a:prstGeom>
          <a:solidFill>
            <a:schemeClr val="tx1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if |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詹姆斯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,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黄点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| &lt; |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詹姆斯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,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蓝点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|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詹姆斯 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-&gt;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黄队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else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詹姆斯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-&gt;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蓝队  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8" name="矩形 97"/>
          <p:cNvSpPr/>
          <p:nvPr/>
        </p:nvSpPr>
        <p:spPr>
          <a:xfrm>
            <a:off x="7461969" y="1246310"/>
            <a:ext cx="367921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b="1" dirty="0">
                <a:solidFill>
                  <a:prstClr val="white"/>
                </a:solidFill>
              </a:rPr>
              <a:t> </a:t>
            </a:r>
            <a:r>
              <a:rPr lang="en-US" altLang="zh-CN" sz="2000" b="1" dirty="0">
                <a:solidFill>
                  <a:prstClr val="white"/>
                </a:solidFill>
              </a:rPr>
              <a:t>— </a:t>
            </a:r>
            <a:r>
              <a:rPr lang="zh-CN" altLang="en-US" sz="2000" b="1" dirty="0">
                <a:solidFill>
                  <a:prstClr val="white"/>
                </a:solidFill>
              </a:rPr>
              <a:t>假定为两类球员的平均能力</a:t>
            </a:r>
            <a:endParaRPr lang="zh-CN" altLang="en-US" dirty="0"/>
          </a:p>
        </p:txBody>
      </p:sp>
      <p:sp>
        <p:nvSpPr>
          <p:cNvPr id="82" name="椭圆 81"/>
          <p:cNvSpPr/>
          <p:nvPr/>
        </p:nvSpPr>
        <p:spPr>
          <a:xfrm>
            <a:off x="3863752" y="3188679"/>
            <a:ext cx="312329" cy="312329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5" name="图片 84"/>
          <p:cNvPicPr>
            <a:picLocks noChangeAspect="1"/>
          </p:cNvPicPr>
          <p:nvPr/>
        </p:nvPicPr>
        <p:blipFill rotWithShape="1"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557" t="446" r="27557" b="52305"/>
          <a:stretch>
            <a:fillRect/>
          </a:stretch>
        </p:blipFill>
        <p:spPr>
          <a:xfrm>
            <a:off x="3959828" y="2421820"/>
            <a:ext cx="512896" cy="553388"/>
          </a:xfrm>
          <a:prstGeom prst="ellipse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87" name="文本框 86"/>
              <p:cNvSpPr txBox="1"/>
              <p:nvPr/>
            </p:nvSpPr>
            <p:spPr>
              <a:xfrm>
                <a:off x="3632418" y="3007985"/>
                <a:ext cx="95141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87" name="文本框 8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32418" y="3007985"/>
                <a:ext cx="951414" cy="276999"/>
              </a:xfrm>
              <a:prstGeom prst="rect">
                <a:avLst/>
              </a:prstGeom>
              <a:blipFill rotWithShape="1">
                <a:blip r:embed="rId17"/>
                <a:stretch>
                  <a:fillRect l="-23" t="-226" r="-3896" b="4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9" name="文本框 88"/>
              <p:cNvSpPr txBox="1"/>
              <p:nvPr/>
            </p:nvSpPr>
            <p:spPr>
              <a:xfrm>
                <a:off x="4093424" y="3376214"/>
                <a:ext cx="842475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CN" sz="160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6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7</m:t>
                          </m:r>
                          <m:r>
                            <a:rPr lang="en-US" altLang="zh-CN" sz="16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altLang="zh-CN" sz="16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  <m:r>
                            <a:rPr lang="en-US" altLang="zh-CN" sz="16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CN" sz="16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  <m:r>
                            <a:rPr lang="en-US" altLang="zh-CN" sz="16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altLang="zh-CN" sz="16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</m:oMath>
                  </m:oMathPara>
                </a14:m>
                <a:endParaRPr lang="zh-CN" altLang="en-US" sz="1600" dirty="0">
                  <a:solidFill>
                    <a:srgbClr val="00B0F0"/>
                  </a:solidFill>
                </a:endParaRPr>
              </a:p>
            </p:txBody>
          </p:sp>
        </mc:Choice>
        <mc:Fallback>
          <p:sp>
            <p:nvSpPr>
              <p:cNvPr id="89" name="文本框 8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93424" y="3376214"/>
                <a:ext cx="842475" cy="246221"/>
              </a:xfrm>
              <a:prstGeom prst="rect">
                <a:avLst/>
              </a:prstGeom>
              <a:blipFill rotWithShape="1">
                <a:blip r:embed="rId18"/>
                <a:stretch>
                  <a:fillRect l="-25" t="-225" r="-4140" b="16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7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000"/>
                            </p:stCondLst>
                            <p:childTnLst>
                              <p:par>
                                <p:cTn id="3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500"/>
                            </p:stCondLst>
                            <p:childTnLst>
                              <p:par>
                                <p:cTn id="4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2000"/>
                            </p:stCondLst>
                            <p:childTnLst>
                              <p:par>
                                <p:cTn id="4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2500"/>
                            </p:stCondLst>
                            <p:childTnLst>
                              <p:par>
                                <p:cTn id="5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3000"/>
                            </p:stCondLst>
                            <p:childTnLst>
                              <p:par>
                                <p:cTn id="6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500"/>
                            </p:stCondLst>
                            <p:childTnLst>
                              <p:par>
                                <p:cTn id="7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1000"/>
                            </p:stCondLst>
                            <p:childTnLst>
                              <p:par>
                                <p:cTn id="7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47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4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5" dur="500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500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10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6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7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2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3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8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9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4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5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0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1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6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7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0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2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3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indefinite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9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0" fill="hold">
                      <p:stCondLst>
                        <p:cond delay="indefinite"/>
                      </p:stCondLst>
                      <p:childTnLst>
                        <p:par>
                          <p:cTn id="151" fill="hold">
                            <p:stCondLst>
                              <p:cond delay="0"/>
                            </p:stCondLst>
                            <p:childTnLst>
                              <p:par>
                                <p:cTn id="152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4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7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" grpId="0" animBg="1"/>
      <p:bldP spid="61" grpId="0"/>
      <p:bldP spid="62" grpId="0"/>
      <p:bldP spid="62" grpId="1"/>
      <p:bldP spid="63" grpId="0"/>
      <p:bldP spid="63" grpId="1"/>
      <p:bldP spid="64" grpId="0"/>
      <p:bldP spid="64" grpId="1"/>
      <p:bldP spid="65" grpId="0"/>
      <p:bldP spid="65" grpId="1"/>
      <p:bldP spid="66" grpId="0"/>
      <p:bldP spid="66" grpId="1"/>
      <p:bldP spid="67" grpId="0"/>
      <p:bldP spid="67" grpId="1"/>
      <p:bldP spid="70" grpId="0"/>
      <p:bldP spid="95" grpId="0"/>
      <p:bldP spid="96" grpId="0"/>
      <p:bldP spid="97" grpId="0" animBg="1"/>
      <p:bldP spid="98" grpId="0"/>
      <p:bldP spid="98" grpId="1"/>
      <p:bldP spid="82" grpId="0" animBg="1"/>
      <p:bldP spid="87" grpId="0"/>
      <p:bldP spid="87" grpId="1"/>
      <p:bldP spid="8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627149" y="6093296"/>
            <a:ext cx="7170831" cy="612492"/>
            <a:chOff x="2906758" y="6323422"/>
            <a:chExt cx="7170831" cy="612492"/>
          </a:xfrm>
        </p:grpSpPr>
        <p:cxnSp>
          <p:nvCxnSpPr>
            <p:cNvPr id="5" name="直接箭头连接符 4"/>
            <p:cNvCxnSpPr/>
            <p:nvPr/>
          </p:nvCxnSpPr>
          <p:spPr>
            <a:xfrm>
              <a:off x="2906758" y="6494231"/>
              <a:ext cx="6476963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直接连接符 5"/>
            <p:cNvCxnSpPr/>
            <p:nvPr/>
          </p:nvCxnSpPr>
          <p:spPr>
            <a:xfrm>
              <a:off x="3647728" y="6323423"/>
              <a:ext cx="0" cy="170808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直接连接符 6"/>
            <p:cNvCxnSpPr/>
            <p:nvPr/>
          </p:nvCxnSpPr>
          <p:spPr>
            <a:xfrm>
              <a:off x="4223792" y="6323423"/>
              <a:ext cx="0" cy="170808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直接连接符 7"/>
            <p:cNvCxnSpPr/>
            <p:nvPr/>
          </p:nvCxnSpPr>
          <p:spPr>
            <a:xfrm>
              <a:off x="4799856" y="6323423"/>
              <a:ext cx="0" cy="170808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直接连接符 8"/>
            <p:cNvCxnSpPr/>
            <p:nvPr/>
          </p:nvCxnSpPr>
          <p:spPr>
            <a:xfrm>
              <a:off x="5375920" y="6323422"/>
              <a:ext cx="0" cy="170808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直接连接符 9"/>
            <p:cNvCxnSpPr/>
            <p:nvPr/>
          </p:nvCxnSpPr>
          <p:spPr>
            <a:xfrm>
              <a:off x="5951984" y="6323422"/>
              <a:ext cx="0" cy="170808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直接连接符 10"/>
            <p:cNvCxnSpPr/>
            <p:nvPr/>
          </p:nvCxnSpPr>
          <p:spPr>
            <a:xfrm>
              <a:off x="6528048" y="6323422"/>
              <a:ext cx="0" cy="170808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接连接符 11"/>
            <p:cNvCxnSpPr/>
            <p:nvPr/>
          </p:nvCxnSpPr>
          <p:spPr>
            <a:xfrm>
              <a:off x="7151473" y="6323422"/>
              <a:ext cx="0" cy="170808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接连接符 12"/>
            <p:cNvCxnSpPr/>
            <p:nvPr/>
          </p:nvCxnSpPr>
          <p:spPr>
            <a:xfrm>
              <a:off x="7655529" y="6323422"/>
              <a:ext cx="0" cy="170808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/>
            <p:nvPr/>
          </p:nvCxnSpPr>
          <p:spPr>
            <a:xfrm>
              <a:off x="8159585" y="6323422"/>
              <a:ext cx="0" cy="170808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连接符 14"/>
            <p:cNvCxnSpPr/>
            <p:nvPr/>
          </p:nvCxnSpPr>
          <p:spPr>
            <a:xfrm>
              <a:off x="8688288" y="6323422"/>
              <a:ext cx="0" cy="170808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文本框 15"/>
            <p:cNvSpPr txBox="1"/>
            <p:nvPr/>
          </p:nvSpPr>
          <p:spPr>
            <a:xfrm>
              <a:off x="9044797" y="6566582"/>
              <a:ext cx="103279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b="1" dirty="0"/>
                <a:t>篮板</a:t>
              </a:r>
              <a:endParaRPr lang="zh-CN" altLang="en-US" b="1" dirty="0"/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3494872" y="6478899"/>
              <a:ext cx="32501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/>
                <a:t>3</a:t>
              </a:r>
              <a:endParaRPr lang="zh-CN" altLang="en-US" b="1" dirty="0"/>
            </a:p>
          </p:txBody>
        </p:sp>
        <p:sp>
          <p:nvSpPr>
            <p:cNvPr id="18" name="文本框 17"/>
            <p:cNvSpPr txBox="1"/>
            <p:nvPr/>
          </p:nvSpPr>
          <p:spPr>
            <a:xfrm>
              <a:off x="4055127" y="6470969"/>
              <a:ext cx="32501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/>
                <a:t>4</a:t>
              </a:r>
              <a:endParaRPr lang="zh-CN" altLang="en-US" b="1" dirty="0"/>
            </a:p>
          </p:txBody>
        </p:sp>
        <p:sp>
          <p:nvSpPr>
            <p:cNvPr id="19" name="文本框 18"/>
            <p:cNvSpPr txBox="1"/>
            <p:nvPr/>
          </p:nvSpPr>
          <p:spPr>
            <a:xfrm>
              <a:off x="4637956" y="6475151"/>
              <a:ext cx="32501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/>
                <a:t>5</a:t>
              </a:r>
              <a:endParaRPr lang="zh-CN" altLang="en-US" b="1" dirty="0"/>
            </a:p>
          </p:txBody>
        </p:sp>
        <p:sp>
          <p:nvSpPr>
            <p:cNvPr id="20" name="文本框 19"/>
            <p:cNvSpPr txBox="1"/>
            <p:nvPr/>
          </p:nvSpPr>
          <p:spPr>
            <a:xfrm>
              <a:off x="5214019" y="6455987"/>
              <a:ext cx="32501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/>
                <a:t>6</a:t>
              </a:r>
              <a:endParaRPr lang="zh-CN" altLang="en-US" b="1" dirty="0"/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5805891" y="6490296"/>
              <a:ext cx="32501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/>
                <a:t>7</a:t>
              </a:r>
              <a:endParaRPr lang="zh-CN" altLang="en-US" b="1" dirty="0"/>
            </a:p>
          </p:txBody>
        </p:sp>
        <p:sp>
          <p:nvSpPr>
            <p:cNvPr id="22" name="文本框 21"/>
            <p:cNvSpPr txBox="1"/>
            <p:nvPr/>
          </p:nvSpPr>
          <p:spPr>
            <a:xfrm>
              <a:off x="6366146" y="6482366"/>
              <a:ext cx="32501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/>
                <a:t>8</a:t>
              </a:r>
              <a:endParaRPr lang="zh-CN" altLang="en-US" b="1" dirty="0"/>
            </a:p>
          </p:txBody>
        </p:sp>
        <p:sp>
          <p:nvSpPr>
            <p:cNvPr id="23" name="文本框 22"/>
            <p:cNvSpPr txBox="1"/>
            <p:nvPr/>
          </p:nvSpPr>
          <p:spPr>
            <a:xfrm>
              <a:off x="6935416" y="6470969"/>
              <a:ext cx="32501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/>
                <a:t>9</a:t>
              </a:r>
              <a:endParaRPr lang="zh-CN" altLang="en-US" b="1" dirty="0"/>
            </a:p>
          </p:txBody>
        </p:sp>
        <p:sp>
          <p:nvSpPr>
            <p:cNvPr id="24" name="文本框 23"/>
            <p:cNvSpPr txBox="1"/>
            <p:nvPr/>
          </p:nvSpPr>
          <p:spPr>
            <a:xfrm>
              <a:off x="7453348" y="6463754"/>
              <a:ext cx="45365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/>
                <a:t>10</a:t>
              </a:r>
              <a:endParaRPr lang="zh-CN" altLang="en-US" b="1" dirty="0"/>
            </a:p>
          </p:txBody>
        </p:sp>
        <p:sp>
          <p:nvSpPr>
            <p:cNvPr id="25" name="文本框 24"/>
            <p:cNvSpPr txBox="1"/>
            <p:nvPr/>
          </p:nvSpPr>
          <p:spPr>
            <a:xfrm>
              <a:off x="7957762" y="6465598"/>
              <a:ext cx="59584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/>
                <a:t>11</a:t>
              </a:r>
              <a:endParaRPr lang="zh-CN" altLang="en-US" b="1" dirty="0"/>
            </a:p>
          </p:txBody>
        </p:sp>
        <p:sp>
          <p:nvSpPr>
            <p:cNvPr id="26" name="文本框 25"/>
            <p:cNvSpPr txBox="1"/>
            <p:nvPr/>
          </p:nvSpPr>
          <p:spPr>
            <a:xfrm>
              <a:off x="8475527" y="6477979"/>
              <a:ext cx="50741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/>
                <a:t>12</a:t>
              </a:r>
              <a:endParaRPr lang="zh-CN" altLang="en-US" b="1" dirty="0"/>
            </a:p>
          </p:txBody>
        </p:sp>
      </p:grpSp>
      <p:pic>
        <p:nvPicPr>
          <p:cNvPr id="32" name="图片 31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341" r="20773" b="47362"/>
          <a:stretch>
            <a:fillRect/>
          </a:stretch>
        </p:blipFill>
        <p:spPr>
          <a:xfrm>
            <a:off x="4494919" y="1530038"/>
            <a:ext cx="504057" cy="521415"/>
          </a:xfrm>
          <a:prstGeom prst="ellipse">
            <a:avLst/>
          </a:prstGeom>
        </p:spPr>
      </p:pic>
      <p:grpSp>
        <p:nvGrpSpPr>
          <p:cNvPr id="34" name="组合 33"/>
          <p:cNvGrpSpPr/>
          <p:nvPr/>
        </p:nvGrpSpPr>
        <p:grpSpPr>
          <a:xfrm>
            <a:off x="194601" y="154638"/>
            <a:ext cx="1131184" cy="6464978"/>
            <a:chOff x="194601" y="154638"/>
            <a:chExt cx="1131184" cy="6464978"/>
          </a:xfrm>
        </p:grpSpPr>
        <p:grpSp>
          <p:nvGrpSpPr>
            <p:cNvPr id="35" name="组合 34"/>
            <p:cNvGrpSpPr/>
            <p:nvPr/>
          </p:nvGrpSpPr>
          <p:grpSpPr>
            <a:xfrm>
              <a:off x="1039064" y="428431"/>
              <a:ext cx="171961" cy="6155366"/>
              <a:chOff x="3287688" y="-597610"/>
              <a:chExt cx="171961" cy="6155366"/>
            </a:xfrm>
          </p:grpSpPr>
          <p:cxnSp>
            <p:nvCxnSpPr>
              <p:cNvPr id="50" name="直接箭头连接符 49"/>
              <p:cNvCxnSpPr/>
              <p:nvPr/>
            </p:nvCxnSpPr>
            <p:spPr>
              <a:xfrm flipV="1">
                <a:off x="3287688" y="-597610"/>
                <a:ext cx="0" cy="6155366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直接连接符 50"/>
              <p:cNvCxnSpPr/>
              <p:nvPr/>
            </p:nvCxnSpPr>
            <p:spPr>
              <a:xfrm>
                <a:off x="3287688" y="3789040"/>
                <a:ext cx="144016" cy="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直接连接符 51"/>
              <p:cNvCxnSpPr/>
              <p:nvPr/>
            </p:nvCxnSpPr>
            <p:spPr>
              <a:xfrm>
                <a:off x="3301841" y="4941168"/>
                <a:ext cx="144016" cy="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直接连接符 52"/>
              <p:cNvCxnSpPr/>
              <p:nvPr/>
            </p:nvCxnSpPr>
            <p:spPr>
              <a:xfrm>
                <a:off x="3301480" y="4365104"/>
                <a:ext cx="144016" cy="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直接连接符 53"/>
              <p:cNvCxnSpPr/>
              <p:nvPr/>
            </p:nvCxnSpPr>
            <p:spPr>
              <a:xfrm>
                <a:off x="3301480" y="764704"/>
                <a:ext cx="144016" cy="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直接连接符 54"/>
              <p:cNvCxnSpPr/>
              <p:nvPr/>
            </p:nvCxnSpPr>
            <p:spPr>
              <a:xfrm>
                <a:off x="3301480" y="3140968"/>
                <a:ext cx="144016" cy="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直接连接符 55"/>
              <p:cNvCxnSpPr/>
              <p:nvPr/>
            </p:nvCxnSpPr>
            <p:spPr>
              <a:xfrm>
                <a:off x="3301480" y="2564904"/>
                <a:ext cx="144016" cy="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直接连接符 56"/>
              <p:cNvCxnSpPr/>
              <p:nvPr/>
            </p:nvCxnSpPr>
            <p:spPr>
              <a:xfrm>
                <a:off x="3315633" y="1916832"/>
                <a:ext cx="144016" cy="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直接连接符 57"/>
              <p:cNvCxnSpPr/>
              <p:nvPr/>
            </p:nvCxnSpPr>
            <p:spPr>
              <a:xfrm>
                <a:off x="3315272" y="1340768"/>
                <a:ext cx="144016" cy="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6" name="文本框 35"/>
            <p:cNvSpPr txBox="1"/>
            <p:nvPr/>
          </p:nvSpPr>
          <p:spPr>
            <a:xfrm>
              <a:off x="627149" y="6250284"/>
              <a:ext cx="44314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i="1" dirty="0"/>
                <a:t>O</a:t>
              </a:r>
              <a:endParaRPr lang="zh-CN" altLang="en-US" b="1" i="1" dirty="0"/>
            </a:p>
          </p:txBody>
        </p:sp>
        <p:sp>
          <p:nvSpPr>
            <p:cNvPr id="37" name="文本框 36"/>
            <p:cNvSpPr txBox="1"/>
            <p:nvPr/>
          </p:nvSpPr>
          <p:spPr>
            <a:xfrm>
              <a:off x="194601" y="154638"/>
              <a:ext cx="6457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b="1" dirty="0"/>
                <a:t>助攻</a:t>
              </a:r>
              <a:endParaRPr lang="zh-CN" altLang="en-US" b="1" dirty="0"/>
            </a:p>
          </p:txBody>
        </p:sp>
        <p:sp>
          <p:nvSpPr>
            <p:cNvPr id="38" name="文本框 37"/>
            <p:cNvSpPr txBox="1"/>
            <p:nvPr/>
          </p:nvSpPr>
          <p:spPr>
            <a:xfrm>
              <a:off x="652062" y="5229200"/>
              <a:ext cx="32501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/>
                <a:t>3</a:t>
              </a:r>
              <a:endParaRPr lang="zh-CN" altLang="en-US" b="1" dirty="0"/>
            </a:p>
          </p:txBody>
        </p:sp>
        <p:sp>
          <p:nvSpPr>
            <p:cNvPr id="39" name="文本框 38"/>
            <p:cNvSpPr txBox="1"/>
            <p:nvPr/>
          </p:nvSpPr>
          <p:spPr>
            <a:xfrm>
              <a:off x="652061" y="4653136"/>
              <a:ext cx="32501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/>
                <a:t>4</a:t>
              </a:r>
              <a:endParaRPr lang="zh-CN" altLang="en-US" b="1" dirty="0"/>
            </a:p>
          </p:txBody>
        </p:sp>
        <p:sp>
          <p:nvSpPr>
            <p:cNvPr id="40" name="文本框 39"/>
            <p:cNvSpPr txBox="1"/>
            <p:nvPr/>
          </p:nvSpPr>
          <p:spPr>
            <a:xfrm>
              <a:off x="649015" y="4005064"/>
              <a:ext cx="32501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/>
                <a:t>5</a:t>
              </a:r>
              <a:endParaRPr lang="zh-CN" altLang="en-US" b="1" dirty="0"/>
            </a:p>
          </p:txBody>
        </p:sp>
        <p:sp>
          <p:nvSpPr>
            <p:cNvPr id="41" name="文本框 40"/>
            <p:cNvSpPr txBox="1"/>
            <p:nvPr/>
          </p:nvSpPr>
          <p:spPr>
            <a:xfrm>
              <a:off x="653553" y="3429000"/>
              <a:ext cx="32501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/>
                <a:t>6</a:t>
              </a:r>
              <a:endParaRPr lang="zh-CN" altLang="en-US" b="1" dirty="0"/>
            </a:p>
          </p:txBody>
        </p:sp>
        <p:sp>
          <p:nvSpPr>
            <p:cNvPr id="42" name="文本框 41"/>
            <p:cNvSpPr txBox="1"/>
            <p:nvPr/>
          </p:nvSpPr>
          <p:spPr>
            <a:xfrm>
              <a:off x="653553" y="2780928"/>
              <a:ext cx="32501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/>
                <a:t>7</a:t>
              </a:r>
              <a:endParaRPr lang="zh-CN" altLang="en-US" b="1" dirty="0"/>
            </a:p>
          </p:txBody>
        </p:sp>
        <p:sp>
          <p:nvSpPr>
            <p:cNvPr id="43" name="文本框 42"/>
            <p:cNvSpPr txBox="1"/>
            <p:nvPr/>
          </p:nvSpPr>
          <p:spPr>
            <a:xfrm>
              <a:off x="670472" y="2232046"/>
              <a:ext cx="32501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/>
                <a:t>8</a:t>
              </a:r>
              <a:endParaRPr lang="zh-CN" altLang="en-US" b="1" dirty="0"/>
            </a:p>
          </p:txBody>
        </p:sp>
        <p:sp>
          <p:nvSpPr>
            <p:cNvPr id="44" name="文本框 43"/>
            <p:cNvSpPr txBox="1"/>
            <p:nvPr/>
          </p:nvSpPr>
          <p:spPr>
            <a:xfrm>
              <a:off x="695400" y="1628800"/>
              <a:ext cx="32501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/>
                <a:t>9</a:t>
              </a:r>
              <a:endParaRPr lang="zh-CN" altLang="en-US" b="1" dirty="0"/>
            </a:p>
          </p:txBody>
        </p:sp>
        <p:sp>
          <p:nvSpPr>
            <p:cNvPr id="45" name="文本框 44"/>
            <p:cNvSpPr txBox="1"/>
            <p:nvPr/>
          </p:nvSpPr>
          <p:spPr>
            <a:xfrm>
              <a:off x="632062" y="1077033"/>
              <a:ext cx="66656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/>
                <a:t>10</a:t>
              </a:r>
              <a:endParaRPr lang="zh-CN" altLang="en-US" b="1" dirty="0"/>
            </a:p>
          </p:txBody>
        </p:sp>
        <p:cxnSp>
          <p:nvCxnSpPr>
            <p:cNvPr id="46" name="直接连接符 45"/>
            <p:cNvCxnSpPr/>
            <p:nvPr/>
          </p:nvCxnSpPr>
          <p:spPr>
            <a:xfrm>
              <a:off x="1053217" y="1210947"/>
              <a:ext cx="144016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直接连接符 46"/>
            <p:cNvCxnSpPr/>
            <p:nvPr/>
          </p:nvCxnSpPr>
          <p:spPr>
            <a:xfrm>
              <a:off x="1052856" y="634883"/>
              <a:ext cx="144016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8" name="文本框 47"/>
            <p:cNvSpPr txBox="1"/>
            <p:nvPr/>
          </p:nvSpPr>
          <p:spPr>
            <a:xfrm>
              <a:off x="659220" y="508731"/>
              <a:ext cx="666565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altLang="zh-CN" b="1" dirty="0"/>
                <a:t>11</a:t>
              </a:r>
              <a:endParaRPr lang="zh-CN" altLang="en-US" b="1" dirty="0"/>
            </a:p>
          </p:txBody>
        </p:sp>
        <p:sp>
          <p:nvSpPr>
            <p:cNvPr id="49" name="文本框 48"/>
            <p:cNvSpPr txBox="1"/>
            <p:nvPr/>
          </p:nvSpPr>
          <p:spPr>
            <a:xfrm>
              <a:off x="645819" y="5802804"/>
              <a:ext cx="32501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/>
                <a:t>2</a:t>
              </a:r>
              <a:endParaRPr lang="zh-CN" altLang="en-US" b="1" dirty="0"/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61" name="文本框 60"/>
              <p:cNvSpPr txBox="1"/>
              <p:nvPr/>
            </p:nvSpPr>
            <p:spPr>
              <a:xfrm>
                <a:off x="4651010" y="2100541"/>
                <a:ext cx="95141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9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61" name="文本框 6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51010" y="2100541"/>
                <a:ext cx="951414" cy="276999"/>
              </a:xfrm>
              <a:prstGeom prst="rect">
                <a:avLst/>
              </a:prstGeom>
              <a:blipFill rotWithShape="1">
                <a:blip r:embed="rId2"/>
                <a:stretch>
                  <a:fillRect l="-28" t="-215" r="-3890" b="3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2" name="直接连接符 71"/>
          <p:cNvCxnSpPr>
            <a:stCxn id="32" idx="2"/>
          </p:cNvCxnSpPr>
          <p:nvPr/>
        </p:nvCxnSpPr>
        <p:spPr>
          <a:xfrm flipH="1" flipV="1">
            <a:off x="1178662" y="1786937"/>
            <a:ext cx="3316257" cy="3809"/>
          </a:xfrm>
          <a:prstGeom prst="line">
            <a:avLst/>
          </a:prstGeom>
          <a:ln w="12700">
            <a:solidFill>
              <a:srgbClr val="FF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直接连接符 72"/>
          <p:cNvCxnSpPr/>
          <p:nvPr/>
        </p:nvCxnSpPr>
        <p:spPr>
          <a:xfrm flipH="1">
            <a:off x="1052856" y="3376214"/>
            <a:ext cx="3695714" cy="0"/>
          </a:xfrm>
          <a:prstGeom prst="line">
            <a:avLst/>
          </a:prstGeom>
          <a:ln w="12700">
            <a:solidFill>
              <a:srgbClr val="FF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直接连接符 73"/>
          <p:cNvCxnSpPr>
            <a:stCxn id="93" idx="4"/>
          </p:cNvCxnSpPr>
          <p:nvPr/>
        </p:nvCxnSpPr>
        <p:spPr>
          <a:xfrm flipH="1">
            <a:off x="4007768" y="3501008"/>
            <a:ext cx="12149" cy="2786719"/>
          </a:xfrm>
          <a:prstGeom prst="line">
            <a:avLst/>
          </a:prstGeom>
          <a:ln w="12700">
            <a:solidFill>
              <a:srgbClr val="FF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直接连接符 74"/>
          <p:cNvCxnSpPr/>
          <p:nvPr/>
        </p:nvCxnSpPr>
        <p:spPr>
          <a:xfrm flipH="1">
            <a:off x="4777141" y="2067769"/>
            <a:ext cx="1" cy="4180084"/>
          </a:xfrm>
          <a:prstGeom prst="line">
            <a:avLst/>
          </a:prstGeom>
          <a:ln w="12700">
            <a:solidFill>
              <a:srgbClr val="FF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直接箭头连接符 75"/>
          <p:cNvCxnSpPr/>
          <p:nvPr/>
        </p:nvCxnSpPr>
        <p:spPr>
          <a:xfrm flipH="1">
            <a:off x="4780576" y="4157811"/>
            <a:ext cx="436799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直接箭头连接符 76"/>
          <p:cNvCxnSpPr/>
          <p:nvPr/>
        </p:nvCxnSpPr>
        <p:spPr>
          <a:xfrm>
            <a:off x="3619702" y="4129857"/>
            <a:ext cx="393118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78" name="文本框 77"/>
              <p:cNvSpPr txBox="1"/>
              <p:nvPr/>
            </p:nvSpPr>
            <p:spPr>
              <a:xfrm>
                <a:off x="4195106" y="4005064"/>
                <a:ext cx="487313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altLang="zh-CN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altLang="zh-CN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CN" altLang="en-US" sz="240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78" name="文本框 7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95106" y="4005064"/>
                <a:ext cx="487313" cy="369332"/>
              </a:xfrm>
              <a:prstGeom prst="rect">
                <a:avLst/>
              </a:prstGeom>
              <a:blipFill rotWithShape="1">
                <a:blip r:embed="rId3"/>
                <a:stretch>
                  <a:fillRect l="-61" t="-32" r="-4836" b="14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9" name="直接箭头连接符 78"/>
          <p:cNvCxnSpPr/>
          <p:nvPr/>
        </p:nvCxnSpPr>
        <p:spPr>
          <a:xfrm>
            <a:off x="3103045" y="1222414"/>
            <a:ext cx="0" cy="54545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80" name="矩形 79"/>
              <p:cNvSpPr/>
              <p:nvPr/>
            </p:nvSpPr>
            <p:spPr>
              <a:xfrm>
                <a:off x="2809614" y="2392338"/>
                <a:ext cx="671979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altLang="zh-CN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altLang="zh-CN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8</m:t>
                      </m:r>
                    </m:oMath>
                  </m:oMathPara>
                </a14:m>
                <a:endParaRPr lang="zh-CN" altLang="en-US" sz="240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80" name="矩形 7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09614" y="2392338"/>
                <a:ext cx="671979" cy="461665"/>
              </a:xfrm>
              <a:prstGeom prst="rect">
                <a:avLst/>
              </a:prstGeom>
              <a:blipFill rotWithShape="1">
                <a:blip r:embed="rId4"/>
                <a:stretch>
                  <a:fillRect l="-56" t="-63" r="78" b="6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1" name="直接箭头连接符 80"/>
          <p:cNvCxnSpPr/>
          <p:nvPr/>
        </p:nvCxnSpPr>
        <p:spPr>
          <a:xfrm flipV="1">
            <a:off x="3241571" y="3416968"/>
            <a:ext cx="0" cy="58809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82" name="文本框 81"/>
              <p:cNvSpPr txBox="1"/>
              <p:nvPr/>
            </p:nvSpPr>
            <p:spPr>
              <a:xfrm>
                <a:off x="4723594" y="2649269"/>
                <a:ext cx="1718896" cy="38517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zh-CN" altLang="en-US" sz="20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n-US" altLang="zh-CN" sz="20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0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  <m:r>
                                <a:rPr lang="en-US" altLang="zh-CN" sz="20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n-US" altLang="zh-CN" sz="20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𝟖</m:t>
                              </m:r>
                            </m:e>
                            <m:sup>
                              <m:r>
                                <a:rPr lang="en-US" altLang="zh-CN" sz="20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  <m:r>
                            <a:rPr lang="en-US" altLang="zh-CN" sz="20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altLang="zh-CN" sz="20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0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n-US" altLang="zh-CN" sz="20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n-US" altLang="zh-CN" sz="20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e>
                            <m:sup>
                              <m:r>
                                <a:rPr lang="en-US" altLang="zh-CN" sz="20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</m:e>
                      </m:rad>
                    </m:oMath>
                  </m:oMathPara>
                </a14:m>
                <a:endParaRPr lang="zh-CN" altLang="en-US" b="1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82" name="文本框 8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23594" y="2649269"/>
                <a:ext cx="1718896" cy="385170"/>
              </a:xfrm>
              <a:prstGeom prst="rect">
                <a:avLst/>
              </a:prstGeom>
              <a:blipFill rotWithShape="1">
                <a:blip r:embed="rId5"/>
                <a:stretch>
                  <a:fillRect l="-27" t="-13" r="24" b="10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5" name="矩形 84"/>
          <p:cNvSpPr/>
          <p:nvPr/>
        </p:nvSpPr>
        <p:spPr>
          <a:xfrm>
            <a:off x="4314714" y="331976"/>
            <a:ext cx="209396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/>
              <a:t>欧几里得</a:t>
            </a:r>
            <a:r>
              <a:rPr lang="zh-CN" altLang="en-US" sz="2400" b="1" dirty="0">
                <a:latin typeface="-apple-system"/>
              </a:rPr>
              <a:t>距离</a:t>
            </a:r>
            <a:endParaRPr lang="zh-CN" altLang="en-US" sz="2400" b="1" dirty="0"/>
          </a:p>
        </p:txBody>
      </p:sp>
      <p:sp>
        <p:nvSpPr>
          <p:cNvPr id="87" name="矩形 86"/>
          <p:cNvSpPr/>
          <p:nvPr/>
        </p:nvSpPr>
        <p:spPr>
          <a:xfrm>
            <a:off x="4649261" y="331976"/>
            <a:ext cx="209396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/>
              <a:t>欧氏</a:t>
            </a:r>
            <a:r>
              <a:rPr lang="zh-CN" altLang="en-US" sz="2400" b="1" dirty="0">
                <a:latin typeface="-apple-system"/>
              </a:rPr>
              <a:t>距离</a:t>
            </a:r>
            <a:endParaRPr lang="zh-CN" altLang="en-US" sz="2400" b="1" dirty="0"/>
          </a:p>
        </p:txBody>
      </p:sp>
      <p:sp>
        <p:nvSpPr>
          <p:cNvPr id="95" name="文本框 94"/>
          <p:cNvSpPr txBox="1"/>
          <p:nvPr/>
        </p:nvSpPr>
        <p:spPr>
          <a:xfrm>
            <a:off x="7104112" y="916694"/>
            <a:ext cx="41764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/>
              <a:t>1</a:t>
            </a:r>
            <a:r>
              <a:rPr lang="zh-CN" altLang="en-US" sz="2000" b="1" dirty="0"/>
              <a:t>、随机生成两个点</a:t>
            </a:r>
            <a:endParaRPr lang="en-US" altLang="zh-CN" sz="2000" b="1" dirty="0"/>
          </a:p>
        </p:txBody>
      </p:sp>
      <p:sp>
        <p:nvSpPr>
          <p:cNvPr id="96" name="文本框 95"/>
          <p:cNvSpPr txBox="1"/>
          <p:nvPr/>
        </p:nvSpPr>
        <p:spPr>
          <a:xfrm>
            <a:off x="7135033" y="1362039"/>
            <a:ext cx="50569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/>
              <a:t>2</a:t>
            </a:r>
            <a:r>
              <a:rPr lang="zh-CN" altLang="en-US" sz="2000" b="1" dirty="0"/>
              <a:t>、类别划分</a:t>
            </a:r>
            <a:endParaRPr lang="zh-CN" altLang="en-US" sz="2000" b="1" dirty="0"/>
          </a:p>
        </p:txBody>
      </p:sp>
      <p:sp>
        <p:nvSpPr>
          <p:cNvPr id="97" name="文本框 96"/>
          <p:cNvSpPr txBox="1"/>
          <p:nvPr/>
        </p:nvSpPr>
        <p:spPr>
          <a:xfrm>
            <a:off x="7683296" y="1849801"/>
            <a:ext cx="3628201" cy="1754326"/>
          </a:xfrm>
          <a:prstGeom prst="rect">
            <a:avLst/>
          </a:prstGeom>
          <a:solidFill>
            <a:schemeClr val="tx1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if |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詹姆斯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,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黄点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| &lt; |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詹姆斯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,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蓝点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|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詹姆斯 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-&gt;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黄队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else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詹姆斯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-&gt;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蓝队  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9" name="椭圆 88"/>
          <p:cNvSpPr/>
          <p:nvPr/>
        </p:nvSpPr>
        <p:spPr>
          <a:xfrm>
            <a:off x="4007688" y="1650382"/>
            <a:ext cx="312329" cy="312329"/>
          </a:xfrm>
          <a:prstGeom prst="ellipse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0" name="文本框 89"/>
              <p:cNvSpPr txBox="1"/>
              <p:nvPr/>
            </p:nvSpPr>
            <p:spPr>
              <a:xfrm>
                <a:off x="3741357" y="1988840"/>
                <a:ext cx="842475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CN" sz="160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6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8</m:t>
                          </m:r>
                          <m:r>
                            <a:rPr lang="en-US" altLang="zh-CN" sz="16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altLang="zh-CN" sz="16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altLang="zh-CN" sz="16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CN" sz="16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9</m:t>
                          </m:r>
                          <m:r>
                            <a:rPr lang="en-US" altLang="zh-CN" sz="16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altLang="zh-CN" sz="16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zh-CN" altLang="en-US" sz="1600" dirty="0">
                  <a:solidFill>
                    <a:srgbClr val="FFFF00"/>
                  </a:solidFill>
                </a:endParaRPr>
              </a:p>
            </p:txBody>
          </p:sp>
        </mc:Choice>
        <mc:Fallback>
          <p:sp>
            <p:nvSpPr>
              <p:cNvPr id="90" name="文本框 8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41357" y="1988840"/>
                <a:ext cx="842475" cy="246221"/>
              </a:xfrm>
              <a:prstGeom prst="rect">
                <a:avLst/>
              </a:prstGeom>
              <a:blipFill rotWithShape="1">
                <a:blip r:embed="rId6"/>
                <a:stretch>
                  <a:fillRect l="-68" t="-8" r="-4098" b="20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1" name="直接箭头连接符 90"/>
          <p:cNvCxnSpPr/>
          <p:nvPr/>
        </p:nvCxnSpPr>
        <p:spPr>
          <a:xfrm flipH="1" flipV="1">
            <a:off x="4322964" y="1793757"/>
            <a:ext cx="231595" cy="13528"/>
          </a:xfrm>
          <a:prstGeom prst="straightConnector1">
            <a:avLst/>
          </a:prstGeom>
          <a:ln w="38100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直接箭头连接符 91"/>
          <p:cNvCxnSpPr/>
          <p:nvPr/>
        </p:nvCxnSpPr>
        <p:spPr>
          <a:xfrm flipH="1">
            <a:off x="4176081" y="2051453"/>
            <a:ext cx="570867" cy="1148221"/>
          </a:xfrm>
          <a:prstGeom prst="straightConnector1">
            <a:avLst/>
          </a:prstGeom>
          <a:ln w="38100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椭圆 92"/>
          <p:cNvSpPr/>
          <p:nvPr/>
        </p:nvSpPr>
        <p:spPr>
          <a:xfrm>
            <a:off x="3863752" y="3188679"/>
            <a:ext cx="312329" cy="312329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4" name="文本框 93"/>
              <p:cNvSpPr txBox="1"/>
              <p:nvPr/>
            </p:nvSpPr>
            <p:spPr>
              <a:xfrm>
                <a:off x="4093424" y="3398803"/>
                <a:ext cx="842475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CN" sz="160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6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7</m:t>
                          </m:r>
                          <m:r>
                            <a:rPr lang="en-US" altLang="zh-CN" sz="16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altLang="zh-CN" sz="16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  <m:r>
                            <a:rPr lang="en-US" altLang="zh-CN" sz="16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CN" sz="16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  <m:r>
                            <a:rPr lang="en-US" altLang="zh-CN" sz="16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altLang="zh-CN" sz="16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</m:oMath>
                  </m:oMathPara>
                </a14:m>
                <a:endParaRPr lang="zh-CN" altLang="en-US" sz="1600" dirty="0">
                  <a:solidFill>
                    <a:srgbClr val="00B0F0"/>
                  </a:solidFill>
                </a:endParaRPr>
              </a:p>
            </p:txBody>
          </p:sp>
        </mc:Choice>
        <mc:Fallback>
          <p:sp>
            <p:nvSpPr>
              <p:cNvPr id="94" name="文本框 9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93424" y="3398803"/>
                <a:ext cx="842475" cy="246221"/>
              </a:xfrm>
              <a:prstGeom prst="rect">
                <a:avLst/>
              </a:prstGeom>
              <a:blipFill rotWithShape="1">
                <a:blip r:embed="rId7"/>
                <a:stretch>
                  <a:fillRect l="-25" t="-115" r="-4140" b="5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4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6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44" dur="10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" presetClass="exit" presetSubtype="8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3" dur="500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0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3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6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9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2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5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8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1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4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6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7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0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2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3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8" dur="500" tmFilter="0, 0; .2, .5; .8, .5; 1, 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99" dur="250" autoRev="1" fill="hold"/>
                                        <p:tgtEl>
                                          <p:spTgt spid="9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8" grpId="0"/>
      <p:bldP spid="78" grpId="1"/>
      <p:bldP spid="80" grpId="0"/>
      <p:bldP spid="80" grpId="1"/>
      <p:bldP spid="82" grpId="0"/>
      <p:bldP spid="82" grpId="1"/>
      <p:bldP spid="85" grpId="0"/>
      <p:bldP spid="85" grpId="1"/>
      <p:bldP spid="8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椭圆 97"/>
          <p:cNvSpPr/>
          <p:nvPr/>
        </p:nvSpPr>
        <p:spPr>
          <a:xfrm>
            <a:off x="3863752" y="3140968"/>
            <a:ext cx="312329" cy="312329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4" name="组合 3"/>
          <p:cNvGrpSpPr/>
          <p:nvPr/>
        </p:nvGrpSpPr>
        <p:grpSpPr>
          <a:xfrm>
            <a:off x="627149" y="6093296"/>
            <a:ext cx="7170831" cy="612492"/>
            <a:chOff x="2906758" y="6323422"/>
            <a:chExt cx="7170831" cy="612492"/>
          </a:xfrm>
        </p:grpSpPr>
        <p:cxnSp>
          <p:nvCxnSpPr>
            <p:cNvPr id="5" name="直接箭头连接符 4"/>
            <p:cNvCxnSpPr/>
            <p:nvPr/>
          </p:nvCxnSpPr>
          <p:spPr>
            <a:xfrm>
              <a:off x="2906758" y="6494231"/>
              <a:ext cx="6476963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直接连接符 5"/>
            <p:cNvCxnSpPr/>
            <p:nvPr/>
          </p:nvCxnSpPr>
          <p:spPr>
            <a:xfrm>
              <a:off x="3647728" y="6323423"/>
              <a:ext cx="0" cy="170808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直接连接符 6"/>
            <p:cNvCxnSpPr/>
            <p:nvPr/>
          </p:nvCxnSpPr>
          <p:spPr>
            <a:xfrm>
              <a:off x="4223792" y="6323423"/>
              <a:ext cx="0" cy="170808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直接连接符 7"/>
            <p:cNvCxnSpPr/>
            <p:nvPr/>
          </p:nvCxnSpPr>
          <p:spPr>
            <a:xfrm>
              <a:off x="4799856" y="6323423"/>
              <a:ext cx="0" cy="170808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直接连接符 8"/>
            <p:cNvCxnSpPr/>
            <p:nvPr/>
          </p:nvCxnSpPr>
          <p:spPr>
            <a:xfrm>
              <a:off x="5375920" y="6323422"/>
              <a:ext cx="0" cy="170808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直接连接符 9"/>
            <p:cNvCxnSpPr/>
            <p:nvPr/>
          </p:nvCxnSpPr>
          <p:spPr>
            <a:xfrm>
              <a:off x="5951984" y="6323422"/>
              <a:ext cx="0" cy="170808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直接连接符 10"/>
            <p:cNvCxnSpPr/>
            <p:nvPr/>
          </p:nvCxnSpPr>
          <p:spPr>
            <a:xfrm>
              <a:off x="6528048" y="6323422"/>
              <a:ext cx="0" cy="170808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接连接符 11"/>
            <p:cNvCxnSpPr/>
            <p:nvPr/>
          </p:nvCxnSpPr>
          <p:spPr>
            <a:xfrm>
              <a:off x="7151473" y="6323422"/>
              <a:ext cx="0" cy="170808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接连接符 12"/>
            <p:cNvCxnSpPr/>
            <p:nvPr/>
          </p:nvCxnSpPr>
          <p:spPr>
            <a:xfrm>
              <a:off x="7655529" y="6323422"/>
              <a:ext cx="0" cy="170808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/>
            <p:nvPr/>
          </p:nvCxnSpPr>
          <p:spPr>
            <a:xfrm>
              <a:off x="8159585" y="6323422"/>
              <a:ext cx="0" cy="170808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连接符 14"/>
            <p:cNvCxnSpPr/>
            <p:nvPr/>
          </p:nvCxnSpPr>
          <p:spPr>
            <a:xfrm>
              <a:off x="8688288" y="6323422"/>
              <a:ext cx="0" cy="170808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文本框 15"/>
            <p:cNvSpPr txBox="1"/>
            <p:nvPr/>
          </p:nvSpPr>
          <p:spPr>
            <a:xfrm>
              <a:off x="9044797" y="6566582"/>
              <a:ext cx="103279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b="1" dirty="0"/>
                <a:t>篮板</a:t>
              </a:r>
              <a:endParaRPr lang="zh-CN" altLang="en-US" b="1" dirty="0"/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3494872" y="6478899"/>
              <a:ext cx="32501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/>
                <a:t>3</a:t>
              </a:r>
              <a:endParaRPr lang="zh-CN" altLang="en-US" b="1" dirty="0"/>
            </a:p>
          </p:txBody>
        </p:sp>
        <p:sp>
          <p:nvSpPr>
            <p:cNvPr id="18" name="文本框 17"/>
            <p:cNvSpPr txBox="1"/>
            <p:nvPr/>
          </p:nvSpPr>
          <p:spPr>
            <a:xfrm>
              <a:off x="4055127" y="6470969"/>
              <a:ext cx="32501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/>
                <a:t>4</a:t>
              </a:r>
              <a:endParaRPr lang="zh-CN" altLang="en-US" b="1" dirty="0"/>
            </a:p>
          </p:txBody>
        </p:sp>
        <p:sp>
          <p:nvSpPr>
            <p:cNvPr id="19" name="文本框 18"/>
            <p:cNvSpPr txBox="1"/>
            <p:nvPr/>
          </p:nvSpPr>
          <p:spPr>
            <a:xfrm>
              <a:off x="4637956" y="6475151"/>
              <a:ext cx="32501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/>
                <a:t>5</a:t>
              </a:r>
              <a:endParaRPr lang="zh-CN" altLang="en-US" b="1" dirty="0"/>
            </a:p>
          </p:txBody>
        </p:sp>
        <p:sp>
          <p:nvSpPr>
            <p:cNvPr id="20" name="文本框 19"/>
            <p:cNvSpPr txBox="1"/>
            <p:nvPr/>
          </p:nvSpPr>
          <p:spPr>
            <a:xfrm>
              <a:off x="5214019" y="6455987"/>
              <a:ext cx="32501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/>
                <a:t>6</a:t>
              </a:r>
              <a:endParaRPr lang="zh-CN" altLang="en-US" b="1" dirty="0"/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5805891" y="6490296"/>
              <a:ext cx="32501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/>
                <a:t>7</a:t>
              </a:r>
              <a:endParaRPr lang="zh-CN" altLang="en-US" b="1" dirty="0"/>
            </a:p>
          </p:txBody>
        </p:sp>
        <p:sp>
          <p:nvSpPr>
            <p:cNvPr id="22" name="文本框 21"/>
            <p:cNvSpPr txBox="1"/>
            <p:nvPr/>
          </p:nvSpPr>
          <p:spPr>
            <a:xfrm>
              <a:off x="6366146" y="6482366"/>
              <a:ext cx="32501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/>
                <a:t>8</a:t>
              </a:r>
              <a:endParaRPr lang="zh-CN" altLang="en-US" b="1" dirty="0"/>
            </a:p>
          </p:txBody>
        </p:sp>
        <p:sp>
          <p:nvSpPr>
            <p:cNvPr id="23" name="文本框 22"/>
            <p:cNvSpPr txBox="1"/>
            <p:nvPr/>
          </p:nvSpPr>
          <p:spPr>
            <a:xfrm>
              <a:off x="6935416" y="6470969"/>
              <a:ext cx="32501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/>
                <a:t>9</a:t>
              </a:r>
              <a:endParaRPr lang="zh-CN" altLang="en-US" b="1" dirty="0"/>
            </a:p>
          </p:txBody>
        </p:sp>
        <p:sp>
          <p:nvSpPr>
            <p:cNvPr id="24" name="文本框 23"/>
            <p:cNvSpPr txBox="1"/>
            <p:nvPr/>
          </p:nvSpPr>
          <p:spPr>
            <a:xfrm>
              <a:off x="7453348" y="6463754"/>
              <a:ext cx="45365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/>
                <a:t>10</a:t>
              </a:r>
              <a:endParaRPr lang="zh-CN" altLang="en-US" b="1" dirty="0"/>
            </a:p>
          </p:txBody>
        </p:sp>
        <p:sp>
          <p:nvSpPr>
            <p:cNvPr id="25" name="文本框 24"/>
            <p:cNvSpPr txBox="1"/>
            <p:nvPr/>
          </p:nvSpPr>
          <p:spPr>
            <a:xfrm>
              <a:off x="7957762" y="6465598"/>
              <a:ext cx="59584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/>
                <a:t>11</a:t>
              </a:r>
              <a:endParaRPr lang="zh-CN" altLang="en-US" b="1" dirty="0"/>
            </a:p>
          </p:txBody>
        </p:sp>
        <p:sp>
          <p:nvSpPr>
            <p:cNvPr id="26" name="文本框 25"/>
            <p:cNvSpPr txBox="1"/>
            <p:nvPr/>
          </p:nvSpPr>
          <p:spPr>
            <a:xfrm>
              <a:off x="8475527" y="6477979"/>
              <a:ext cx="50741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/>
                <a:t>12</a:t>
              </a:r>
              <a:endParaRPr lang="zh-CN" altLang="en-US" b="1" dirty="0"/>
            </a:p>
          </p:txBody>
        </p:sp>
      </p:grpSp>
      <p:pic>
        <p:nvPicPr>
          <p:cNvPr id="27" name="图片 26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389" r="21923" b="36428"/>
          <a:stretch>
            <a:fillRect/>
          </a:stretch>
        </p:blipFill>
        <p:spPr>
          <a:xfrm>
            <a:off x="1795275" y="4655088"/>
            <a:ext cx="576064" cy="646030"/>
          </a:xfrm>
          <a:prstGeom prst="ellipse">
            <a:avLst/>
          </a:prstGeom>
        </p:spPr>
      </p:pic>
      <p:pic>
        <p:nvPicPr>
          <p:cNvPr id="28" name="图片 27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130" r="26899" b="47125"/>
          <a:stretch>
            <a:fillRect/>
          </a:stretch>
        </p:blipFill>
        <p:spPr>
          <a:xfrm>
            <a:off x="2752310" y="4512946"/>
            <a:ext cx="576064" cy="534646"/>
          </a:xfrm>
          <a:prstGeom prst="ellipse">
            <a:avLst/>
          </a:prstGeom>
        </p:spPr>
      </p:pic>
      <p:pic>
        <p:nvPicPr>
          <p:cNvPr id="29" name="图片 2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5368" y="4281528"/>
            <a:ext cx="575216" cy="575216"/>
          </a:xfrm>
          <a:prstGeom prst="ellipse">
            <a:avLst/>
          </a:prstGeom>
        </p:spPr>
      </p:pic>
      <p:pic>
        <p:nvPicPr>
          <p:cNvPr id="30" name="图片 29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086" r="19844" b="44050"/>
          <a:stretch>
            <a:fillRect/>
          </a:stretch>
        </p:blipFill>
        <p:spPr>
          <a:xfrm>
            <a:off x="2181979" y="2976164"/>
            <a:ext cx="576064" cy="613708"/>
          </a:xfrm>
          <a:prstGeom prst="ellipse">
            <a:avLst/>
          </a:prstGeom>
        </p:spPr>
      </p:pic>
      <p:pic>
        <p:nvPicPr>
          <p:cNvPr id="31" name="图片 30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045" t="8887" r="22876" b="45424"/>
          <a:stretch>
            <a:fillRect/>
          </a:stretch>
        </p:blipFill>
        <p:spPr>
          <a:xfrm>
            <a:off x="2837178" y="3353288"/>
            <a:ext cx="529020" cy="507760"/>
          </a:xfrm>
          <a:prstGeom prst="ellipse">
            <a:avLst/>
          </a:prstGeom>
        </p:spPr>
      </p:pic>
      <p:pic>
        <p:nvPicPr>
          <p:cNvPr id="32" name="图片 31"/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341" r="20773" b="47362"/>
          <a:stretch>
            <a:fillRect/>
          </a:stretch>
        </p:blipFill>
        <p:spPr>
          <a:xfrm>
            <a:off x="4494919" y="1530038"/>
            <a:ext cx="504057" cy="521415"/>
          </a:xfrm>
          <a:prstGeom prst="ellipse">
            <a:avLst/>
          </a:prstGeom>
        </p:spPr>
      </p:pic>
      <p:pic>
        <p:nvPicPr>
          <p:cNvPr id="33" name="图片 32"/>
          <p:cNvPicPr>
            <a:picLocks noChangeAspect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929" t="-193" r="25178" b="54927"/>
          <a:stretch>
            <a:fillRect/>
          </a:stretch>
        </p:blipFill>
        <p:spPr>
          <a:xfrm>
            <a:off x="6082288" y="2301291"/>
            <a:ext cx="495610" cy="497738"/>
          </a:xfrm>
          <a:prstGeom prst="ellipse">
            <a:avLst/>
          </a:prstGeom>
        </p:spPr>
      </p:pic>
      <p:grpSp>
        <p:nvGrpSpPr>
          <p:cNvPr id="34" name="组合 33"/>
          <p:cNvGrpSpPr/>
          <p:nvPr/>
        </p:nvGrpSpPr>
        <p:grpSpPr>
          <a:xfrm>
            <a:off x="194601" y="154638"/>
            <a:ext cx="1131184" cy="6464978"/>
            <a:chOff x="194601" y="154638"/>
            <a:chExt cx="1131184" cy="6464978"/>
          </a:xfrm>
        </p:grpSpPr>
        <p:grpSp>
          <p:nvGrpSpPr>
            <p:cNvPr id="35" name="组合 34"/>
            <p:cNvGrpSpPr/>
            <p:nvPr/>
          </p:nvGrpSpPr>
          <p:grpSpPr>
            <a:xfrm>
              <a:off x="1039064" y="428431"/>
              <a:ext cx="171961" cy="6155366"/>
              <a:chOff x="3287688" y="-597610"/>
              <a:chExt cx="171961" cy="6155366"/>
            </a:xfrm>
          </p:grpSpPr>
          <p:cxnSp>
            <p:nvCxnSpPr>
              <p:cNvPr id="50" name="直接箭头连接符 49"/>
              <p:cNvCxnSpPr/>
              <p:nvPr/>
            </p:nvCxnSpPr>
            <p:spPr>
              <a:xfrm flipV="1">
                <a:off x="3287688" y="-597610"/>
                <a:ext cx="0" cy="6155366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直接连接符 50"/>
              <p:cNvCxnSpPr/>
              <p:nvPr/>
            </p:nvCxnSpPr>
            <p:spPr>
              <a:xfrm>
                <a:off x="3287688" y="3789040"/>
                <a:ext cx="144016" cy="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直接连接符 51"/>
              <p:cNvCxnSpPr/>
              <p:nvPr/>
            </p:nvCxnSpPr>
            <p:spPr>
              <a:xfrm>
                <a:off x="3301841" y="4941168"/>
                <a:ext cx="144016" cy="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直接连接符 52"/>
              <p:cNvCxnSpPr/>
              <p:nvPr/>
            </p:nvCxnSpPr>
            <p:spPr>
              <a:xfrm>
                <a:off x="3301480" y="4365104"/>
                <a:ext cx="144016" cy="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直接连接符 53"/>
              <p:cNvCxnSpPr/>
              <p:nvPr/>
            </p:nvCxnSpPr>
            <p:spPr>
              <a:xfrm>
                <a:off x="3301480" y="764704"/>
                <a:ext cx="144016" cy="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直接连接符 54"/>
              <p:cNvCxnSpPr/>
              <p:nvPr/>
            </p:nvCxnSpPr>
            <p:spPr>
              <a:xfrm>
                <a:off x="3301480" y="3140968"/>
                <a:ext cx="144016" cy="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直接连接符 55"/>
              <p:cNvCxnSpPr/>
              <p:nvPr/>
            </p:nvCxnSpPr>
            <p:spPr>
              <a:xfrm>
                <a:off x="3301480" y="2564904"/>
                <a:ext cx="144016" cy="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直接连接符 56"/>
              <p:cNvCxnSpPr/>
              <p:nvPr/>
            </p:nvCxnSpPr>
            <p:spPr>
              <a:xfrm>
                <a:off x="3315633" y="1916832"/>
                <a:ext cx="144016" cy="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直接连接符 57"/>
              <p:cNvCxnSpPr/>
              <p:nvPr/>
            </p:nvCxnSpPr>
            <p:spPr>
              <a:xfrm>
                <a:off x="3315272" y="1340768"/>
                <a:ext cx="144016" cy="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6" name="文本框 35"/>
            <p:cNvSpPr txBox="1"/>
            <p:nvPr/>
          </p:nvSpPr>
          <p:spPr>
            <a:xfrm>
              <a:off x="627149" y="6250284"/>
              <a:ext cx="44314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i="1" dirty="0"/>
                <a:t>O</a:t>
              </a:r>
              <a:endParaRPr lang="zh-CN" altLang="en-US" b="1" i="1" dirty="0"/>
            </a:p>
          </p:txBody>
        </p:sp>
        <p:sp>
          <p:nvSpPr>
            <p:cNvPr id="37" name="文本框 36"/>
            <p:cNvSpPr txBox="1"/>
            <p:nvPr/>
          </p:nvSpPr>
          <p:spPr>
            <a:xfrm>
              <a:off x="194601" y="154638"/>
              <a:ext cx="6457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b="1" dirty="0"/>
                <a:t>助攻</a:t>
              </a:r>
              <a:endParaRPr lang="zh-CN" altLang="en-US" b="1" dirty="0"/>
            </a:p>
          </p:txBody>
        </p:sp>
        <p:sp>
          <p:nvSpPr>
            <p:cNvPr id="38" name="文本框 37"/>
            <p:cNvSpPr txBox="1"/>
            <p:nvPr/>
          </p:nvSpPr>
          <p:spPr>
            <a:xfrm>
              <a:off x="652062" y="5229200"/>
              <a:ext cx="32501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/>
                <a:t>3</a:t>
              </a:r>
              <a:endParaRPr lang="zh-CN" altLang="en-US" b="1" dirty="0"/>
            </a:p>
          </p:txBody>
        </p:sp>
        <p:sp>
          <p:nvSpPr>
            <p:cNvPr id="39" name="文本框 38"/>
            <p:cNvSpPr txBox="1"/>
            <p:nvPr/>
          </p:nvSpPr>
          <p:spPr>
            <a:xfrm>
              <a:off x="652061" y="4653136"/>
              <a:ext cx="32501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/>
                <a:t>4</a:t>
              </a:r>
              <a:endParaRPr lang="zh-CN" altLang="en-US" b="1" dirty="0"/>
            </a:p>
          </p:txBody>
        </p:sp>
        <p:sp>
          <p:nvSpPr>
            <p:cNvPr id="40" name="文本框 39"/>
            <p:cNvSpPr txBox="1"/>
            <p:nvPr/>
          </p:nvSpPr>
          <p:spPr>
            <a:xfrm>
              <a:off x="649015" y="4005064"/>
              <a:ext cx="32501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/>
                <a:t>5</a:t>
              </a:r>
              <a:endParaRPr lang="zh-CN" altLang="en-US" b="1" dirty="0"/>
            </a:p>
          </p:txBody>
        </p:sp>
        <p:sp>
          <p:nvSpPr>
            <p:cNvPr id="41" name="文本框 40"/>
            <p:cNvSpPr txBox="1"/>
            <p:nvPr/>
          </p:nvSpPr>
          <p:spPr>
            <a:xfrm>
              <a:off x="653553" y="3429000"/>
              <a:ext cx="32501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/>
                <a:t>6</a:t>
              </a:r>
              <a:endParaRPr lang="zh-CN" altLang="en-US" b="1" dirty="0"/>
            </a:p>
          </p:txBody>
        </p:sp>
        <p:sp>
          <p:nvSpPr>
            <p:cNvPr id="42" name="文本框 41"/>
            <p:cNvSpPr txBox="1"/>
            <p:nvPr/>
          </p:nvSpPr>
          <p:spPr>
            <a:xfrm>
              <a:off x="653553" y="2780928"/>
              <a:ext cx="32501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/>
                <a:t>7</a:t>
              </a:r>
              <a:endParaRPr lang="zh-CN" altLang="en-US" b="1" dirty="0"/>
            </a:p>
          </p:txBody>
        </p:sp>
        <p:sp>
          <p:nvSpPr>
            <p:cNvPr id="43" name="文本框 42"/>
            <p:cNvSpPr txBox="1"/>
            <p:nvPr/>
          </p:nvSpPr>
          <p:spPr>
            <a:xfrm>
              <a:off x="670472" y="2232046"/>
              <a:ext cx="32501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/>
                <a:t>8</a:t>
              </a:r>
              <a:endParaRPr lang="zh-CN" altLang="en-US" b="1" dirty="0"/>
            </a:p>
          </p:txBody>
        </p:sp>
        <p:sp>
          <p:nvSpPr>
            <p:cNvPr id="44" name="文本框 43"/>
            <p:cNvSpPr txBox="1"/>
            <p:nvPr/>
          </p:nvSpPr>
          <p:spPr>
            <a:xfrm>
              <a:off x="695400" y="1628800"/>
              <a:ext cx="32501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/>
                <a:t>9</a:t>
              </a:r>
              <a:endParaRPr lang="zh-CN" altLang="en-US" b="1" dirty="0"/>
            </a:p>
          </p:txBody>
        </p:sp>
        <p:sp>
          <p:nvSpPr>
            <p:cNvPr id="45" name="文本框 44"/>
            <p:cNvSpPr txBox="1"/>
            <p:nvPr/>
          </p:nvSpPr>
          <p:spPr>
            <a:xfrm>
              <a:off x="632062" y="1077033"/>
              <a:ext cx="66656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/>
                <a:t>10</a:t>
              </a:r>
              <a:endParaRPr lang="zh-CN" altLang="en-US" b="1" dirty="0"/>
            </a:p>
          </p:txBody>
        </p:sp>
        <p:cxnSp>
          <p:nvCxnSpPr>
            <p:cNvPr id="46" name="直接连接符 45"/>
            <p:cNvCxnSpPr/>
            <p:nvPr/>
          </p:nvCxnSpPr>
          <p:spPr>
            <a:xfrm>
              <a:off x="1053217" y="1210947"/>
              <a:ext cx="144016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直接连接符 46"/>
            <p:cNvCxnSpPr/>
            <p:nvPr/>
          </p:nvCxnSpPr>
          <p:spPr>
            <a:xfrm>
              <a:off x="1052856" y="634883"/>
              <a:ext cx="144016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8" name="文本框 47"/>
            <p:cNvSpPr txBox="1"/>
            <p:nvPr/>
          </p:nvSpPr>
          <p:spPr>
            <a:xfrm>
              <a:off x="659220" y="508731"/>
              <a:ext cx="666565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altLang="zh-CN" b="1" dirty="0"/>
                <a:t>11</a:t>
              </a:r>
              <a:endParaRPr lang="zh-CN" altLang="en-US" b="1" dirty="0"/>
            </a:p>
          </p:txBody>
        </p:sp>
        <p:sp>
          <p:nvSpPr>
            <p:cNvPr id="49" name="文本框 48"/>
            <p:cNvSpPr txBox="1"/>
            <p:nvPr/>
          </p:nvSpPr>
          <p:spPr>
            <a:xfrm>
              <a:off x="645819" y="5802804"/>
              <a:ext cx="32501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/>
                <a:t>2</a:t>
              </a:r>
              <a:endParaRPr lang="zh-CN" altLang="en-US" b="1" dirty="0"/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61" name="文本框 60"/>
              <p:cNvSpPr txBox="1"/>
              <p:nvPr/>
            </p:nvSpPr>
            <p:spPr>
              <a:xfrm>
                <a:off x="4651010" y="2100541"/>
                <a:ext cx="95141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9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61" name="文本框 6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51010" y="2100541"/>
                <a:ext cx="951414" cy="276999"/>
              </a:xfrm>
              <a:prstGeom prst="rect">
                <a:avLst/>
              </a:prstGeom>
              <a:blipFill rotWithShape="1">
                <a:blip r:embed="rId8"/>
                <a:stretch>
                  <a:fillRect l="-28" t="-215" r="-3890" b="3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2" name="文本框 61"/>
              <p:cNvSpPr txBox="1"/>
              <p:nvPr/>
            </p:nvSpPr>
            <p:spPr>
              <a:xfrm>
                <a:off x="1624830" y="5388865"/>
                <a:ext cx="95141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62" name="文本框 6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4830" y="5388865"/>
                <a:ext cx="951414" cy="276999"/>
              </a:xfrm>
              <a:prstGeom prst="rect">
                <a:avLst/>
              </a:prstGeom>
              <a:blipFill rotWithShape="1">
                <a:blip r:embed="rId9"/>
                <a:stretch>
                  <a:fillRect l="-53" t="-92" r="-3866" b="14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3" name="文本框 62"/>
              <p:cNvSpPr txBox="1"/>
              <p:nvPr/>
            </p:nvSpPr>
            <p:spPr>
              <a:xfrm>
                <a:off x="2859121" y="5121784"/>
                <a:ext cx="95141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63" name="文本框 6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9121" y="5121784"/>
                <a:ext cx="951414" cy="276999"/>
              </a:xfrm>
              <a:prstGeom prst="rect">
                <a:avLst/>
              </a:prstGeom>
              <a:blipFill rotWithShape="1">
                <a:blip r:embed="rId10"/>
                <a:stretch>
                  <a:fillRect l="-37" t="-184" r="-3882" b="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4" name="文本框 63"/>
              <p:cNvSpPr txBox="1"/>
              <p:nvPr/>
            </p:nvSpPr>
            <p:spPr>
              <a:xfrm>
                <a:off x="3103045" y="3904503"/>
                <a:ext cx="95141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9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64" name="文本框 6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03045" y="3904503"/>
                <a:ext cx="951414" cy="276999"/>
              </a:xfrm>
              <a:prstGeom prst="rect">
                <a:avLst/>
              </a:prstGeom>
              <a:blipFill rotWithShape="1">
                <a:blip r:embed="rId11"/>
                <a:stretch>
                  <a:fillRect l="-46" t="-189" r="-3873" b="1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5" name="文本框 64"/>
              <p:cNvSpPr txBox="1"/>
              <p:nvPr/>
            </p:nvSpPr>
            <p:spPr>
              <a:xfrm>
                <a:off x="1631845" y="3564435"/>
                <a:ext cx="95141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65" name="文本框 6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1845" y="3564435"/>
                <a:ext cx="951414" cy="276999"/>
              </a:xfrm>
              <a:prstGeom prst="rect">
                <a:avLst/>
              </a:prstGeom>
              <a:blipFill rotWithShape="1">
                <a:blip r:embed="rId12"/>
                <a:stretch>
                  <a:fillRect l="-56" t="-65" r="-3863" b="11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6" name="文本框 65"/>
              <p:cNvSpPr txBox="1"/>
              <p:nvPr/>
            </p:nvSpPr>
            <p:spPr>
              <a:xfrm>
                <a:off x="5880441" y="2912271"/>
                <a:ext cx="107965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12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66" name="文本框 6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0441" y="2912271"/>
                <a:ext cx="1079655" cy="276999"/>
              </a:xfrm>
              <a:prstGeom prst="rect">
                <a:avLst/>
              </a:prstGeom>
              <a:blipFill rotWithShape="1">
                <a:blip r:embed="rId13"/>
                <a:stretch>
                  <a:fillRect l="-32" t="-58" r="-3307" b="10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7" name="文本框 66"/>
              <p:cNvSpPr txBox="1"/>
              <p:nvPr/>
            </p:nvSpPr>
            <p:spPr>
              <a:xfrm>
                <a:off x="4185552" y="4731215"/>
                <a:ext cx="95141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67" name="文本框 6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85552" y="4731215"/>
                <a:ext cx="951414" cy="276999"/>
              </a:xfrm>
              <a:prstGeom prst="rect">
                <a:avLst/>
              </a:prstGeom>
              <a:blipFill rotWithShape="1">
                <a:blip r:embed="rId14"/>
                <a:stretch>
                  <a:fillRect l="-28" t="-168" r="-3890" b="21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3" name="直接箭头连接符 82"/>
          <p:cNvCxnSpPr/>
          <p:nvPr/>
        </p:nvCxnSpPr>
        <p:spPr>
          <a:xfrm flipH="1" flipV="1">
            <a:off x="4320017" y="1806547"/>
            <a:ext cx="231596" cy="13528"/>
          </a:xfrm>
          <a:prstGeom prst="straightConnector1">
            <a:avLst/>
          </a:prstGeom>
          <a:ln w="38100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6" name="图片 85"/>
          <p:cNvPicPr>
            <a:picLocks noChangeAspect="1"/>
          </p:cNvPicPr>
          <p:nvPr/>
        </p:nvPicPr>
        <p:blipFill rotWithShape="1"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557" t="446" r="27557" b="52305"/>
          <a:stretch>
            <a:fillRect/>
          </a:stretch>
        </p:blipFill>
        <p:spPr>
          <a:xfrm>
            <a:off x="4031836" y="2360448"/>
            <a:ext cx="512896" cy="553388"/>
          </a:xfrm>
          <a:prstGeom prst="ellipse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88" name="文本框 87"/>
              <p:cNvSpPr txBox="1"/>
              <p:nvPr/>
            </p:nvSpPr>
            <p:spPr>
              <a:xfrm>
                <a:off x="3704426" y="2946613"/>
                <a:ext cx="95141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88" name="文本框 8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04426" y="2946613"/>
                <a:ext cx="951414" cy="276999"/>
              </a:xfrm>
              <a:prstGeom prst="rect">
                <a:avLst/>
              </a:prstGeom>
              <a:blipFill rotWithShape="1">
                <a:blip r:embed="rId16"/>
                <a:stretch>
                  <a:fillRect l="-50" t="-77" r="-3869" b="12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5" name="文本框 94"/>
          <p:cNvSpPr txBox="1"/>
          <p:nvPr/>
        </p:nvSpPr>
        <p:spPr>
          <a:xfrm>
            <a:off x="7104112" y="916694"/>
            <a:ext cx="41764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/>
              <a:t>1</a:t>
            </a:r>
            <a:r>
              <a:rPr lang="zh-CN" altLang="en-US" sz="2000" b="1" dirty="0"/>
              <a:t>、随机生成两个点</a:t>
            </a:r>
            <a:endParaRPr lang="en-US" altLang="zh-CN" sz="2000" b="1" dirty="0"/>
          </a:p>
        </p:txBody>
      </p:sp>
      <p:sp>
        <p:nvSpPr>
          <p:cNvPr id="96" name="文本框 95"/>
          <p:cNvSpPr txBox="1"/>
          <p:nvPr/>
        </p:nvSpPr>
        <p:spPr>
          <a:xfrm>
            <a:off x="7135033" y="1362039"/>
            <a:ext cx="50569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/>
              <a:t>2</a:t>
            </a:r>
            <a:r>
              <a:rPr lang="zh-CN" altLang="en-US" sz="2000" b="1" dirty="0"/>
              <a:t>、类别划分</a:t>
            </a:r>
            <a:endParaRPr lang="zh-CN" altLang="en-US" sz="2000" b="1" dirty="0"/>
          </a:p>
        </p:txBody>
      </p:sp>
      <p:sp>
        <p:nvSpPr>
          <p:cNvPr id="97" name="文本框 96"/>
          <p:cNvSpPr txBox="1"/>
          <p:nvPr/>
        </p:nvSpPr>
        <p:spPr>
          <a:xfrm>
            <a:off x="7683296" y="1849801"/>
            <a:ext cx="3628201" cy="1754326"/>
          </a:xfrm>
          <a:prstGeom prst="rect">
            <a:avLst/>
          </a:prstGeom>
          <a:solidFill>
            <a:schemeClr val="tx1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if |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詹姆斯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,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黄点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| &lt; |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詹姆斯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,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蓝点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|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詹姆斯 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-&gt;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黄队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else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詹姆斯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-&gt;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蓝队  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0" name="椭圆 89"/>
          <p:cNvSpPr/>
          <p:nvPr/>
        </p:nvSpPr>
        <p:spPr>
          <a:xfrm>
            <a:off x="4481258" y="1523434"/>
            <a:ext cx="534622" cy="534622"/>
          </a:xfrm>
          <a:prstGeom prst="ellipse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91" name="直接箭头连接符 90"/>
          <p:cNvCxnSpPr>
            <a:stCxn id="98" idx="3"/>
          </p:cNvCxnSpPr>
          <p:nvPr/>
        </p:nvCxnSpPr>
        <p:spPr>
          <a:xfrm flipH="1">
            <a:off x="3244013" y="3407557"/>
            <a:ext cx="665479" cy="1049466"/>
          </a:xfrm>
          <a:prstGeom prst="straightConnector1">
            <a:avLst/>
          </a:prstGeom>
          <a:ln w="38100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直接箭头连接符 91"/>
          <p:cNvCxnSpPr/>
          <p:nvPr/>
        </p:nvCxnSpPr>
        <p:spPr>
          <a:xfrm flipH="1">
            <a:off x="3037964" y="1916971"/>
            <a:ext cx="1015464" cy="2585140"/>
          </a:xfrm>
          <a:prstGeom prst="straightConnector1">
            <a:avLst/>
          </a:prstGeom>
          <a:ln w="38100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" name="椭圆 98"/>
          <p:cNvSpPr/>
          <p:nvPr/>
        </p:nvSpPr>
        <p:spPr>
          <a:xfrm>
            <a:off x="2762586" y="4502111"/>
            <a:ext cx="550756" cy="550756"/>
          </a:xfrm>
          <a:prstGeom prst="ellipse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00" name="直接箭头连接符 99"/>
          <p:cNvCxnSpPr>
            <a:stCxn id="102" idx="7"/>
            <a:endCxn id="98" idx="3"/>
          </p:cNvCxnSpPr>
          <p:nvPr/>
        </p:nvCxnSpPr>
        <p:spPr>
          <a:xfrm flipV="1">
            <a:off x="2281060" y="3407557"/>
            <a:ext cx="1628432" cy="1344027"/>
          </a:xfrm>
          <a:prstGeom prst="straightConnector1">
            <a:avLst/>
          </a:prstGeom>
          <a:ln w="38100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直接箭头连接符 100"/>
          <p:cNvCxnSpPr/>
          <p:nvPr/>
        </p:nvCxnSpPr>
        <p:spPr>
          <a:xfrm flipV="1">
            <a:off x="2214069" y="1962711"/>
            <a:ext cx="1714669" cy="2696109"/>
          </a:xfrm>
          <a:prstGeom prst="straightConnector1">
            <a:avLst/>
          </a:prstGeom>
          <a:ln w="38100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椭圆 101"/>
          <p:cNvSpPr/>
          <p:nvPr/>
        </p:nvSpPr>
        <p:spPr>
          <a:xfrm>
            <a:off x="1754877" y="4656928"/>
            <a:ext cx="616462" cy="646352"/>
          </a:xfrm>
          <a:prstGeom prst="ellipse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03" name="直接箭头连接符 102"/>
          <p:cNvCxnSpPr>
            <a:stCxn id="98" idx="6"/>
            <a:endCxn id="105" idx="3"/>
          </p:cNvCxnSpPr>
          <p:nvPr/>
        </p:nvCxnSpPr>
        <p:spPr>
          <a:xfrm flipV="1">
            <a:off x="4176081" y="2722561"/>
            <a:ext cx="1977784" cy="574572"/>
          </a:xfrm>
          <a:prstGeom prst="straightConnector1">
            <a:avLst/>
          </a:prstGeom>
          <a:ln w="38100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直接箭头连接符 103"/>
          <p:cNvCxnSpPr/>
          <p:nvPr/>
        </p:nvCxnSpPr>
        <p:spPr>
          <a:xfrm>
            <a:off x="4328156" y="1876812"/>
            <a:ext cx="1750535" cy="500728"/>
          </a:xfrm>
          <a:prstGeom prst="straightConnector1">
            <a:avLst/>
          </a:prstGeom>
          <a:ln w="38100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椭圆 104"/>
          <p:cNvSpPr/>
          <p:nvPr/>
        </p:nvSpPr>
        <p:spPr>
          <a:xfrm>
            <a:off x="6078691" y="2276872"/>
            <a:ext cx="513321" cy="522157"/>
          </a:xfrm>
          <a:prstGeom prst="ellipse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08" name="直接箭头连接符 107"/>
          <p:cNvCxnSpPr>
            <a:stCxn id="110" idx="0"/>
            <a:endCxn id="120" idx="0"/>
          </p:cNvCxnSpPr>
          <p:nvPr/>
        </p:nvCxnSpPr>
        <p:spPr>
          <a:xfrm flipH="1" flipV="1">
            <a:off x="4162595" y="1988840"/>
            <a:ext cx="124064" cy="377879"/>
          </a:xfrm>
          <a:prstGeom prst="straightConnector1">
            <a:avLst/>
          </a:prstGeom>
          <a:ln w="38100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直接箭头连接符 108"/>
          <p:cNvCxnSpPr>
            <a:stCxn id="110" idx="4"/>
          </p:cNvCxnSpPr>
          <p:nvPr/>
        </p:nvCxnSpPr>
        <p:spPr>
          <a:xfrm flipH="1">
            <a:off x="4086537" y="2901341"/>
            <a:ext cx="200122" cy="248919"/>
          </a:xfrm>
          <a:prstGeom prst="straightConnector1">
            <a:avLst/>
          </a:prstGeom>
          <a:ln w="38100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" name="椭圆 109"/>
          <p:cNvSpPr/>
          <p:nvPr/>
        </p:nvSpPr>
        <p:spPr>
          <a:xfrm>
            <a:off x="4019348" y="2366719"/>
            <a:ext cx="534622" cy="534622"/>
          </a:xfrm>
          <a:prstGeom prst="ellipse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21" name="直接箭头连接符 120"/>
          <p:cNvCxnSpPr>
            <a:stCxn id="123" idx="7"/>
          </p:cNvCxnSpPr>
          <p:nvPr/>
        </p:nvCxnSpPr>
        <p:spPr>
          <a:xfrm flipV="1">
            <a:off x="2672024" y="1916971"/>
            <a:ext cx="1302454" cy="1159468"/>
          </a:xfrm>
          <a:prstGeom prst="straightConnector1">
            <a:avLst/>
          </a:prstGeom>
          <a:ln w="38100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直接箭头连接符 121"/>
          <p:cNvCxnSpPr>
            <a:stCxn id="30" idx="6"/>
            <a:endCxn id="98" idx="2"/>
          </p:cNvCxnSpPr>
          <p:nvPr/>
        </p:nvCxnSpPr>
        <p:spPr>
          <a:xfrm>
            <a:off x="2758043" y="3283018"/>
            <a:ext cx="1105709" cy="14115"/>
          </a:xfrm>
          <a:prstGeom prst="straightConnector1">
            <a:avLst/>
          </a:prstGeom>
          <a:ln w="38100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3" name="椭圆 122"/>
          <p:cNvSpPr/>
          <p:nvPr/>
        </p:nvSpPr>
        <p:spPr>
          <a:xfrm>
            <a:off x="2184467" y="2988881"/>
            <a:ext cx="571208" cy="597884"/>
          </a:xfrm>
          <a:prstGeom prst="ellipse">
            <a:avLst/>
          </a:prstGeom>
          <a:noFill/>
          <a:ln>
            <a:solidFill>
              <a:schemeClr val="bg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27" name="直接箭头连接符 126"/>
          <p:cNvCxnSpPr>
            <a:endCxn id="98" idx="2"/>
          </p:cNvCxnSpPr>
          <p:nvPr/>
        </p:nvCxnSpPr>
        <p:spPr>
          <a:xfrm flipV="1">
            <a:off x="3366198" y="3297133"/>
            <a:ext cx="497554" cy="175816"/>
          </a:xfrm>
          <a:prstGeom prst="straightConnector1">
            <a:avLst/>
          </a:prstGeom>
          <a:ln w="38100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直接箭头连接符 127"/>
          <p:cNvCxnSpPr/>
          <p:nvPr/>
        </p:nvCxnSpPr>
        <p:spPr>
          <a:xfrm flipV="1">
            <a:off x="3215680" y="1916971"/>
            <a:ext cx="758798" cy="1418284"/>
          </a:xfrm>
          <a:prstGeom prst="straightConnector1">
            <a:avLst/>
          </a:prstGeom>
          <a:ln w="38100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9" name="椭圆 128"/>
          <p:cNvSpPr/>
          <p:nvPr/>
        </p:nvSpPr>
        <p:spPr>
          <a:xfrm>
            <a:off x="2828923" y="3338300"/>
            <a:ext cx="536824" cy="536824"/>
          </a:xfrm>
          <a:prstGeom prst="ellipse">
            <a:avLst/>
          </a:prstGeom>
          <a:noFill/>
          <a:ln>
            <a:solidFill>
              <a:schemeClr val="bg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31" name="直接箭头连接符 130"/>
          <p:cNvCxnSpPr/>
          <p:nvPr/>
        </p:nvCxnSpPr>
        <p:spPr>
          <a:xfrm flipV="1">
            <a:off x="3905184" y="1981791"/>
            <a:ext cx="232344" cy="2292688"/>
          </a:xfrm>
          <a:prstGeom prst="straightConnector1">
            <a:avLst/>
          </a:prstGeom>
          <a:ln w="38100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直接箭头连接符 131"/>
          <p:cNvCxnSpPr>
            <a:stCxn id="133" idx="0"/>
            <a:endCxn id="98" idx="4"/>
          </p:cNvCxnSpPr>
          <p:nvPr/>
        </p:nvCxnSpPr>
        <p:spPr>
          <a:xfrm flipV="1">
            <a:off x="3973381" y="3453297"/>
            <a:ext cx="46536" cy="837519"/>
          </a:xfrm>
          <a:prstGeom prst="straightConnector1">
            <a:avLst/>
          </a:prstGeom>
          <a:ln w="38100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3" name="椭圆 132"/>
          <p:cNvSpPr/>
          <p:nvPr/>
        </p:nvSpPr>
        <p:spPr>
          <a:xfrm>
            <a:off x="3698500" y="4290816"/>
            <a:ext cx="549761" cy="556639"/>
          </a:xfrm>
          <a:prstGeom prst="ellipse">
            <a:avLst/>
          </a:prstGeom>
          <a:noFill/>
          <a:ln>
            <a:solidFill>
              <a:schemeClr val="bg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6" name="文本框 105"/>
              <p:cNvSpPr txBox="1"/>
              <p:nvPr/>
            </p:nvSpPr>
            <p:spPr>
              <a:xfrm>
                <a:off x="4093424" y="3376214"/>
                <a:ext cx="842475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CN" sz="160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6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7</m:t>
                          </m:r>
                          <m:r>
                            <a:rPr lang="en-US" altLang="zh-CN" sz="16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altLang="zh-CN" sz="16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  <m:r>
                            <a:rPr lang="en-US" altLang="zh-CN" sz="16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CN" sz="16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  <m:r>
                            <a:rPr lang="en-US" altLang="zh-CN" sz="16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altLang="zh-CN" sz="16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</m:oMath>
                  </m:oMathPara>
                </a14:m>
                <a:endParaRPr lang="zh-CN" altLang="en-US" sz="1600" dirty="0">
                  <a:solidFill>
                    <a:srgbClr val="00B0F0"/>
                  </a:solidFill>
                </a:endParaRPr>
              </a:p>
            </p:txBody>
          </p:sp>
        </mc:Choice>
        <mc:Fallback>
          <p:sp>
            <p:nvSpPr>
              <p:cNvPr id="106" name="文本框 10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93424" y="3376214"/>
                <a:ext cx="842475" cy="246221"/>
              </a:xfrm>
              <a:prstGeom prst="rect">
                <a:avLst/>
              </a:prstGeom>
              <a:blipFill rotWithShape="1">
                <a:blip r:embed="rId17"/>
                <a:stretch>
                  <a:fillRect l="-25" t="-225" r="-4140" b="16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9" name="椭圆 118"/>
          <p:cNvSpPr/>
          <p:nvPr/>
        </p:nvSpPr>
        <p:spPr>
          <a:xfrm>
            <a:off x="4007688" y="1650382"/>
            <a:ext cx="312329" cy="312329"/>
          </a:xfrm>
          <a:prstGeom prst="ellipse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0" name="文本框 119"/>
              <p:cNvSpPr txBox="1"/>
              <p:nvPr/>
            </p:nvSpPr>
            <p:spPr>
              <a:xfrm>
                <a:off x="3741357" y="1988840"/>
                <a:ext cx="842475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CN" sz="160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6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8</m:t>
                          </m:r>
                          <m:r>
                            <a:rPr lang="en-US" altLang="zh-CN" sz="16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altLang="zh-CN" sz="16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altLang="zh-CN" sz="16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CN" sz="16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9</m:t>
                          </m:r>
                          <m:r>
                            <a:rPr lang="en-US" altLang="zh-CN" sz="16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altLang="zh-CN" sz="16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zh-CN" altLang="en-US" sz="1600" dirty="0">
                  <a:solidFill>
                    <a:srgbClr val="FFFF00"/>
                  </a:solidFill>
                </a:endParaRPr>
              </a:p>
            </p:txBody>
          </p:sp>
        </mc:Choice>
        <mc:Fallback>
          <p:sp>
            <p:nvSpPr>
              <p:cNvPr id="120" name="文本框 1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41357" y="1988840"/>
                <a:ext cx="842475" cy="246221"/>
              </a:xfrm>
              <a:prstGeom prst="rect">
                <a:avLst/>
              </a:prstGeom>
              <a:blipFill rotWithShape="1">
                <a:blip r:embed="rId18"/>
                <a:stretch>
                  <a:fillRect l="-68" t="-8" r="-4098" b="20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4" name="直接箭头连接符 83"/>
          <p:cNvCxnSpPr/>
          <p:nvPr/>
        </p:nvCxnSpPr>
        <p:spPr>
          <a:xfrm flipH="1">
            <a:off x="4124031" y="1929516"/>
            <a:ext cx="618229" cy="1262872"/>
          </a:xfrm>
          <a:prstGeom prst="straightConnector1">
            <a:avLst/>
          </a:prstGeom>
          <a:ln w="38100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 tmFilter="0, 0; .2, .5; .8, .5; 1, 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5" dur="250" autoRev="1" fill="hold"/>
                                        <p:tgtEl>
                                          <p:spTgt spid="9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6" dur="500" tmFilter="0, 0; .2, .5; .8, .5; 1, 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7" dur="250" autoRev="1" fill="hold"/>
                                        <p:tgtEl>
                                          <p:spTgt spid="10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4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8" dur="500" tmFilter="0, 0; .2, .5; .8, .5; 1, 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9" dur="250" autoRev="1" fill="hold"/>
                                        <p:tgtEl>
                                          <p:spTgt spid="10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6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9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5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8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2" dur="500" tmFilter="0, 0; .2, .5; .8, .5; 1, 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93" dur="250" autoRev="1" fill="hold"/>
                                        <p:tgtEl>
                                          <p:spTgt spid="10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7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0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4" dur="500" tmFilter="0, 0; .2, .5; .8, .5; 1, 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5" dur="250" autoRev="1" fill="hold"/>
                                        <p:tgtEl>
                                          <p:spTgt spid="12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9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2"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6" dur="500" tmFilter="0, 0; .2, .5; .8, .5; 1, 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7" dur="250" autoRev="1" fill="hold"/>
                                        <p:tgtEl>
                                          <p:spTgt spid="12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1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4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>
                      <p:stCondLst>
                        <p:cond delay="indefinite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7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8" dur="500" tmFilter="0, 0; .2, .5; .8, .5; 1, 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59" dur="250" autoRev="1" fill="hold"/>
                                        <p:tgtEl>
                                          <p:spTgt spid="13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0" fill="hold">
                      <p:stCondLst>
                        <p:cond delay="indefinite"/>
                      </p:stCondLst>
                      <p:childTnLst>
                        <p:par>
                          <p:cTn id="161" fill="hold">
                            <p:stCondLst>
                              <p:cond delay="0"/>
                            </p:stCondLst>
                            <p:childTnLst>
                              <p:par>
                                <p:cTn id="16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0" grpId="0" animBg="1"/>
      <p:bldP spid="99" grpId="0" animBg="1"/>
      <p:bldP spid="102" grpId="0" animBg="1"/>
      <p:bldP spid="105" grpId="0" animBg="1"/>
      <p:bldP spid="110" grpId="0" animBg="1"/>
      <p:bldP spid="123" grpId="0" animBg="1"/>
      <p:bldP spid="129" grpId="0" animBg="1"/>
      <p:bldP spid="133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组合 105"/>
          <p:cNvGrpSpPr/>
          <p:nvPr/>
        </p:nvGrpSpPr>
        <p:grpSpPr>
          <a:xfrm>
            <a:off x="7116910" y="2492896"/>
            <a:ext cx="5027762" cy="3785618"/>
            <a:chOff x="7046218" y="2317811"/>
            <a:chExt cx="5027762" cy="3785618"/>
          </a:xfrm>
        </p:grpSpPr>
        <p:sp>
          <p:nvSpPr>
            <p:cNvPr id="107" name="矩形 106"/>
            <p:cNvSpPr/>
            <p:nvPr/>
          </p:nvSpPr>
          <p:spPr>
            <a:xfrm>
              <a:off x="7081804" y="2317811"/>
              <a:ext cx="4975466" cy="3785618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</p:spPr>
          <p:txBody>
            <a:bodyPr wrap="square" rtlCol="0">
              <a:noAutofit/>
            </a:bodyPr>
            <a:lstStyle/>
            <a:p>
              <a:pPr>
                <a:lnSpc>
                  <a:spcPct val="150000"/>
                </a:lnSpc>
              </a:pPr>
              <a:endParaRPr lang="zh-CN" altLang="en-US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1" name="文本框 110"/>
            <p:cNvSpPr txBox="1"/>
            <p:nvPr/>
          </p:nvSpPr>
          <p:spPr>
            <a:xfrm>
              <a:off x="7046218" y="3250637"/>
              <a:ext cx="109819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篮板：</a:t>
              </a:r>
              <a:endPara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112" name="组合 111"/>
            <p:cNvGrpSpPr/>
            <p:nvPr/>
          </p:nvGrpSpPr>
          <p:grpSpPr>
            <a:xfrm>
              <a:off x="7870314" y="3095593"/>
              <a:ext cx="3293249" cy="818391"/>
              <a:chOff x="9400269" y="1980263"/>
              <a:chExt cx="3293249" cy="818391"/>
            </a:xfrm>
          </p:grpSpPr>
          <p:cxnSp>
            <p:nvCxnSpPr>
              <p:cNvPr id="134" name="直接连接符 133"/>
              <p:cNvCxnSpPr/>
              <p:nvPr/>
            </p:nvCxnSpPr>
            <p:spPr>
              <a:xfrm>
                <a:off x="9400269" y="2380356"/>
                <a:ext cx="3225863" cy="1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5" name="文本框 134"/>
              <p:cNvSpPr txBox="1"/>
              <p:nvPr/>
            </p:nvSpPr>
            <p:spPr>
              <a:xfrm>
                <a:off x="10839987" y="2398544"/>
                <a:ext cx="417425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000" dirty="0"/>
                  <a:t>6</a:t>
                </a:r>
                <a:endParaRPr lang="zh-CN" altLang="en-US" sz="2000" dirty="0"/>
              </a:p>
            </p:txBody>
          </p:sp>
          <p:sp>
            <p:nvSpPr>
              <p:cNvPr id="136" name="文本框 135"/>
              <p:cNvSpPr txBox="1"/>
              <p:nvPr/>
            </p:nvSpPr>
            <p:spPr>
              <a:xfrm>
                <a:off x="9403882" y="1980263"/>
                <a:ext cx="3289636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000" dirty="0"/>
                  <a:t>4.2+5.8+7.4+5.9+5.0+8.1</a:t>
                </a:r>
                <a:endParaRPr lang="zh-CN" altLang="en-US" sz="2000" dirty="0"/>
              </a:p>
            </p:txBody>
          </p:sp>
        </p:grpSp>
        <p:sp>
          <p:nvSpPr>
            <p:cNvPr id="113" name="文本框 112"/>
            <p:cNvSpPr txBox="1"/>
            <p:nvPr/>
          </p:nvSpPr>
          <p:spPr>
            <a:xfrm>
              <a:off x="11103370" y="4266336"/>
              <a:ext cx="41324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dirty="0"/>
                <a:t>=</a:t>
              </a:r>
              <a:endParaRPr lang="zh-CN" altLang="en-US" sz="2000" dirty="0"/>
            </a:p>
          </p:txBody>
        </p:sp>
        <p:sp>
          <p:nvSpPr>
            <p:cNvPr id="114" name="文本框 113"/>
            <p:cNvSpPr txBox="1"/>
            <p:nvPr/>
          </p:nvSpPr>
          <p:spPr>
            <a:xfrm>
              <a:off x="7100613" y="4169315"/>
              <a:ext cx="109819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助攻：</a:t>
              </a:r>
              <a:endPara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5" name="文本框 114"/>
            <p:cNvSpPr txBox="1"/>
            <p:nvPr/>
          </p:nvSpPr>
          <p:spPr>
            <a:xfrm>
              <a:off x="11090977" y="3287103"/>
              <a:ext cx="31957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dirty="0"/>
                <a:t>=</a:t>
              </a:r>
              <a:endParaRPr lang="zh-CN" altLang="en-US" sz="2000" dirty="0"/>
            </a:p>
          </p:txBody>
        </p:sp>
        <p:sp>
          <p:nvSpPr>
            <p:cNvPr id="116" name="矩形 115"/>
            <p:cNvSpPr/>
            <p:nvPr/>
          </p:nvSpPr>
          <p:spPr>
            <a:xfrm>
              <a:off x="11374070" y="3307324"/>
              <a:ext cx="611065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/>
              <a:r>
                <a:rPr lang="en-US" altLang="zh-CN" sz="2000" dirty="0">
                  <a:solidFill>
                    <a:prstClr val="white"/>
                  </a:solidFill>
                </a:rPr>
                <a:t>6. 1</a:t>
              </a:r>
              <a:endParaRPr lang="zh-CN" altLang="en-US" sz="2000" dirty="0">
                <a:solidFill>
                  <a:prstClr val="white"/>
                </a:solidFill>
              </a:endParaRPr>
            </a:p>
          </p:txBody>
        </p:sp>
        <p:sp>
          <p:nvSpPr>
            <p:cNvPr id="117" name="矩形 116"/>
            <p:cNvSpPr/>
            <p:nvPr/>
          </p:nvSpPr>
          <p:spPr>
            <a:xfrm>
              <a:off x="11390780" y="4266336"/>
              <a:ext cx="683200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/>
              <a:r>
                <a:rPr lang="en-US" altLang="zh-CN" sz="2000" dirty="0">
                  <a:solidFill>
                    <a:prstClr val="white"/>
                  </a:solidFill>
                </a:rPr>
                <a:t>5.25</a:t>
              </a:r>
              <a:endParaRPr lang="zh-CN" altLang="en-US" sz="2000" dirty="0">
                <a:solidFill>
                  <a:prstClr val="white"/>
                </a:solidFill>
              </a:endParaRPr>
            </a:p>
          </p:txBody>
        </p:sp>
        <p:grpSp>
          <p:nvGrpSpPr>
            <p:cNvPr id="119" name="组合 118"/>
            <p:cNvGrpSpPr/>
            <p:nvPr/>
          </p:nvGrpSpPr>
          <p:grpSpPr>
            <a:xfrm>
              <a:off x="8078556" y="4079496"/>
              <a:ext cx="3168427" cy="828484"/>
              <a:chOff x="9916289" y="3894375"/>
              <a:chExt cx="3168427" cy="828484"/>
            </a:xfrm>
          </p:grpSpPr>
          <p:cxnSp>
            <p:nvCxnSpPr>
              <p:cNvPr id="125" name="直接连接符 124"/>
              <p:cNvCxnSpPr/>
              <p:nvPr/>
            </p:nvCxnSpPr>
            <p:spPr>
              <a:xfrm>
                <a:off x="9975145" y="4278816"/>
                <a:ext cx="2900464" cy="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6" name="文本框 125"/>
              <p:cNvSpPr txBox="1"/>
              <p:nvPr/>
            </p:nvSpPr>
            <p:spPr>
              <a:xfrm>
                <a:off x="11216664" y="4322749"/>
                <a:ext cx="417425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000" dirty="0"/>
                  <a:t>6</a:t>
                </a:r>
                <a:endParaRPr lang="zh-CN" altLang="en-US" sz="2000" dirty="0"/>
              </a:p>
            </p:txBody>
          </p:sp>
          <p:sp>
            <p:nvSpPr>
              <p:cNvPr id="130" name="文本框 129"/>
              <p:cNvSpPr txBox="1"/>
              <p:nvPr/>
            </p:nvSpPr>
            <p:spPr>
              <a:xfrm>
                <a:off x="9916289" y="3894375"/>
                <a:ext cx="3168427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000" dirty="0"/>
                  <a:t>3.6+4.0+4.3+5.8+6.5+7.3</a:t>
                </a:r>
                <a:endParaRPr lang="zh-CN" altLang="en-US" sz="2000" dirty="0"/>
              </a:p>
            </p:txBody>
          </p:sp>
        </p:grpSp>
        <p:sp>
          <p:nvSpPr>
            <p:cNvPr id="120" name="矩形 119"/>
            <p:cNvSpPr/>
            <p:nvPr/>
          </p:nvSpPr>
          <p:spPr>
            <a:xfrm>
              <a:off x="8722855" y="2554097"/>
              <a:ext cx="1739398" cy="339052"/>
            </a:xfrm>
            <a:prstGeom prst="rect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蓝队真实能力</a:t>
              </a:r>
              <a:endPara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4" name="组合 3"/>
          <p:cNvGrpSpPr/>
          <p:nvPr/>
        </p:nvGrpSpPr>
        <p:grpSpPr>
          <a:xfrm>
            <a:off x="627149" y="6093296"/>
            <a:ext cx="7170831" cy="612492"/>
            <a:chOff x="2906758" y="6323422"/>
            <a:chExt cx="7170831" cy="612492"/>
          </a:xfrm>
        </p:grpSpPr>
        <p:cxnSp>
          <p:nvCxnSpPr>
            <p:cNvPr id="5" name="直接箭头连接符 4"/>
            <p:cNvCxnSpPr/>
            <p:nvPr/>
          </p:nvCxnSpPr>
          <p:spPr>
            <a:xfrm>
              <a:off x="2906758" y="6494231"/>
              <a:ext cx="6476963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直接连接符 5"/>
            <p:cNvCxnSpPr/>
            <p:nvPr/>
          </p:nvCxnSpPr>
          <p:spPr>
            <a:xfrm>
              <a:off x="3647728" y="6323423"/>
              <a:ext cx="0" cy="170808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直接连接符 6"/>
            <p:cNvCxnSpPr/>
            <p:nvPr/>
          </p:nvCxnSpPr>
          <p:spPr>
            <a:xfrm>
              <a:off x="4223792" y="6323423"/>
              <a:ext cx="0" cy="170808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直接连接符 7"/>
            <p:cNvCxnSpPr/>
            <p:nvPr/>
          </p:nvCxnSpPr>
          <p:spPr>
            <a:xfrm>
              <a:off x="4799856" y="6323423"/>
              <a:ext cx="0" cy="170808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直接连接符 8"/>
            <p:cNvCxnSpPr/>
            <p:nvPr/>
          </p:nvCxnSpPr>
          <p:spPr>
            <a:xfrm>
              <a:off x="5375920" y="6323422"/>
              <a:ext cx="0" cy="170808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直接连接符 9"/>
            <p:cNvCxnSpPr/>
            <p:nvPr/>
          </p:nvCxnSpPr>
          <p:spPr>
            <a:xfrm>
              <a:off x="5951984" y="6323422"/>
              <a:ext cx="0" cy="170808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直接连接符 10"/>
            <p:cNvCxnSpPr/>
            <p:nvPr/>
          </p:nvCxnSpPr>
          <p:spPr>
            <a:xfrm>
              <a:off x="6528048" y="6323422"/>
              <a:ext cx="0" cy="170808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接连接符 11"/>
            <p:cNvCxnSpPr/>
            <p:nvPr/>
          </p:nvCxnSpPr>
          <p:spPr>
            <a:xfrm>
              <a:off x="7151473" y="6323422"/>
              <a:ext cx="0" cy="170808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接连接符 12"/>
            <p:cNvCxnSpPr/>
            <p:nvPr/>
          </p:nvCxnSpPr>
          <p:spPr>
            <a:xfrm>
              <a:off x="7655529" y="6323422"/>
              <a:ext cx="0" cy="170808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/>
            <p:nvPr/>
          </p:nvCxnSpPr>
          <p:spPr>
            <a:xfrm>
              <a:off x="8159585" y="6323422"/>
              <a:ext cx="0" cy="170808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连接符 14"/>
            <p:cNvCxnSpPr/>
            <p:nvPr/>
          </p:nvCxnSpPr>
          <p:spPr>
            <a:xfrm>
              <a:off x="8688288" y="6323422"/>
              <a:ext cx="0" cy="170808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文本框 15"/>
            <p:cNvSpPr txBox="1"/>
            <p:nvPr/>
          </p:nvSpPr>
          <p:spPr>
            <a:xfrm>
              <a:off x="9044797" y="6566582"/>
              <a:ext cx="103279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b="1" dirty="0"/>
                <a:t>篮板</a:t>
              </a:r>
              <a:endParaRPr lang="zh-CN" altLang="en-US" b="1" dirty="0"/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3494872" y="6478899"/>
              <a:ext cx="32501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/>
                <a:t>3</a:t>
              </a:r>
              <a:endParaRPr lang="zh-CN" altLang="en-US" b="1" dirty="0"/>
            </a:p>
          </p:txBody>
        </p:sp>
        <p:sp>
          <p:nvSpPr>
            <p:cNvPr id="18" name="文本框 17"/>
            <p:cNvSpPr txBox="1"/>
            <p:nvPr/>
          </p:nvSpPr>
          <p:spPr>
            <a:xfrm>
              <a:off x="4055127" y="6470969"/>
              <a:ext cx="32501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/>
                <a:t>4</a:t>
              </a:r>
              <a:endParaRPr lang="zh-CN" altLang="en-US" b="1" dirty="0"/>
            </a:p>
          </p:txBody>
        </p:sp>
        <p:sp>
          <p:nvSpPr>
            <p:cNvPr id="19" name="文本框 18"/>
            <p:cNvSpPr txBox="1"/>
            <p:nvPr/>
          </p:nvSpPr>
          <p:spPr>
            <a:xfrm>
              <a:off x="4637956" y="6475151"/>
              <a:ext cx="32501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/>
                <a:t>5</a:t>
              </a:r>
              <a:endParaRPr lang="zh-CN" altLang="en-US" b="1" dirty="0"/>
            </a:p>
          </p:txBody>
        </p:sp>
        <p:sp>
          <p:nvSpPr>
            <p:cNvPr id="20" name="文本框 19"/>
            <p:cNvSpPr txBox="1"/>
            <p:nvPr/>
          </p:nvSpPr>
          <p:spPr>
            <a:xfrm>
              <a:off x="5214019" y="6455987"/>
              <a:ext cx="32501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/>
                <a:t>6</a:t>
              </a:r>
              <a:endParaRPr lang="zh-CN" altLang="en-US" b="1" dirty="0"/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5805891" y="6490296"/>
              <a:ext cx="32501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/>
                <a:t>7</a:t>
              </a:r>
              <a:endParaRPr lang="zh-CN" altLang="en-US" b="1" dirty="0"/>
            </a:p>
          </p:txBody>
        </p:sp>
        <p:sp>
          <p:nvSpPr>
            <p:cNvPr id="22" name="文本框 21"/>
            <p:cNvSpPr txBox="1"/>
            <p:nvPr/>
          </p:nvSpPr>
          <p:spPr>
            <a:xfrm>
              <a:off x="6366146" y="6482366"/>
              <a:ext cx="32501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/>
                <a:t>8</a:t>
              </a:r>
              <a:endParaRPr lang="zh-CN" altLang="en-US" b="1" dirty="0"/>
            </a:p>
          </p:txBody>
        </p:sp>
        <p:sp>
          <p:nvSpPr>
            <p:cNvPr id="23" name="文本框 22"/>
            <p:cNvSpPr txBox="1"/>
            <p:nvPr/>
          </p:nvSpPr>
          <p:spPr>
            <a:xfrm>
              <a:off x="6935416" y="6470969"/>
              <a:ext cx="32501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/>
                <a:t>9</a:t>
              </a:r>
              <a:endParaRPr lang="zh-CN" altLang="en-US" b="1" dirty="0"/>
            </a:p>
          </p:txBody>
        </p:sp>
        <p:sp>
          <p:nvSpPr>
            <p:cNvPr id="24" name="文本框 23"/>
            <p:cNvSpPr txBox="1"/>
            <p:nvPr/>
          </p:nvSpPr>
          <p:spPr>
            <a:xfrm>
              <a:off x="7453348" y="6463754"/>
              <a:ext cx="45365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/>
                <a:t>10</a:t>
              </a:r>
              <a:endParaRPr lang="zh-CN" altLang="en-US" b="1" dirty="0"/>
            </a:p>
          </p:txBody>
        </p:sp>
        <p:sp>
          <p:nvSpPr>
            <p:cNvPr id="25" name="文本框 24"/>
            <p:cNvSpPr txBox="1"/>
            <p:nvPr/>
          </p:nvSpPr>
          <p:spPr>
            <a:xfrm>
              <a:off x="7957762" y="6465598"/>
              <a:ext cx="59584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/>
                <a:t>11</a:t>
              </a:r>
              <a:endParaRPr lang="zh-CN" altLang="en-US" b="1" dirty="0"/>
            </a:p>
          </p:txBody>
        </p:sp>
        <p:sp>
          <p:nvSpPr>
            <p:cNvPr id="26" name="文本框 25"/>
            <p:cNvSpPr txBox="1"/>
            <p:nvPr/>
          </p:nvSpPr>
          <p:spPr>
            <a:xfrm>
              <a:off x="8475527" y="6477979"/>
              <a:ext cx="50741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/>
                <a:t>12</a:t>
              </a:r>
              <a:endParaRPr lang="zh-CN" altLang="en-US" b="1" dirty="0"/>
            </a:p>
          </p:txBody>
        </p:sp>
      </p:grpSp>
      <p:grpSp>
        <p:nvGrpSpPr>
          <p:cNvPr id="34" name="组合 33"/>
          <p:cNvGrpSpPr/>
          <p:nvPr/>
        </p:nvGrpSpPr>
        <p:grpSpPr>
          <a:xfrm>
            <a:off x="194601" y="154638"/>
            <a:ext cx="1131184" cy="6464978"/>
            <a:chOff x="194601" y="154638"/>
            <a:chExt cx="1131184" cy="6464978"/>
          </a:xfrm>
        </p:grpSpPr>
        <p:grpSp>
          <p:nvGrpSpPr>
            <p:cNvPr id="35" name="组合 34"/>
            <p:cNvGrpSpPr/>
            <p:nvPr/>
          </p:nvGrpSpPr>
          <p:grpSpPr>
            <a:xfrm>
              <a:off x="1039064" y="428431"/>
              <a:ext cx="171961" cy="6155366"/>
              <a:chOff x="3287688" y="-597610"/>
              <a:chExt cx="171961" cy="6155366"/>
            </a:xfrm>
          </p:grpSpPr>
          <p:cxnSp>
            <p:nvCxnSpPr>
              <p:cNvPr id="50" name="直接箭头连接符 49"/>
              <p:cNvCxnSpPr/>
              <p:nvPr/>
            </p:nvCxnSpPr>
            <p:spPr>
              <a:xfrm flipV="1">
                <a:off x="3287688" y="-597610"/>
                <a:ext cx="0" cy="6155366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直接连接符 50"/>
              <p:cNvCxnSpPr/>
              <p:nvPr/>
            </p:nvCxnSpPr>
            <p:spPr>
              <a:xfrm>
                <a:off x="3287688" y="3789040"/>
                <a:ext cx="144016" cy="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直接连接符 51"/>
              <p:cNvCxnSpPr/>
              <p:nvPr/>
            </p:nvCxnSpPr>
            <p:spPr>
              <a:xfrm>
                <a:off x="3301841" y="4941168"/>
                <a:ext cx="144016" cy="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直接连接符 52"/>
              <p:cNvCxnSpPr/>
              <p:nvPr/>
            </p:nvCxnSpPr>
            <p:spPr>
              <a:xfrm>
                <a:off x="3301480" y="4365104"/>
                <a:ext cx="144016" cy="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直接连接符 53"/>
              <p:cNvCxnSpPr/>
              <p:nvPr/>
            </p:nvCxnSpPr>
            <p:spPr>
              <a:xfrm>
                <a:off x="3301480" y="764704"/>
                <a:ext cx="144016" cy="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直接连接符 54"/>
              <p:cNvCxnSpPr/>
              <p:nvPr/>
            </p:nvCxnSpPr>
            <p:spPr>
              <a:xfrm>
                <a:off x="3301480" y="3140968"/>
                <a:ext cx="144016" cy="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直接连接符 55"/>
              <p:cNvCxnSpPr/>
              <p:nvPr/>
            </p:nvCxnSpPr>
            <p:spPr>
              <a:xfrm>
                <a:off x="3301480" y="2564904"/>
                <a:ext cx="144016" cy="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直接连接符 56"/>
              <p:cNvCxnSpPr/>
              <p:nvPr/>
            </p:nvCxnSpPr>
            <p:spPr>
              <a:xfrm>
                <a:off x="3315633" y="1916832"/>
                <a:ext cx="144016" cy="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直接连接符 57"/>
              <p:cNvCxnSpPr/>
              <p:nvPr/>
            </p:nvCxnSpPr>
            <p:spPr>
              <a:xfrm>
                <a:off x="3315272" y="1340768"/>
                <a:ext cx="144016" cy="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6" name="文本框 35"/>
            <p:cNvSpPr txBox="1"/>
            <p:nvPr/>
          </p:nvSpPr>
          <p:spPr>
            <a:xfrm>
              <a:off x="627149" y="6250284"/>
              <a:ext cx="44314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i="1" dirty="0"/>
                <a:t>O</a:t>
              </a:r>
              <a:endParaRPr lang="zh-CN" altLang="en-US" b="1" i="1" dirty="0"/>
            </a:p>
          </p:txBody>
        </p:sp>
        <p:sp>
          <p:nvSpPr>
            <p:cNvPr id="37" name="文本框 36"/>
            <p:cNvSpPr txBox="1"/>
            <p:nvPr/>
          </p:nvSpPr>
          <p:spPr>
            <a:xfrm>
              <a:off x="194601" y="154638"/>
              <a:ext cx="6457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b="1" dirty="0"/>
                <a:t>助攻</a:t>
              </a:r>
              <a:endParaRPr lang="zh-CN" altLang="en-US" b="1" dirty="0"/>
            </a:p>
          </p:txBody>
        </p:sp>
        <p:sp>
          <p:nvSpPr>
            <p:cNvPr id="38" name="文本框 37"/>
            <p:cNvSpPr txBox="1"/>
            <p:nvPr/>
          </p:nvSpPr>
          <p:spPr>
            <a:xfrm>
              <a:off x="652062" y="5229200"/>
              <a:ext cx="32501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/>
                <a:t>3</a:t>
              </a:r>
              <a:endParaRPr lang="zh-CN" altLang="en-US" b="1" dirty="0"/>
            </a:p>
          </p:txBody>
        </p:sp>
        <p:sp>
          <p:nvSpPr>
            <p:cNvPr id="39" name="文本框 38"/>
            <p:cNvSpPr txBox="1"/>
            <p:nvPr/>
          </p:nvSpPr>
          <p:spPr>
            <a:xfrm>
              <a:off x="652061" y="4653136"/>
              <a:ext cx="32501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/>
                <a:t>4</a:t>
              </a:r>
              <a:endParaRPr lang="zh-CN" altLang="en-US" b="1" dirty="0"/>
            </a:p>
          </p:txBody>
        </p:sp>
        <p:sp>
          <p:nvSpPr>
            <p:cNvPr id="40" name="文本框 39"/>
            <p:cNvSpPr txBox="1"/>
            <p:nvPr/>
          </p:nvSpPr>
          <p:spPr>
            <a:xfrm>
              <a:off x="649015" y="4005064"/>
              <a:ext cx="32501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/>
                <a:t>5</a:t>
              </a:r>
              <a:endParaRPr lang="zh-CN" altLang="en-US" b="1" dirty="0"/>
            </a:p>
          </p:txBody>
        </p:sp>
        <p:sp>
          <p:nvSpPr>
            <p:cNvPr id="41" name="文本框 40"/>
            <p:cNvSpPr txBox="1"/>
            <p:nvPr/>
          </p:nvSpPr>
          <p:spPr>
            <a:xfrm>
              <a:off x="653553" y="3429000"/>
              <a:ext cx="32501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/>
                <a:t>6</a:t>
              </a:r>
              <a:endParaRPr lang="zh-CN" altLang="en-US" b="1" dirty="0"/>
            </a:p>
          </p:txBody>
        </p:sp>
        <p:sp>
          <p:nvSpPr>
            <p:cNvPr id="42" name="文本框 41"/>
            <p:cNvSpPr txBox="1"/>
            <p:nvPr/>
          </p:nvSpPr>
          <p:spPr>
            <a:xfrm>
              <a:off x="653553" y="2780928"/>
              <a:ext cx="32501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/>
                <a:t>7</a:t>
              </a:r>
              <a:endParaRPr lang="zh-CN" altLang="en-US" b="1" dirty="0"/>
            </a:p>
          </p:txBody>
        </p:sp>
        <p:sp>
          <p:nvSpPr>
            <p:cNvPr id="43" name="文本框 42"/>
            <p:cNvSpPr txBox="1"/>
            <p:nvPr/>
          </p:nvSpPr>
          <p:spPr>
            <a:xfrm>
              <a:off x="670472" y="2232046"/>
              <a:ext cx="32501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/>
                <a:t>8</a:t>
              </a:r>
              <a:endParaRPr lang="zh-CN" altLang="en-US" b="1" dirty="0"/>
            </a:p>
          </p:txBody>
        </p:sp>
        <p:sp>
          <p:nvSpPr>
            <p:cNvPr id="44" name="文本框 43"/>
            <p:cNvSpPr txBox="1"/>
            <p:nvPr/>
          </p:nvSpPr>
          <p:spPr>
            <a:xfrm>
              <a:off x="695400" y="1628800"/>
              <a:ext cx="32501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/>
                <a:t>9</a:t>
              </a:r>
              <a:endParaRPr lang="zh-CN" altLang="en-US" b="1" dirty="0"/>
            </a:p>
          </p:txBody>
        </p:sp>
        <p:sp>
          <p:nvSpPr>
            <p:cNvPr id="45" name="文本框 44"/>
            <p:cNvSpPr txBox="1"/>
            <p:nvPr/>
          </p:nvSpPr>
          <p:spPr>
            <a:xfrm>
              <a:off x="632062" y="1077033"/>
              <a:ext cx="66656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/>
                <a:t>10</a:t>
              </a:r>
              <a:endParaRPr lang="zh-CN" altLang="en-US" b="1" dirty="0"/>
            </a:p>
          </p:txBody>
        </p:sp>
        <p:cxnSp>
          <p:nvCxnSpPr>
            <p:cNvPr id="46" name="直接连接符 45"/>
            <p:cNvCxnSpPr/>
            <p:nvPr/>
          </p:nvCxnSpPr>
          <p:spPr>
            <a:xfrm>
              <a:off x="1053217" y="1210947"/>
              <a:ext cx="144016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直接连接符 46"/>
            <p:cNvCxnSpPr/>
            <p:nvPr/>
          </p:nvCxnSpPr>
          <p:spPr>
            <a:xfrm>
              <a:off x="1052856" y="634883"/>
              <a:ext cx="144016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8" name="文本框 47"/>
            <p:cNvSpPr txBox="1"/>
            <p:nvPr/>
          </p:nvSpPr>
          <p:spPr>
            <a:xfrm>
              <a:off x="659220" y="508731"/>
              <a:ext cx="666565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altLang="zh-CN" b="1" dirty="0"/>
                <a:t>11</a:t>
              </a:r>
              <a:endParaRPr lang="zh-CN" altLang="en-US" b="1" dirty="0"/>
            </a:p>
          </p:txBody>
        </p:sp>
        <p:sp>
          <p:nvSpPr>
            <p:cNvPr id="49" name="文本框 48"/>
            <p:cNvSpPr txBox="1"/>
            <p:nvPr/>
          </p:nvSpPr>
          <p:spPr>
            <a:xfrm>
              <a:off x="645819" y="5802804"/>
              <a:ext cx="32501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/>
                <a:t>2</a:t>
              </a:r>
              <a:endParaRPr lang="zh-CN" altLang="en-US" b="1" dirty="0"/>
            </a:p>
          </p:txBody>
        </p:sp>
      </p:grpSp>
      <p:sp>
        <p:nvSpPr>
          <p:cNvPr id="95" name="文本框 94"/>
          <p:cNvSpPr txBox="1"/>
          <p:nvPr/>
        </p:nvSpPr>
        <p:spPr>
          <a:xfrm>
            <a:off x="7104112" y="916694"/>
            <a:ext cx="41764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/>
              <a:t>1</a:t>
            </a:r>
            <a:r>
              <a:rPr lang="zh-CN" altLang="en-US" sz="2000" b="1" dirty="0"/>
              <a:t>、随机生成两个点</a:t>
            </a:r>
            <a:endParaRPr lang="en-US" altLang="zh-CN" sz="2000" b="1" dirty="0"/>
          </a:p>
        </p:txBody>
      </p:sp>
      <p:sp>
        <p:nvSpPr>
          <p:cNvPr id="96" name="文本框 95"/>
          <p:cNvSpPr txBox="1"/>
          <p:nvPr/>
        </p:nvSpPr>
        <p:spPr>
          <a:xfrm>
            <a:off x="7135033" y="1362039"/>
            <a:ext cx="50569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/>
              <a:t>2</a:t>
            </a:r>
            <a:r>
              <a:rPr lang="zh-CN" altLang="en-US" sz="2000" b="1" dirty="0"/>
              <a:t>、类别划分</a:t>
            </a:r>
            <a:endParaRPr lang="zh-CN" altLang="en-US" sz="2000" b="1" dirty="0"/>
          </a:p>
        </p:txBody>
      </p:sp>
      <p:sp>
        <p:nvSpPr>
          <p:cNvPr id="97" name="文本框 96"/>
          <p:cNvSpPr txBox="1"/>
          <p:nvPr/>
        </p:nvSpPr>
        <p:spPr>
          <a:xfrm>
            <a:off x="7683296" y="1849801"/>
            <a:ext cx="3628201" cy="1754326"/>
          </a:xfrm>
          <a:prstGeom prst="rect">
            <a:avLst/>
          </a:prstGeom>
          <a:solidFill>
            <a:schemeClr val="tx1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if |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詹姆斯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,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黄点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| &lt; |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詹姆斯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,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蓝点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|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詹姆斯 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-&gt;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黄队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else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詹姆斯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-&gt;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蓝队  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7" name="文本框 136"/>
          <p:cNvSpPr txBox="1"/>
          <p:nvPr/>
        </p:nvSpPr>
        <p:spPr>
          <a:xfrm>
            <a:off x="7135033" y="1833370"/>
            <a:ext cx="562715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/>
              <a:t>3</a:t>
            </a:r>
            <a:r>
              <a:rPr lang="zh-CN" altLang="en-US" sz="2000" b="1" dirty="0"/>
              <a:t>、分析计算 </a:t>
            </a:r>
            <a:endParaRPr lang="en-US" altLang="zh-CN" sz="2000" b="1" dirty="0"/>
          </a:p>
          <a:p>
            <a:r>
              <a:rPr lang="en-US" altLang="zh-CN" sz="2000" b="1" dirty="0"/>
              <a:t>      — </a:t>
            </a:r>
            <a:r>
              <a:rPr lang="zh-CN" altLang="en-US" sz="2000" b="1" dirty="0"/>
              <a:t>计算每类球员的真实平均能力</a:t>
            </a:r>
            <a:endParaRPr lang="zh-CN" altLang="en-US" sz="2000" b="1" dirty="0"/>
          </a:p>
        </p:txBody>
      </p:sp>
      <p:sp>
        <p:nvSpPr>
          <p:cNvPr id="138" name="文本框 137"/>
          <p:cNvSpPr txBox="1"/>
          <p:nvPr/>
        </p:nvSpPr>
        <p:spPr>
          <a:xfrm>
            <a:off x="8859339" y="5800887"/>
            <a:ext cx="21840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/>
              <a:t>（</a:t>
            </a:r>
            <a:r>
              <a:rPr lang="en-US" altLang="zh-CN" sz="2000" dirty="0"/>
              <a:t>10.35, 8.25</a:t>
            </a:r>
            <a:r>
              <a:rPr lang="zh-CN" altLang="en-US" sz="2000" dirty="0"/>
              <a:t>）</a:t>
            </a:r>
            <a:endParaRPr lang="zh-CN" altLang="en-US" sz="2000" dirty="0"/>
          </a:p>
        </p:txBody>
      </p:sp>
      <p:sp>
        <p:nvSpPr>
          <p:cNvPr id="139" name="矩形 138"/>
          <p:cNvSpPr/>
          <p:nvPr/>
        </p:nvSpPr>
        <p:spPr>
          <a:xfrm>
            <a:off x="8793547" y="5296869"/>
            <a:ext cx="1809913" cy="326172"/>
          </a:xfrm>
          <a:prstGeom prst="rect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黄队真实能力</a:t>
            </a:r>
            <a:endParaRPr lang="zh-CN" altLang="en-US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2" name="椭圆 121"/>
          <p:cNvSpPr/>
          <p:nvPr/>
        </p:nvSpPr>
        <p:spPr>
          <a:xfrm>
            <a:off x="3863752" y="3140968"/>
            <a:ext cx="312329" cy="312329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24" name="图片 123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389" r="21923" b="36428"/>
          <a:stretch>
            <a:fillRect/>
          </a:stretch>
        </p:blipFill>
        <p:spPr>
          <a:xfrm>
            <a:off x="1795275" y="4655088"/>
            <a:ext cx="576064" cy="646030"/>
          </a:xfrm>
          <a:prstGeom prst="ellipse">
            <a:avLst/>
          </a:prstGeom>
        </p:spPr>
      </p:pic>
      <p:pic>
        <p:nvPicPr>
          <p:cNvPr id="127" name="图片 126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130" r="26899" b="47125"/>
          <a:stretch>
            <a:fillRect/>
          </a:stretch>
        </p:blipFill>
        <p:spPr>
          <a:xfrm>
            <a:off x="2752310" y="4512946"/>
            <a:ext cx="576064" cy="534646"/>
          </a:xfrm>
          <a:prstGeom prst="ellipse">
            <a:avLst/>
          </a:prstGeom>
        </p:spPr>
      </p:pic>
      <p:pic>
        <p:nvPicPr>
          <p:cNvPr id="128" name="图片 12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5368" y="4281528"/>
            <a:ext cx="575216" cy="575216"/>
          </a:xfrm>
          <a:prstGeom prst="ellipse">
            <a:avLst/>
          </a:prstGeom>
        </p:spPr>
      </p:pic>
      <p:pic>
        <p:nvPicPr>
          <p:cNvPr id="131" name="图片 130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086" r="19844" b="44050"/>
          <a:stretch>
            <a:fillRect/>
          </a:stretch>
        </p:blipFill>
        <p:spPr>
          <a:xfrm>
            <a:off x="2181979" y="2976164"/>
            <a:ext cx="576064" cy="613708"/>
          </a:xfrm>
          <a:prstGeom prst="ellipse">
            <a:avLst/>
          </a:prstGeom>
        </p:spPr>
      </p:pic>
      <p:pic>
        <p:nvPicPr>
          <p:cNvPr id="132" name="图片 131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045" t="8887" r="22876" b="45424"/>
          <a:stretch>
            <a:fillRect/>
          </a:stretch>
        </p:blipFill>
        <p:spPr>
          <a:xfrm>
            <a:off x="2837178" y="3353288"/>
            <a:ext cx="529020" cy="507760"/>
          </a:xfrm>
          <a:prstGeom prst="ellipse">
            <a:avLst/>
          </a:prstGeom>
        </p:spPr>
      </p:pic>
      <p:pic>
        <p:nvPicPr>
          <p:cNvPr id="144" name="图片 143"/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341" r="20773" b="47362"/>
          <a:stretch>
            <a:fillRect/>
          </a:stretch>
        </p:blipFill>
        <p:spPr>
          <a:xfrm>
            <a:off x="4494919" y="1530038"/>
            <a:ext cx="504057" cy="521415"/>
          </a:xfrm>
          <a:prstGeom prst="ellipse">
            <a:avLst/>
          </a:prstGeom>
        </p:spPr>
      </p:pic>
      <p:pic>
        <p:nvPicPr>
          <p:cNvPr id="145" name="图片 144"/>
          <p:cNvPicPr>
            <a:picLocks noChangeAspect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929" t="-193" r="25178" b="54927"/>
          <a:stretch>
            <a:fillRect/>
          </a:stretch>
        </p:blipFill>
        <p:spPr>
          <a:xfrm>
            <a:off x="6082288" y="2301291"/>
            <a:ext cx="495610" cy="497738"/>
          </a:xfrm>
          <a:prstGeom prst="ellipse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46" name="文本框 145"/>
              <p:cNvSpPr txBox="1"/>
              <p:nvPr/>
            </p:nvSpPr>
            <p:spPr>
              <a:xfrm>
                <a:off x="4651010" y="2100541"/>
                <a:ext cx="95141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9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146" name="文本框 14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51010" y="2100541"/>
                <a:ext cx="951414" cy="276999"/>
              </a:xfrm>
              <a:prstGeom prst="rect">
                <a:avLst/>
              </a:prstGeom>
              <a:blipFill rotWithShape="1">
                <a:blip r:embed="rId8"/>
                <a:stretch>
                  <a:fillRect l="-28" t="-215" r="-3890" b="3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7" name="文本框 146"/>
              <p:cNvSpPr txBox="1"/>
              <p:nvPr/>
            </p:nvSpPr>
            <p:spPr>
              <a:xfrm>
                <a:off x="1624830" y="5388865"/>
                <a:ext cx="95141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147" name="文本框 14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4830" y="5388865"/>
                <a:ext cx="951414" cy="276999"/>
              </a:xfrm>
              <a:prstGeom prst="rect">
                <a:avLst/>
              </a:prstGeom>
              <a:blipFill rotWithShape="1">
                <a:blip r:embed="rId9"/>
                <a:stretch>
                  <a:fillRect l="-53" t="-92" r="-3866" b="14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8" name="文本框 147"/>
              <p:cNvSpPr txBox="1"/>
              <p:nvPr/>
            </p:nvSpPr>
            <p:spPr>
              <a:xfrm>
                <a:off x="2859121" y="5121784"/>
                <a:ext cx="95141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148" name="文本框 14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9121" y="5121784"/>
                <a:ext cx="951414" cy="276999"/>
              </a:xfrm>
              <a:prstGeom prst="rect">
                <a:avLst/>
              </a:prstGeom>
              <a:blipFill rotWithShape="1">
                <a:blip r:embed="rId10"/>
                <a:stretch>
                  <a:fillRect l="-37" t="-184" r="-3882" b="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9" name="文本框 148"/>
              <p:cNvSpPr txBox="1"/>
              <p:nvPr/>
            </p:nvSpPr>
            <p:spPr>
              <a:xfrm>
                <a:off x="3103045" y="3904503"/>
                <a:ext cx="95141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9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149" name="文本框 14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03045" y="3904503"/>
                <a:ext cx="951414" cy="276999"/>
              </a:xfrm>
              <a:prstGeom prst="rect">
                <a:avLst/>
              </a:prstGeom>
              <a:blipFill rotWithShape="1">
                <a:blip r:embed="rId11"/>
                <a:stretch>
                  <a:fillRect l="-46" t="-189" r="-3873" b="1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0" name="文本框 149"/>
              <p:cNvSpPr txBox="1"/>
              <p:nvPr/>
            </p:nvSpPr>
            <p:spPr>
              <a:xfrm>
                <a:off x="1631845" y="3564435"/>
                <a:ext cx="95141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150" name="文本框 14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1845" y="3564435"/>
                <a:ext cx="951414" cy="276999"/>
              </a:xfrm>
              <a:prstGeom prst="rect">
                <a:avLst/>
              </a:prstGeom>
              <a:blipFill rotWithShape="1">
                <a:blip r:embed="rId12"/>
                <a:stretch>
                  <a:fillRect l="-56" t="-65" r="-3863" b="11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1" name="文本框 150"/>
              <p:cNvSpPr txBox="1"/>
              <p:nvPr/>
            </p:nvSpPr>
            <p:spPr>
              <a:xfrm>
                <a:off x="5880441" y="2912271"/>
                <a:ext cx="107965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12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151" name="文本框 15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0441" y="2912271"/>
                <a:ext cx="1079655" cy="276999"/>
              </a:xfrm>
              <a:prstGeom prst="rect">
                <a:avLst/>
              </a:prstGeom>
              <a:blipFill rotWithShape="1">
                <a:blip r:embed="rId13"/>
                <a:stretch>
                  <a:fillRect l="-32" t="-58" r="-3307" b="10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2" name="文本框 151"/>
              <p:cNvSpPr txBox="1"/>
              <p:nvPr/>
            </p:nvSpPr>
            <p:spPr>
              <a:xfrm>
                <a:off x="4185552" y="4731215"/>
                <a:ext cx="95141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152" name="文本框 15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85552" y="4731215"/>
                <a:ext cx="951414" cy="276999"/>
              </a:xfrm>
              <a:prstGeom prst="rect">
                <a:avLst/>
              </a:prstGeom>
              <a:blipFill rotWithShape="1">
                <a:blip r:embed="rId14"/>
                <a:stretch>
                  <a:fillRect l="-28" t="-168" r="-3890" b="21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5" name="椭圆 154"/>
          <p:cNvSpPr/>
          <p:nvPr/>
        </p:nvSpPr>
        <p:spPr>
          <a:xfrm>
            <a:off x="4481258" y="1523434"/>
            <a:ext cx="534622" cy="534622"/>
          </a:xfrm>
          <a:prstGeom prst="ellipse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6" name="椭圆 155"/>
          <p:cNvSpPr/>
          <p:nvPr/>
        </p:nvSpPr>
        <p:spPr>
          <a:xfrm>
            <a:off x="2762586" y="4502111"/>
            <a:ext cx="550756" cy="550756"/>
          </a:xfrm>
          <a:prstGeom prst="ellipse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7" name="椭圆 156"/>
          <p:cNvSpPr/>
          <p:nvPr/>
        </p:nvSpPr>
        <p:spPr>
          <a:xfrm>
            <a:off x="1754877" y="4656928"/>
            <a:ext cx="616462" cy="646352"/>
          </a:xfrm>
          <a:prstGeom prst="ellipse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8" name="椭圆 157"/>
          <p:cNvSpPr/>
          <p:nvPr/>
        </p:nvSpPr>
        <p:spPr>
          <a:xfrm>
            <a:off x="6078691" y="2276872"/>
            <a:ext cx="513321" cy="522157"/>
          </a:xfrm>
          <a:prstGeom prst="ellipse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0" name="椭圆 159"/>
          <p:cNvSpPr/>
          <p:nvPr/>
        </p:nvSpPr>
        <p:spPr>
          <a:xfrm>
            <a:off x="2184467" y="2988881"/>
            <a:ext cx="571208" cy="597884"/>
          </a:xfrm>
          <a:prstGeom prst="ellipse">
            <a:avLst/>
          </a:prstGeom>
          <a:noFill/>
          <a:ln>
            <a:solidFill>
              <a:schemeClr val="bg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1" name="椭圆 160"/>
          <p:cNvSpPr/>
          <p:nvPr/>
        </p:nvSpPr>
        <p:spPr>
          <a:xfrm>
            <a:off x="2828923" y="3338300"/>
            <a:ext cx="536824" cy="536824"/>
          </a:xfrm>
          <a:prstGeom prst="ellipse">
            <a:avLst/>
          </a:prstGeom>
          <a:noFill/>
          <a:ln>
            <a:solidFill>
              <a:schemeClr val="bg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2" name="椭圆 161"/>
          <p:cNvSpPr/>
          <p:nvPr/>
        </p:nvSpPr>
        <p:spPr>
          <a:xfrm>
            <a:off x="3698500" y="4290816"/>
            <a:ext cx="549761" cy="556639"/>
          </a:xfrm>
          <a:prstGeom prst="ellipse">
            <a:avLst/>
          </a:prstGeom>
          <a:noFill/>
          <a:ln>
            <a:solidFill>
              <a:schemeClr val="bg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3" name="文本框 162"/>
              <p:cNvSpPr txBox="1"/>
              <p:nvPr/>
            </p:nvSpPr>
            <p:spPr>
              <a:xfrm>
                <a:off x="4093424" y="3376214"/>
                <a:ext cx="842475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CN" sz="160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6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7</m:t>
                          </m:r>
                          <m:r>
                            <a:rPr lang="en-US" altLang="zh-CN" sz="16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altLang="zh-CN" sz="16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  <m:r>
                            <a:rPr lang="en-US" altLang="zh-CN" sz="16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CN" sz="16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  <m:r>
                            <a:rPr lang="en-US" altLang="zh-CN" sz="16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altLang="zh-CN" sz="16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</m:oMath>
                  </m:oMathPara>
                </a14:m>
                <a:endParaRPr lang="zh-CN" altLang="en-US" sz="1600" dirty="0">
                  <a:solidFill>
                    <a:srgbClr val="00B0F0"/>
                  </a:solidFill>
                </a:endParaRPr>
              </a:p>
            </p:txBody>
          </p:sp>
        </mc:Choice>
        <mc:Fallback>
          <p:sp>
            <p:nvSpPr>
              <p:cNvPr id="163" name="文本框 16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93424" y="3376214"/>
                <a:ext cx="842475" cy="246221"/>
              </a:xfrm>
              <a:prstGeom prst="rect">
                <a:avLst/>
              </a:prstGeom>
              <a:blipFill rotWithShape="1">
                <a:blip r:embed="rId15"/>
                <a:stretch>
                  <a:fillRect l="-25" t="-225" r="-4140" b="16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4" name="椭圆 163"/>
          <p:cNvSpPr/>
          <p:nvPr/>
        </p:nvSpPr>
        <p:spPr>
          <a:xfrm>
            <a:off x="4007688" y="1650382"/>
            <a:ext cx="312329" cy="312329"/>
          </a:xfrm>
          <a:prstGeom prst="ellipse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5" name="文本框 164"/>
              <p:cNvSpPr txBox="1"/>
              <p:nvPr/>
            </p:nvSpPr>
            <p:spPr>
              <a:xfrm>
                <a:off x="3741357" y="1988840"/>
                <a:ext cx="842475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CN" sz="160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6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8</m:t>
                          </m:r>
                          <m:r>
                            <a:rPr lang="en-US" altLang="zh-CN" sz="16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altLang="zh-CN" sz="16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altLang="zh-CN" sz="16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CN" sz="16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9</m:t>
                          </m:r>
                          <m:r>
                            <a:rPr lang="en-US" altLang="zh-CN" sz="16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altLang="zh-CN" sz="16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zh-CN" altLang="en-US" sz="1600" dirty="0">
                  <a:solidFill>
                    <a:srgbClr val="FFFF00"/>
                  </a:solidFill>
                </a:endParaRPr>
              </a:p>
            </p:txBody>
          </p:sp>
        </mc:Choice>
        <mc:Fallback>
          <p:sp>
            <p:nvSpPr>
              <p:cNvPr id="165" name="文本框 16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41357" y="1988840"/>
                <a:ext cx="842475" cy="246221"/>
              </a:xfrm>
              <a:prstGeom prst="rect">
                <a:avLst/>
              </a:prstGeom>
              <a:blipFill rotWithShape="1">
                <a:blip r:embed="rId16"/>
                <a:stretch>
                  <a:fillRect l="-68" t="-8" r="-4098" b="20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8" name="任意多边形 67"/>
          <p:cNvSpPr/>
          <p:nvPr/>
        </p:nvSpPr>
        <p:spPr>
          <a:xfrm>
            <a:off x="3708400" y="1193800"/>
            <a:ext cx="3403600" cy="1866900"/>
          </a:xfrm>
          <a:custGeom>
            <a:avLst/>
            <a:gdLst>
              <a:gd name="connsiteX0" fmla="*/ 241300 w 3403600"/>
              <a:gd name="connsiteY0" fmla="*/ 88900 h 1866900"/>
              <a:gd name="connsiteX1" fmla="*/ 825500 w 3403600"/>
              <a:gd name="connsiteY1" fmla="*/ 0 h 1866900"/>
              <a:gd name="connsiteX2" fmla="*/ 1562100 w 3403600"/>
              <a:gd name="connsiteY2" fmla="*/ 266700 h 1866900"/>
              <a:gd name="connsiteX3" fmla="*/ 2146300 w 3403600"/>
              <a:gd name="connsiteY3" fmla="*/ 546100 h 1866900"/>
              <a:gd name="connsiteX4" fmla="*/ 2959100 w 3403600"/>
              <a:gd name="connsiteY4" fmla="*/ 901700 h 1866900"/>
              <a:gd name="connsiteX5" fmla="*/ 3403600 w 3403600"/>
              <a:gd name="connsiteY5" fmla="*/ 1371600 h 1866900"/>
              <a:gd name="connsiteX6" fmla="*/ 3289300 w 3403600"/>
              <a:gd name="connsiteY6" fmla="*/ 1765300 h 1866900"/>
              <a:gd name="connsiteX7" fmla="*/ 2768600 w 3403600"/>
              <a:gd name="connsiteY7" fmla="*/ 1866900 h 1866900"/>
              <a:gd name="connsiteX8" fmla="*/ 2057400 w 3403600"/>
              <a:gd name="connsiteY8" fmla="*/ 1701800 h 1866900"/>
              <a:gd name="connsiteX9" fmla="*/ 1397000 w 3403600"/>
              <a:gd name="connsiteY9" fmla="*/ 1473200 h 1866900"/>
              <a:gd name="connsiteX10" fmla="*/ 647700 w 3403600"/>
              <a:gd name="connsiteY10" fmla="*/ 1155700 h 1866900"/>
              <a:gd name="connsiteX11" fmla="*/ 228600 w 3403600"/>
              <a:gd name="connsiteY11" fmla="*/ 838200 h 1866900"/>
              <a:gd name="connsiteX12" fmla="*/ 0 w 3403600"/>
              <a:gd name="connsiteY12" fmla="*/ 508000 h 1866900"/>
              <a:gd name="connsiteX13" fmla="*/ 241300 w 3403600"/>
              <a:gd name="connsiteY13" fmla="*/ 88900 h 1866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3403600" h="1866900">
                <a:moveTo>
                  <a:pt x="241300" y="88900"/>
                </a:moveTo>
                <a:lnTo>
                  <a:pt x="825500" y="0"/>
                </a:lnTo>
                <a:lnTo>
                  <a:pt x="1562100" y="266700"/>
                </a:lnTo>
                <a:lnTo>
                  <a:pt x="2146300" y="546100"/>
                </a:lnTo>
                <a:lnTo>
                  <a:pt x="2959100" y="901700"/>
                </a:lnTo>
                <a:lnTo>
                  <a:pt x="3403600" y="1371600"/>
                </a:lnTo>
                <a:lnTo>
                  <a:pt x="3289300" y="1765300"/>
                </a:lnTo>
                <a:lnTo>
                  <a:pt x="2768600" y="1866900"/>
                </a:lnTo>
                <a:lnTo>
                  <a:pt x="2057400" y="1701800"/>
                </a:lnTo>
                <a:lnTo>
                  <a:pt x="1397000" y="1473200"/>
                </a:lnTo>
                <a:lnTo>
                  <a:pt x="647700" y="1155700"/>
                </a:lnTo>
                <a:lnTo>
                  <a:pt x="228600" y="838200"/>
                </a:lnTo>
                <a:lnTo>
                  <a:pt x="0" y="508000"/>
                </a:lnTo>
                <a:lnTo>
                  <a:pt x="241300" y="88900"/>
                </a:lnTo>
                <a:close/>
              </a:path>
            </a:pathLst>
          </a:custGeom>
          <a:noFill/>
          <a:ln w="38100">
            <a:solidFill>
              <a:srgbClr val="FFFF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 b="1" dirty="0"/>
          </a:p>
        </p:txBody>
      </p:sp>
      <p:sp>
        <p:nvSpPr>
          <p:cNvPr id="166" name="椭圆 165"/>
          <p:cNvSpPr/>
          <p:nvPr/>
        </p:nvSpPr>
        <p:spPr>
          <a:xfrm>
            <a:off x="5345047" y="2031884"/>
            <a:ext cx="312329" cy="312329"/>
          </a:xfrm>
          <a:prstGeom prst="ellipse">
            <a:avLst/>
          </a:prstGeom>
          <a:solidFill>
            <a:srgbClr val="FFFF00"/>
          </a:solidFill>
          <a:ln w="57150">
            <a:solidFill>
              <a:srgbClr val="FF818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7" name="椭圆 166"/>
          <p:cNvSpPr/>
          <p:nvPr/>
        </p:nvSpPr>
        <p:spPr>
          <a:xfrm>
            <a:off x="3092931" y="3836751"/>
            <a:ext cx="312329" cy="312329"/>
          </a:xfrm>
          <a:prstGeom prst="ellipse">
            <a:avLst/>
          </a:prstGeom>
          <a:solidFill>
            <a:srgbClr val="00B0F0"/>
          </a:solidFill>
          <a:ln w="57150">
            <a:solidFill>
              <a:srgbClr val="FF818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8" name="文本框 167"/>
              <p:cNvSpPr txBox="1"/>
              <p:nvPr/>
            </p:nvSpPr>
            <p:spPr>
              <a:xfrm>
                <a:off x="4943057" y="2453982"/>
                <a:ext cx="1183914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CN" sz="1600" i="1" smtClean="0">
                              <a:solidFill>
                                <a:srgbClr val="FF818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600" b="0" i="1" smtClean="0">
                              <a:solidFill>
                                <a:srgbClr val="FF8181"/>
                              </a:solidFill>
                              <a:latin typeface="Cambria Math" panose="02040503050406030204" pitchFamily="18" charset="0"/>
                            </a:rPr>
                            <m:t>10</m:t>
                          </m:r>
                          <m:r>
                            <a:rPr lang="en-US" altLang="zh-CN" sz="1600" b="0" i="1" smtClean="0">
                              <a:solidFill>
                                <a:srgbClr val="FF8181"/>
                              </a:solidFill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altLang="zh-CN" sz="1600" b="0" i="1" smtClean="0">
                              <a:solidFill>
                                <a:srgbClr val="FF8181"/>
                              </a:solidFill>
                              <a:latin typeface="Cambria Math" panose="02040503050406030204" pitchFamily="18" charset="0"/>
                            </a:rPr>
                            <m:t>35</m:t>
                          </m:r>
                          <m:r>
                            <a:rPr lang="en-US" altLang="zh-CN" sz="1600" b="0" i="1" smtClean="0">
                              <a:solidFill>
                                <a:srgbClr val="FF8181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CN" sz="1600" b="0" i="1" smtClean="0">
                              <a:solidFill>
                                <a:srgbClr val="FF8181"/>
                              </a:solidFill>
                              <a:latin typeface="Cambria Math" panose="02040503050406030204" pitchFamily="18" charset="0"/>
                            </a:rPr>
                            <m:t>8</m:t>
                          </m:r>
                          <m:r>
                            <a:rPr lang="en-US" altLang="zh-CN" sz="1600" b="0" i="1" smtClean="0">
                              <a:solidFill>
                                <a:srgbClr val="FF8181"/>
                              </a:solidFill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altLang="zh-CN" sz="1600" b="0" i="1" smtClean="0">
                              <a:solidFill>
                                <a:srgbClr val="FF8181"/>
                              </a:solidFill>
                              <a:latin typeface="Cambria Math" panose="02040503050406030204" pitchFamily="18" charset="0"/>
                            </a:rPr>
                            <m:t>25</m:t>
                          </m:r>
                        </m:e>
                      </m:d>
                    </m:oMath>
                  </m:oMathPara>
                </a14:m>
                <a:endParaRPr lang="zh-CN" altLang="en-US" sz="1600" dirty="0">
                  <a:solidFill>
                    <a:srgbClr val="FF8181"/>
                  </a:solidFill>
                </a:endParaRPr>
              </a:p>
            </p:txBody>
          </p:sp>
        </mc:Choice>
        <mc:Fallback>
          <p:sp>
            <p:nvSpPr>
              <p:cNvPr id="168" name="文本框 16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43057" y="2453982"/>
                <a:ext cx="1183914" cy="246221"/>
              </a:xfrm>
              <a:prstGeom prst="rect">
                <a:avLst/>
              </a:prstGeom>
              <a:blipFill rotWithShape="1">
                <a:blip r:embed="rId17"/>
                <a:stretch>
                  <a:fillRect l="-18" t="-139" r="-2748" b="7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9" name="文本框 168"/>
              <p:cNvSpPr txBox="1"/>
              <p:nvPr/>
            </p:nvSpPr>
            <p:spPr>
              <a:xfrm>
                <a:off x="3411157" y="3802161"/>
                <a:ext cx="956287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CN" sz="1600" i="1" smtClean="0">
                              <a:solidFill>
                                <a:srgbClr val="FF818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600" b="0" i="1" smtClean="0">
                              <a:solidFill>
                                <a:srgbClr val="FF8181"/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  <m:r>
                            <a:rPr lang="en-US" altLang="zh-CN" sz="1600" b="0" i="1" smtClean="0">
                              <a:solidFill>
                                <a:srgbClr val="FF8181"/>
                              </a:solidFill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altLang="zh-CN" sz="1600" b="0" i="1" smtClean="0">
                              <a:solidFill>
                                <a:srgbClr val="FF818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zh-CN" sz="1600" b="0" i="1" smtClean="0">
                              <a:solidFill>
                                <a:srgbClr val="FF8181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CN" sz="1600" b="0" i="1" smtClean="0">
                              <a:solidFill>
                                <a:srgbClr val="FF8181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  <m:r>
                            <a:rPr lang="en-US" altLang="zh-CN" sz="1600" b="0" i="1" smtClean="0">
                              <a:solidFill>
                                <a:srgbClr val="FF8181"/>
                              </a:solidFill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altLang="zh-CN" sz="1600" b="0" i="1" smtClean="0">
                              <a:solidFill>
                                <a:srgbClr val="FF8181"/>
                              </a:solidFill>
                              <a:latin typeface="Cambria Math" panose="02040503050406030204" pitchFamily="18" charset="0"/>
                            </a:rPr>
                            <m:t>25</m:t>
                          </m:r>
                        </m:e>
                      </m:d>
                    </m:oMath>
                  </m:oMathPara>
                </a14:m>
                <a:endParaRPr lang="zh-CN" altLang="en-US" sz="1600" dirty="0">
                  <a:solidFill>
                    <a:srgbClr val="FF8181"/>
                  </a:solidFill>
                </a:endParaRPr>
              </a:p>
            </p:txBody>
          </p:sp>
        </mc:Choice>
        <mc:Fallback>
          <p:sp>
            <p:nvSpPr>
              <p:cNvPr id="169" name="文本框 16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11157" y="3802161"/>
                <a:ext cx="956287" cy="246221"/>
              </a:xfrm>
              <a:prstGeom prst="rect">
                <a:avLst/>
              </a:prstGeom>
              <a:blipFill rotWithShape="1">
                <a:blip r:embed="rId18"/>
                <a:stretch>
                  <a:fillRect l="-60" t="-169" r="-3528" b="10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70" name="图片 169"/>
          <p:cNvPicPr>
            <a:picLocks noChangeAspect="1"/>
          </p:cNvPicPr>
          <p:nvPr/>
        </p:nvPicPr>
        <p:blipFill rotWithShape="1"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557" t="446" r="27557" b="52305"/>
          <a:stretch>
            <a:fillRect/>
          </a:stretch>
        </p:blipFill>
        <p:spPr>
          <a:xfrm>
            <a:off x="4031836" y="2360448"/>
            <a:ext cx="512896" cy="553388"/>
          </a:xfrm>
          <a:prstGeom prst="ellipse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71" name="文本框 170"/>
              <p:cNvSpPr txBox="1"/>
              <p:nvPr/>
            </p:nvSpPr>
            <p:spPr>
              <a:xfrm>
                <a:off x="3704426" y="2946613"/>
                <a:ext cx="95141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171" name="文本框 17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04426" y="2946613"/>
                <a:ext cx="951414" cy="276999"/>
              </a:xfrm>
              <a:prstGeom prst="rect">
                <a:avLst/>
              </a:prstGeom>
              <a:blipFill rotWithShape="1">
                <a:blip r:embed="rId20"/>
                <a:stretch>
                  <a:fillRect l="-50" t="-77" r="-3869" b="12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3" name="椭圆 172"/>
          <p:cNvSpPr/>
          <p:nvPr/>
        </p:nvSpPr>
        <p:spPr>
          <a:xfrm>
            <a:off x="4019348" y="2366719"/>
            <a:ext cx="534622" cy="534622"/>
          </a:xfrm>
          <a:prstGeom prst="ellipse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9" name="任意多边形 68"/>
          <p:cNvSpPr/>
          <p:nvPr/>
        </p:nvSpPr>
        <p:spPr>
          <a:xfrm>
            <a:off x="1511300" y="2137038"/>
            <a:ext cx="3623240" cy="3527162"/>
          </a:xfrm>
          <a:custGeom>
            <a:avLst/>
            <a:gdLst>
              <a:gd name="connsiteX0" fmla="*/ 1930400 w 3454400"/>
              <a:gd name="connsiteY0" fmla="*/ 0 h 3454400"/>
              <a:gd name="connsiteX1" fmla="*/ 571500 w 3454400"/>
              <a:gd name="connsiteY1" fmla="*/ 584200 h 3454400"/>
              <a:gd name="connsiteX2" fmla="*/ 304800 w 3454400"/>
              <a:gd name="connsiteY2" fmla="*/ 1143000 h 3454400"/>
              <a:gd name="connsiteX3" fmla="*/ 38100 w 3454400"/>
              <a:gd name="connsiteY3" fmla="*/ 2006600 h 3454400"/>
              <a:gd name="connsiteX4" fmla="*/ 0 w 3454400"/>
              <a:gd name="connsiteY4" fmla="*/ 2730500 h 3454400"/>
              <a:gd name="connsiteX5" fmla="*/ 266700 w 3454400"/>
              <a:gd name="connsiteY5" fmla="*/ 3454400 h 3454400"/>
              <a:gd name="connsiteX6" fmla="*/ 1790700 w 3454400"/>
              <a:gd name="connsiteY6" fmla="*/ 3238500 h 3454400"/>
              <a:gd name="connsiteX7" fmla="*/ 2997200 w 3454400"/>
              <a:gd name="connsiteY7" fmla="*/ 2882900 h 3454400"/>
              <a:gd name="connsiteX8" fmla="*/ 3454400 w 3454400"/>
              <a:gd name="connsiteY8" fmla="*/ 2273300 h 3454400"/>
              <a:gd name="connsiteX9" fmla="*/ 3200400 w 3454400"/>
              <a:gd name="connsiteY9" fmla="*/ 1333500 h 3454400"/>
              <a:gd name="connsiteX10" fmla="*/ 2984500 w 3454400"/>
              <a:gd name="connsiteY10" fmla="*/ 482600 h 3454400"/>
              <a:gd name="connsiteX11" fmla="*/ 2565400 w 3454400"/>
              <a:gd name="connsiteY11" fmla="*/ 88900 h 3454400"/>
              <a:gd name="connsiteX12" fmla="*/ 1930400 w 3454400"/>
              <a:gd name="connsiteY12" fmla="*/ 0 h 3454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454400" h="3454400">
                <a:moveTo>
                  <a:pt x="1930400" y="0"/>
                </a:moveTo>
                <a:lnTo>
                  <a:pt x="571500" y="584200"/>
                </a:lnTo>
                <a:lnTo>
                  <a:pt x="304800" y="1143000"/>
                </a:lnTo>
                <a:lnTo>
                  <a:pt x="38100" y="2006600"/>
                </a:lnTo>
                <a:lnTo>
                  <a:pt x="0" y="2730500"/>
                </a:lnTo>
                <a:lnTo>
                  <a:pt x="266700" y="3454400"/>
                </a:lnTo>
                <a:lnTo>
                  <a:pt x="1790700" y="3238500"/>
                </a:lnTo>
                <a:lnTo>
                  <a:pt x="2997200" y="2882900"/>
                </a:lnTo>
                <a:lnTo>
                  <a:pt x="3454400" y="2273300"/>
                </a:lnTo>
                <a:lnTo>
                  <a:pt x="3200400" y="1333500"/>
                </a:lnTo>
                <a:lnTo>
                  <a:pt x="2984500" y="482600"/>
                </a:lnTo>
                <a:lnTo>
                  <a:pt x="2565400" y="88900"/>
                </a:lnTo>
                <a:lnTo>
                  <a:pt x="1930400" y="0"/>
                </a:lnTo>
                <a:close/>
              </a:path>
            </a:pathLst>
          </a:custGeom>
          <a:noFill/>
          <a:ln>
            <a:solidFill>
              <a:srgbClr val="00B0F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35" presetClass="emph" presetSubtype="0" repeatCount="2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0" dur="10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35" presetClass="emph" presetSubtype="0" repeatCount="2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2" dur="10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7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500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35" presetClass="emph" presetSubtype="0" repeatCount="2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39" dur="1000" fill="hold"/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35" presetClass="emph" presetSubtype="0" repeatCount="2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57" dur="1000" fill="hold"/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7" grpId="0" animBg="1"/>
      <p:bldP spid="137" grpId="0"/>
      <p:bldP spid="138" grpId="0"/>
      <p:bldP spid="139" grpId="0" animBg="1"/>
      <p:bldP spid="68" grpId="0" animBg="1"/>
      <p:bldP spid="68" grpId="1" animBg="1"/>
      <p:bldP spid="166" grpId="0" animBg="1"/>
      <p:bldP spid="166" grpId="1" animBg="1"/>
      <p:bldP spid="167" grpId="0" animBg="1"/>
      <p:bldP spid="167" grpId="1" animBg="1"/>
      <p:bldP spid="168" grpId="0"/>
      <p:bldP spid="169" grpId="0"/>
      <p:bldP spid="69" grpId="0" animBg="1"/>
      <p:bldP spid="69" grpId="1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627149" y="6093296"/>
            <a:ext cx="7170831" cy="612492"/>
            <a:chOff x="2906758" y="6323422"/>
            <a:chExt cx="7170831" cy="612492"/>
          </a:xfrm>
        </p:grpSpPr>
        <p:cxnSp>
          <p:nvCxnSpPr>
            <p:cNvPr id="5" name="直接箭头连接符 4"/>
            <p:cNvCxnSpPr/>
            <p:nvPr/>
          </p:nvCxnSpPr>
          <p:spPr>
            <a:xfrm>
              <a:off x="2906758" y="6494231"/>
              <a:ext cx="6476963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直接连接符 5"/>
            <p:cNvCxnSpPr/>
            <p:nvPr/>
          </p:nvCxnSpPr>
          <p:spPr>
            <a:xfrm>
              <a:off x="3647728" y="6323423"/>
              <a:ext cx="0" cy="170808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直接连接符 6"/>
            <p:cNvCxnSpPr/>
            <p:nvPr/>
          </p:nvCxnSpPr>
          <p:spPr>
            <a:xfrm>
              <a:off x="4223792" y="6323423"/>
              <a:ext cx="0" cy="170808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直接连接符 7"/>
            <p:cNvCxnSpPr/>
            <p:nvPr/>
          </p:nvCxnSpPr>
          <p:spPr>
            <a:xfrm>
              <a:off x="4799856" y="6323423"/>
              <a:ext cx="0" cy="170808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直接连接符 8"/>
            <p:cNvCxnSpPr/>
            <p:nvPr/>
          </p:nvCxnSpPr>
          <p:spPr>
            <a:xfrm>
              <a:off x="5375920" y="6323422"/>
              <a:ext cx="0" cy="170808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直接连接符 9"/>
            <p:cNvCxnSpPr/>
            <p:nvPr/>
          </p:nvCxnSpPr>
          <p:spPr>
            <a:xfrm>
              <a:off x="5951984" y="6323422"/>
              <a:ext cx="0" cy="170808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直接连接符 10"/>
            <p:cNvCxnSpPr/>
            <p:nvPr/>
          </p:nvCxnSpPr>
          <p:spPr>
            <a:xfrm>
              <a:off x="6528048" y="6323422"/>
              <a:ext cx="0" cy="170808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接连接符 11"/>
            <p:cNvCxnSpPr/>
            <p:nvPr/>
          </p:nvCxnSpPr>
          <p:spPr>
            <a:xfrm>
              <a:off x="7151473" y="6323422"/>
              <a:ext cx="0" cy="170808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接连接符 12"/>
            <p:cNvCxnSpPr/>
            <p:nvPr/>
          </p:nvCxnSpPr>
          <p:spPr>
            <a:xfrm>
              <a:off x="7655529" y="6323422"/>
              <a:ext cx="0" cy="170808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/>
            <p:nvPr/>
          </p:nvCxnSpPr>
          <p:spPr>
            <a:xfrm>
              <a:off x="8159585" y="6323422"/>
              <a:ext cx="0" cy="170808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连接符 14"/>
            <p:cNvCxnSpPr/>
            <p:nvPr/>
          </p:nvCxnSpPr>
          <p:spPr>
            <a:xfrm>
              <a:off x="8688288" y="6323422"/>
              <a:ext cx="0" cy="170808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文本框 15"/>
            <p:cNvSpPr txBox="1"/>
            <p:nvPr/>
          </p:nvSpPr>
          <p:spPr>
            <a:xfrm>
              <a:off x="9044797" y="6566582"/>
              <a:ext cx="103279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b="1" dirty="0"/>
                <a:t>篮板</a:t>
              </a:r>
              <a:endParaRPr lang="zh-CN" altLang="en-US" b="1" dirty="0"/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3494872" y="6478899"/>
              <a:ext cx="32501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/>
                <a:t>3</a:t>
              </a:r>
              <a:endParaRPr lang="zh-CN" altLang="en-US" b="1" dirty="0"/>
            </a:p>
          </p:txBody>
        </p:sp>
        <p:sp>
          <p:nvSpPr>
            <p:cNvPr id="18" name="文本框 17"/>
            <p:cNvSpPr txBox="1"/>
            <p:nvPr/>
          </p:nvSpPr>
          <p:spPr>
            <a:xfrm>
              <a:off x="4055127" y="6470969"/>
              <a:ext cx="32501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/>
                <a:t>4</a:t>
              </a:r>
              <a:endParaRPr lang="zh-CN" altLang="en-US" b="1" dirty="0"/>
            </a:p>
          </p:txBody>
        </p:sp>
        <p:sp>
          <p:nvSpPr>
            <p:cNvPr id="19" name="文本框 18"/>
            <p:cNvSpPr txBox="1"/>
            <p:nvPr/>
          </p:nvSpPr>
          <p:spPr>
            <a:xfrm>
              <a:off x="4637956" y="6475151"/>
              <a:ext cx="32501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/>
                <a:t>5</a:t>
              </a:r>
              <a:endParaRPr lang="zh-CN" altLang="en-US" b="1" dirty="0"/>
            </a:p>
          </p:txBody>
        </p:sp>
        <p:sp>
          <p:nvSpPr>
            <p:cNvPr id="20" name="文本框 19"/>
            <p:cNvSpPr txBox="1"/>
            <p:nvPr/>
          </p:nvSpPr>
          <p:spPr>
            <a:xfrm>
              <a:off x="5214019" y="6455987"/>
              <a:ext cx="32501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/>
                <a:t>6</a:t>
              </a:r>
              <a:endParaRPr lang="zh-CN" altLang="en-US" b="1" dirty="0"/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5805891" y="6490296"/>
              <a:ext cx="32501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/>
                <a:t>7</a:t>
              </a:r>
              <a:endParaRPr lang="zh-CN" altLang="en-US" b="1" dirty="0"/>
            </a:p>
          </p:txBody>
        </p:sp>
        <p:sp>
          <p:nvSpPr>
            <p:cNvPr id="22" name="文本框 21"/>
            <p:cNvSpPr txBox="1"/>
            <p:nvPr/>
          </p:nvSpPr>
          <p:spPr>
            <a:xfrm>
              <a:off x="6366146" y="6482366"/>
              <a:ext cx="32501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/>
                <a:t>8</a:t>
              </a:r>
              <a:endParaRPr lang="zh-CN" altLang="en-US" b="1" dirty="0"/>
            </a:p>
          </p:txBody>
        </p:sp>
        <p:sp>
          <p:nvSpPr>
            <p:cNvPr id="23" name="文本框 22"/>
            <p:cNvSpPr txBox="1"/>
            <p:nvPr/>
          </p:nvSpPr>
          <p:spPr>
            <a:xfrm>
              <a:off x="6935416" y="6470969"/>
              <a:ext cx="32501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/>
                <a:t>9</a:t>
              </a:r>
              <a:endParaRPr lang="zh-CN" altLang="en-US" b="1" dirty="0"/>
            </a:p>
          </p:txBody>
        </p:sp>
        <p:sp>
          <p:nvSpPr>
            <p:cNvPr id="24" name="文本框 23"/>
            <p:cNvSpPr txBox="1"/>
            <p:nvPr/>
          </p:nvSpPr>
          <p:spPr>
            <a:xfrm>
              <a:off x="7453348" y="6463754"/>
              <a:ext cx="45365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/>
                <a:t>10</a:t>
              </a:r>
              <a:endParaRPr lang="zh-CN" altLang="en-US" b="1" dirty="0"/>
            </a:p>
          </p:txBody>
        </p:sp>
        <p:sp>
          <p:nvSpPr>
            <p:cNvPr id="25" name="文本框 24"/>
            <p:cNvSpPr txBox="1"/>
            <p:nvPr/>
          </p:nvSpPr>
          <p:spPr>
            <a:xfrm>
              <a:off x="7957762" y="6465598"/>
              <a:ext cx="59584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/>
                <a:t>11</a:t>
              </a:r>
              <a:endParaRPr lang="zh-CN" altLang="en-US" b="1" dirty="0"/>
            </a:p>
          </p:txBody>
        </p:sp>
        <p:sp>
          <p:nvSpPr>
            <p:cNvPr id="26" name="文本框 25"/>
            <p:cNvSpPr txBox="1"/>
            <p:nvPr/>
          </p:nvSpPr>
          <p:spPr>
            <a:xfrm>
              <a:off x="8475527" y="6477979"/>
              <a:ext cx="50741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/>
                <a:t>12</a:t>
              </a:r>
              <a:endParaRPr lang="zh-CN" altLang="en-US" b="1" dirty="0"/>
            </a:p>
          </p:txBody>
        </p:sp>
      </p:grpSp>
      <p:grpSp>
        <p:nvGrpSpPr>
          <p:cNvPr id="34" name="组合 33"/>
          <p:cNvGrpSpPr/>
          <p:nvPr/>
        </p:nvGrpSpPr>
        <p:grpSpPr>
          <a:xfrm>
            <a:off x="194601" y="154638"/>
            <a:ext cx="1131184" cy="6464978"/>
            <a:chOff x="194601" y="154638"/>
            <a:chExt cx="1131184" cy="6464978"/>
          </a:xfrm>
        </p:grpSpPr>
        <p:grpSp>
          <p:nvGrpSpPr>
            <p:cNvPr id="35" name="组合 34"/>
            <p:cNvGrpSpPr/>
            <p:nvPr/>
          </p:nvGrpSpPr>
          <p:grpSpPr>
            <a:xfrm>
              <a:off x="1039064" y="428431"/>
              <a:ext cx="171961" cy="6155366"/>
              <a:chOff x="3287688" y="-597610"/>
              <a:chExt cx="171961" cy="6155366"/>
            </a:xfrm>
          </p:grpSpPr>
          <p:cxnSp>
            <p:nvCxnSpPr>
              <p:cNvPr id="50" name="直接箭头连接符 49"/>
              <p:cNvCxnSpPr/>
              <p:nvPr/>
            </p:nvCxnSpPr>
            <p:spPr>
              <a:xfrm flipV="1">
                <a:off x="3287688" y="-597610"/>
                <a:ext cx="0" cy="6155366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直接连接符 50"/>
              <p:cNvCxnSpPr/>
              <p:nvPr/>
            </p:nvCxnSpPr>
            <p:spPr>
              <a:xfrm>
                <a:off x="3287688" y="3789040"/>
                <a:ext cx="144016" cy="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直接连接符 51"/>
              <p:cNvCxnSpPr/>
              <p:nvPr/>
            </p:nvCxnSpPr>
            <p:spPr>
              <a:xfrm>
                <a:off x="3301841" y="4941168"/>
                <a:ext cx="144016" cy="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直接连接符 52"/>
              <p:cNvCxnSpPr/>
              <p:nvPr/>
            </p:nvCxnSpPr>
            <p:spPr>
              <a:xfrm>
                <a:off x="3301480" y="4365104"/>
                <a:ext cx="144016" cy="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直接连接符 53"/>
              <p:cNvCxnSpPr/>
              <p:nvPr/>
            </p:nvCxnSpPr>
            <p:spPr>
              <a:xfrm>
                <a:off x="3301480" y="764704"/>
                <a:ext cx="144016" cy="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直接连接符 54"/>
              <p:cNvCxnSpPr/>
              <p:nvPr/>
            </p:nvCxnSpPr>
            <p:spPr>
              <a:xfrm>
                <a:off x="3301480" y="3140968"/>
                <a:ext cx="144016" cy="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直接连接符 55"/>
              <p:cNvCxnSpPr/>
              <p:nvPr/>
            </p:nvCxnSpPr>
            <p:spPr>
              <a:xfrm>
                <a:off x="3301480" y="2564904"/>
                <a:ext cx="144016" cy="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直接连接符 56"/>
              <p:cNvCxnSpPr/>
              <p:nvPr/>
            </p:nvCxnSpPr>
            <p:spPr>
              <a:xfrm>
                <a:off x="3315633" y="1916832"/>
                <a:ext cx="144016" cy="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直接连接符 57"/>
              <p:cNvCxnSpPr/>
              <p:nvPr/>
            </p:nvCxnSpPr>
            <p:spPr>
              <a:xfrm>
                <a:off x="3315272" y="1340768"/>
                <a:ext cx="144016" cy="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6" name="文本框 35"/>
            <p:cNvSpPr txBox="1"/>
            <p:nvPr/>
          </p:nvSpPr>
          <p:spPr>
            <a:xfrm>
              <a:off x="627149" y="6250284"/>
              <a:ext cx="44314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i="1" dirty="0"/>
                <a:t>O</a:t>
              </a:r>
              <a:endParaRPr lang="zh-CN" altLang="en-US" b="1" i="1" dirty="0"/>
            </a:p>
          </p:txBody>
        </p:sp>
        <p:sp>
          <p:nvSpPr>
            <p:cNvPr id="37" name="文本框 36"/>
            <p:cNvSpPr txBox="1"/>
            <p:nvPr/>
          </p:nvSpPr>
          <p:spPr>
            <a:xfrm>
              <a:off x="194601" y="154638"/>
              <a:ext cx="6457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b="1" dirty="0"/>
                <a:t>助攻</a:t>
              </a:r>
              <a:endParaRPr lang="zh-CN" altLang="en-US" b="1" dirty="0"/>
            </a:p>
          </p:txBody>
        </p:sp>
        <p:sp>
          <p:nvSpPr>
            <p:cNvPr id="38" name="文本框 37"/>
            <p:cNvSpPr txBox="1"/>
            <p:nvPr/>
          </p:nvSpPr>
          <p:spPr>
            <a:xfrm>
              <a:off x="652062" y="5229200"/>
              <a:ext cx="32501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/>
                <a:t>3</a:t>
              </a:r>
              <a:endParaRPr lang="zh-CN" altLang="en-US" b="1" dirty="0"/>
            </a:p>
          </p:txBody>
        </p:sp>
        <p:sp>
          <p:nvSpPr>
            <p:cNvPr id="39" name="文本框 38"/>
            <p:cNvSpPr txBox="1"/>
            <p:nvPr/>
          </p:nvSpPr>
          <p:spPr>
            <a:xfrm>
              <a:off x="652061" y="4653136"/>
              <a:ext cx="32501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/>
                <a:t>4</a:t>
              </a:r>
              <a:endParaRPr lang="zh-CN" altLang="en-US" b="1" dirty="0"/>
            </a:p>
          </p:txBody>
        </p:sp>
        <p:sp>
          <p:nvSpPr>
            <p:cNvPr id="40" name="文本框 39"/>
            <p:cNvSpPr txBox="1"/>
            <p:nvPr/>
          </p:nvSpPr>
          <p:spPr>
            <a:xfrm>
              <a:off x="649015" y="4005064"/>
              <a:ext cx="32501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/>
                <a:t>5</a:t>
              </a:r>
              <a:endParaRPr lang="zh-CN" altLang="en-US" b="1" dirty="0"/>
            </a:p>
          </p:txBody>
        </p:sp>
        <p:sp>
          <p:nvSpPr>
            <p:cNvPr id="41" name="文本框 40"/>
            <p:cNvSpPr txBox="1"/>
            <p:nvPr/>
          </p:nvSpPr>
          <p:spPr>
            <a:xfrm>
              <a:off x="653553" y="3429000"/>
              <a:ext cx="32501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/>
                <a:t>6</a:t>
              </a:r>
              <a:endParaRPr lang="zh-CN" altLang="en-US" b="1" dirty="0"/>
            </a:p>
          </p:txBody>
        </p:sp>
        <p:sp>
          <p:nvSpPr>
            <p:cNvPr id="42" name="文本框 41"/>
            <p:cNvSpPr txBox="1"/>
            <p:nvPr/>
          </p:nvSpPr>
          <p:spPr>
            <a:xfrm>
              <a:off x="653553" y="2780928"/>
              <a:ext cx="32501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/>
                <a:t>7</a:t>
              </a:r>
              <a:endParaRPr lang="zh-CN" altLang="en-US" b="1" dirty="0"/>
            </a:p>
          </p:txBody>
        </p:sp>
        <p:sp>
          <p:nvSpPr>
            <p:cNvPr id="43" name="文本框 42"/>
            <p:cNvSpPr txBox="1"/>
            <p:nvPr/>
          </p:nvSpPr>
          <p:spPr>
            <a:xfrm>
              <a:off x="670472" y="2232046"/>
              <a:ext cx="32501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/>
                <a:t>8</a:t>
              </a:r>
              <a:endParaRPr lang="zh-CN" altLang="en-US" b="1" dirty="0"/>
            </a:p>
          </p:txBody>
        </p:sp>
        <p:sp>
          <p:nvSpPr>
            <p:cNvPr id="44" name="文本框 43"/>
            <p:cNvSpPr txBox="1"/>
            <p:nvPr/>
          </p:nvSpPr>
          <p:spPr>
            <a:xfrm>
              <a:off x="695400" y="1628800"/>
              <a:ext cx="32501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/>
                <a:t>9</a:t>
              </a:r>
              <a:endParaRPr lang="zh-CN" altLang="en-US" b="1" dirty="0"/>
            </a:p>
          </p:txBody>
        </p:sp>
        <p:sp>
          <p:nvSpPr>
            <p:cNvPr id="45" name="文本框 44"/>
            <p:cNvSpPr txBox="1"/>
            <p:nvPr/>
          </p:nvSpPr>
          <p:spPr>
            <a:xfrm>
              <a:off x="632062" y="1077033"/>
              <a:ext cx="66656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/>
                <a:t>10</a:t>
              </a:r>
              <a:endParaRPr lang="zh-CN" altLang="en-US" b="1" dirty="0"/>
            </a:p>
          </p:txBody>
        </p:sp>
        <p:cxnSp>
          <p:nvCxnSpPr>
            <p:cNvPr id="46" name="直接连接符 45"/>
            <p:cNvCxnSpPr/>
            <p:nvPr/>
          </p:nvCxnSpPr>
          <p:spPr>
            <a:xfrm>
              <a:off x="1053217" y="1210947"/>
              <a:ext cx="144016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直接连接符 46"/>
            <p:cNvCxnSpPr/>
            <p:nvPr/>
          </p:nvCxnSpPr>
          <p:spPr>
            <a:xfrm>
              <a:off x="1052856" y="634883"/>
              <a:ext cx="144016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8" name="文本框 47"/>
            <p:cNvSpPr txBox="1"/>
            <p:nvPr/>
          </p:nvSpPr>
          <p:spPr>
            <a:xfrm>
              <a:off x="659220" y="508731"/>
              <a:ext cx="666565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altLang="zh-CN" b="1" dirty="0"/>
                <a:t>11</a:t>
              </a:r>
              <a:endParaRPr lang="zh-CN" altLang="en-US" b="1" dirty="0"/>
            </a:p>
          </p:txBody>
        </p:sp>
        <p:sp>
          <p:nvSpPr>
            <p:cNvPr id="49" name="文本框 48"/>
            <p:cNvSpPr txBox="1"/>
            <p:nvPr/>
          </p:nvSpPr>
          <p:spPr>
            <a:xfrm>
              <a:off x="645819" y="5802804"/>
              <a:ext cx="32501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/>
                <a:t>2</a:t>
              </a:r>
              <a:endParaRPr lang="zh-CN" altLang="en-US" b="1" dirty="0"/>
            </a:p>
          </p:txBody>
        </p:sp>
      </p:grpSp>
      <p:sp>
        <p:nvSpPr>
          <p:cNvPr id="95" name="文本框 94"/>
          <p:cNvSpPr txBox="1"/>
          <p:nvPr/>
        </p:nvSpPr>
        <p:spPr>
          <a:xfrm>
            <a:off x="7104112" y="916694"/>
            <a:ext cx="41764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/>
              <a:t>1</a:t>
            </a:r>
            <a:r>
              <a:rPr lang="zh-CN" altLang="en-US" sz="2000" b="1" dirty="0"/>
              <a:t>、随机生成两个点</a:t>
            </a:r>
            <a:endParaRPr lang="en-US" altLang="zh-CN" sz="2000" b="1" dirty="0"/>
          </a:p>
        </p:txBody>
      </p:sp>
      <p:sp>
        <p:nvSpPr>
          <p:cNvPr id="96" name="文本框 95"/>
          <p:cNvSpPr txBox="1"/>
          <p:nvPr/>
        </p:nvSpPr>
        <p:spPr>
          <a:xfrm>
            <a:off x="7135033" y="1362039"/>
            <a:ext cx="50569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/>
              <a:t>2</a:t>
            </a:r>
            <a:r>
              <a:rPr lang="zh-CN" altLang="en-US" sz="2000" b="1" dirty="0"/>
              <a:t>、类别划分</a:t>
            </a:r>
            <a:endParaRPr lang="zh-CN" altLang="en-US" sz="2000" b="1" dirty="0"/>
          </a:p>
        </p:txBody>
      </p:sp>
      <p:sp>
        <p:nvSpPr>
          <p:cNvPr id="137" name="文本框 136"/>
          <p:cNvSpPr txBox="1"/>
          <p:nvPr/>
        </p:nvSpPr>
        <p:spPr>
          <a:xfrm>
            <a:off x="7135033" y="1833370"/>
            <a:ext cx="562715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/>
              <a:t>3</a:t>
            </a:r>
            <a:r>
              <a:rPr lang="zh-CN" altLang="en-US" sz="2000" b="1" dirty="0"/>
              <a:t>、分析调整 </a:t>
            </a:r>
            <a:endParaRPr lang="en-US" altLang="zh-CN" sz="2000" b="1" dirty="0"/>
          </a:p>
          <a:p>
            <a:r>
              <a:rPr lang="en-US" altLang="zh-CN" sz="2000" b="1" dirty="0"/>
              <a:t>      — </a:t>
            </a:r>
            <a:r>
              <a:rPr lang="zh-CN" altLang="en-US" sz="2000" b="1" dirty="0"/>
              <a:t>计算每类球员的真实平均能力</a:t>
            </a:r>
            <a:endParaRPr lang="zh-CN" altLang="en-US" sz="2000" b="1" dirty="0"/>
          </a:p>
        </p:txBody>
      </p:sp>
      <p:pic>
        <p:nvPicPr>
          <p:cNvPr id="124" name="图片 123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389" r="21923" b="36428"/>
          <a:stretch>
            <a:fillRect/>
          </a:stretch>
        </p:blipFill>
        <p:spPr>
          <a:xfrm>
            <a:off x="1795275" y="4655088"/>
            <a:ext cx="576064" cy="646030"/>
          </a:xfrm>
          <a:prstGeom prst="ellipse">
            <a:avLst/>
          </a:prstGeom>
        </p:spPr>
      </p:pic>
      <p:pic>
        <p:nvPicPr>
          <p:cNvPr id="127" name="图片 126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130" r="26899" b="47125"/>
          <a:stretch>
            <a:fillRect/>
          </a:stretch>
        </p:blipFill>
        <p:spPr>
          <a:xfrm>
            <a:off x="2752310" y="4512946"/>
            <a:ext cx="576064" cy="534646"/>
          </a:xfrm>
          <a:prstGeom prst="ellipse">
            <a:avLst/>
          </a:prstGeom>
        </p:spPr>
      </p:pic>
      <p:pic>
        <p:nvPicPr>
          <p:cNvPr id="128" name="图片 12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5368" y="4281528"/>
            <a:ext cx="575216" cy="575216"/>
          </a:xfrm>
          <a:prstGeom prst="ellipse">
            <a:avLst/>
          </a:prstGeom>
        </p:spPr>
      </p:pic>
      <p:pic>
        <p:nvPicPr>
          <p:cNvPr id="131" name="图片 130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086" r="19844" b="44050"/>
          <a:stretch>
            <a:fillRect/>
          </a:stretch>
        </p:blipFill>
        <p:spPr>
          <a:xfrm>
            <a:off x="2181979" y="2976164"/>
            <a:ext cx="576064" cy="613708"/>
          </a:xfrm>
          <a:prstGeom prst="ellipse">
            <a:avLst/>
          </a:prstGeom>
        </p:spPr>
      </p:pic>
      <p:pic>
        <p:nvPicPr>
          <p:cNvPr id="132" name="图片 131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045" t="8887" r="22876" b="45424"/>
          <a:stretch>
            <a:fillRect/>
          </a:stretch>
        </p:blipFill>
        <p:spPr>
          <a:xfrm>
            <a:off x="2837178" y="3353288"/>
            <a:ext cx="529020" cy="507760"/>
          </a:xfrm>
          <a:prstGeom prst="ellipse">
            <a:avLst/>
          </a:prstGeom>
        </p:spPr>
      </p:pic>
      <p:pic>
        <p:nvPicPr>
          <p:cNvPr id="144" name="图片 143"/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341" r="20773" b="47362"/>
          <a:stretch>
            <a:fillRect/>
          </a:stretch>
        </p:blipFill>
        <p:spPr>
          <a:xfrm>
            <a:off x="4494919" y="1530038"/>
            <a:ext cx="504057" cy="521415"/>
          </a:xfrm>
          <a:prstGeom prst="ellipse">
            <a:avLst/>
          </a:prstGeom>
        </p:spPr>
      </p:pic>
      <p:pic>
        <p:nvPicPr>
          <p:cNvPr id="145" name="图片 144"/>
          <p:cNvPicPr>
            <a:picLocks noChangeAspect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929" t="-193" r="25178" b="54927"/>
          <a:stretch>
            <a:fillRect/>
          </a:stretch>
        </p:blipFill>
        <p:spPr>
          <a:xfrm>
            <a:off x="6082288" y="2301291"/>
            <a:ext cx="495610" cy="497738"/>
          </a:xfrm>
          <a:prstGeom prst="ellipse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46" name="文本框 145"/>
              <p:cNvSpPr txBox="1"/>
              <p:nvPr/>
            </p:nvSpPr>
            <p:spPr>
              <a:xfrm>
                <a:off x="4651010" y="2100541"/>
                <a:ext cx="95141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9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146" name="文本框 14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51010" y="2100541"/>
                <a:ext cx="951414" cy="276999"/>
              </a:xfrm>
              <a:prstGeom prst="rect">
                <a:avLst/>
              </a:prstGeom>
              <a:blipFill rotWithShape="1">
                <a:blip r:embed="rId8"/>
                <a:stretch>
                  <a:fillRect l="-28" t="-215" r="-3890" b="3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7" name="文本框 146"/>
              <p:cNvSpPr txBox="1"/>
              <p:nvPr/>
            </p:nvSpPr>
            <p:spPr>
              <a:xfrm>
                <a:off x="1624830" y="5388865"/>
                <a:ext cx="95141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147" name="文本框 14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4830" y="5388865"/>
                <a:ext cx="951414" cy="276999"/>
              </a:xfrm>
              <a:prstGeom prst="rect">
                <a:avLst/>
              </a:prstGeom>
              <a:blipFill rotWithShape="1">
                <a:blip r:embed="rId9"/>
                <a:stretch>
                  <a:fillRect l="-53" t="-92" r="-3866" b="14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8" name="文本框 147"/>
              <p:cNvSpPr txBox="1"/>
              <p:nvPr/>
            </p:nvSpPr>
            <p:spPr>
              <a:xfrm>
                <a:off x="2859121" y="5121784"/>
                <a:ext cx="95141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148" name="文本框 14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9121" y="5121784"/>
                <a:ext cx="951414" cy="276999"/>
              </a:xfrm>
              <a:prstGeom prst="rect">
                <a:avLst/>
              </a:prstGeom>
              <a:blipFill rotWithShape="1">
                <a:blip r:embed="rId10"/>
                <a:stretch>
                  <a:fillRect l="-37" t="-184" r="-3882" b="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9" name="文本框 148"/>
              <p:cNvSpPr txBox="1"/>
              <p:nvPr/>
            </p:nvSpPr>
            <p:spPr>
              <a:xfrm>
                <a:off x="3103045" y="3904503"/>
                <a:ext cx="95141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9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149" name="文本框 14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03045" y="3904503"/>
                <a:ext cx="951414" cy="276999"/>
              </a:xfrm>
              <a:prstGeom prst="rect">
                <a:avLst/>
              </a:prstGeom>
              <a:blipFill rotWithShape="1">
                <a:blip r:embed="rId11"/>
                <a:stretch>
                  <a:fillRect l="-46" t="-189" r="-3873" b="1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0" name="文本框 149"/>
              <p:cNvSpPr txBox="1"/>
              <p:nvPr/>
            </p:nvSpPr>
            <p:spPr>
              <a:xfrm>
                <a:off x="1631845" y="3564435"/>
                <a:ext cx="95141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150" name="文本框 14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1845" y="3564435"/>
                <a:ext cx="951414" cy="276999"/>
              </a:xfrm>
              <a:prstGeom prst="rect">
                <a:avLst/>
              </a:prstGeom>
              <a:blipFill rotWithShape="1">
                <a:blip r:embed="rId12"/>
                <a:stretch>
                  <a:fillRect l="-56" t="-65" r="-3863" b="11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1" name="文本框 150"/>
              <p:cNvSpPr txBox="1"/>
              <p:nvPr/>
            </p:nvSpPr>
            <p:spPr>
              <a:xfrm>
                <a:off x="5880441" y="2912271"/>
                <a:ext cx="107965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12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151" name="文本框 15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0441" y="2912271"/>
                <a:ext cx="1079655" cy="276999"/>
              </a:xfrm>
              <a:prstGeom prst="rect">
                <a:avLst/>
              </a:prstGeom>
              <a:blipFill rotWithShape="1">
                <a:blip r:embed="rId13"/>
                <a:stretch>
                  <a:fillRect l="-32" t="-58" r="-3307" b="10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2" name="文本框 151"/>
              <p:cNvSpPr txBox="1"/>
              <p:nvPr/>
            </p:nvSpPr>
            <p:spPr>
              <a:xfrm>
                <a:off x="4185552" y="4731215"/>
                <a:ext cx="95141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152" name="文本框 15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85552" y="4731215"/>
                <a:ext cx="951414" cy="276999"/>
              </a:xfrm>
              <a:prstGeom prst="rect">
                <a:avLst/>
              </a:prstGeom>
              <a:blipFill rotWithShape="1">
                <a:blip r:embed="rId14"/>
                <a:stretch>
                  <a:fillRect l="-28" t="-168" r="-3890" b="21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53" name="图片 152"/>
          <p:cNvPicPr>
            <a:picLocks noChangeAspect="1"/>
          </p:cNvPicPr>
          <p:nvPr/>
        </p:nvPicPr>
        <p:blipFill rotWithShape="1"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557" t="446" r="27557" b="52305"/>
          <a:stretch>
            <a:fillRect/>
          </a:stretch>
        </p:blipFill>
        <p:spPr>
          <a:xfrm>
            <a:off x="3974931" y="2396380"/>
            <a:ext cx="512896" cy="553388"/>
          </a:xfrm>
          <a:prstGeom prst="ellipse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54" name="文本框 153"/>
              <p:cNvSpPr txBox="1"/>
              <p:nvPr/>
            </p:nvSpPr>
            <p:spPr>
              <a:xfrm>
                <a:off x="3647521" y="2982545"/>
                <a:ext cx="95141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154" name="文本框 15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47521" y="2982545"/>
                <a:ext cx="951414" cy="276999"/>
              </a:xfrm>
              <a:prstGeom prst="rect">
                <a:avLst/>
              </a:prstGeom>
              <a:blipFill rotWithShape="1">
                <a:blip r:embed="rId16"/>
                <a:stretch>
                  <a:fillRect l="-9" t="-211" r="-3910" b="3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5" name="椭圆 154"/>
          <p:cNvSpPr/>
          <p:nvPr/>
        </p:nvSpPr>
        <p:spPr>
          <a:xfrm>
            <a:off x="4481258" y="1523434"/>
            <a:ext cx="534622" cy="534622"/>
          </a:xfrm>
          <a:prstGeom prst="ellipse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6" name="椭圆 155"/>
          <p:cNvSpPr/>
          <p:nvPr/>
        </p:nvSpPr>
        <p:spPr>
          <a:xfrm>
            <a:off x="2762586" y="4502111"/>
            <a:ext cx="550756" cy="550756"/>
          </a:xfrm>
          <a:prstGeom prst="ellipse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7" name="椭圆 156"/>
          <p:cNvSpPr/>
          <p:nvPr/>
        </p:nvSpPr>
        <p:spPr>
          <a:xfrm>
            <a:off x="1754877" y="4656928"/>
            <a:ext cx="616462" cy="646352"/>
          </a:xfrm>
          <a:prstGeom prst="ellipse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8" name="椭圆 157"/>
          <p:cNvSpPr/>
          <p:nvPr/>
        </p:nvSpPr>
        <p:spPr>
          <a:xfrm>
            <a:off x="6078691" y="2276872"/>
            <a:ext cx="513321" cy="522157"/>
          </a:xfrm>
          <a:prstGeom prst="ellipse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9" name="椭圆 158"/>
          <p:cNvSpPr/>
          <p:nvPr/>
        </p:nvSpPr>
        <p:spPr>
          <a:xfrm>
            <a:off x="3976995" y="2395448"/>
            <a:ext cx="534622" cy="534622"/>
          </a:xfrm>
          <a:prstGeom prst="ellipse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0" name="椭圆 159"/>
          <p:cNvSpPr/>
          <p:nvPr/>
        </p:nvSpPr>
        <p:spPr>
          <a:xfrm>
            <a:off x="2184467" y="2988881"/>
            <a:ext cx="571208" cy="597884"/>
          </a:xfrm>
          <a:prstGeom prst="ellipse">
            <a:avLst/>
          </a:prstGeom>
          <a:noFill/>
          <a:ln>
            <a:solidFill>
              <a:schemeClr val="bg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1" name="椭圆 160"/>
          <p:cNvSpPr/>
          <p:nvPr/>
        </p:nvSpPr>
        <p:spPr>
          <a:xfrm>
            <a:off x="2828923" y="3338300"/>
            <a:ext cx="536824" cy="536824"/>
          </a:xfrm>
          <a:prstGeom prst="ellipse">
            <a:avLst/>
          </a:prstGeom>
          <a:noFill/>
          <a:ln>
            <a:solidFill>
              <a:schemeClr val="bg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2" name="椭圆 161"/>
          <p:cNvSpPr/>
          <p:nvPr/>
        </p:nvSpPr>
        <p:spPr>
          <a:xfrm>
            <a:off x="3698500" y="4290816"/>
            <a:ext cx="549761" cy="556639"/>
          </a:xfrm>
          <a:prstGeom prst="ellipse">
            <a:avLst/>
          </a:prstGeom>
          <a:noFill/>
          <a:ln>
            <a:solidFill>
              <a:schemeClr val="bg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3" name="文本框 162"/>
              <p:cNvSpPr txBox="1"/>
              <p:nvPr/>
            </p:nvSpPr>
            <p:spPr>
              <a:xfrm>
                <a:off x="4093424" y="3376214"/>
                <a:ext cx="842475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CN" sz="160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6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7</m:t>
                          </m:r>
                          <m:r>
                            <a:rPr lang="en-US" altLang="zh-CN" sz="16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altLang="zh-CN" sz="16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  <m:r>
                            <a:rPr lang="en-US" altLang="zh-CN" sz="16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CN" sz="16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  <m:r>
                            <a:rPr lang="en-US" altLang="zh-CN" sz="16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altLang="zh-CN" sz="16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</m:oMath>
                  </m:oMathPara>
                </a14:m>
                <a:endParaRPr lang="zh-CN" altLang="en-US" sz="1600" dirty="0">
                  <a:solidFill>
                    <a:srgbClr val="00B0F0"/>
                  </a:solidFill>
                </a:endParaRPr>
              </a:p>
            </p:txBody>
          </p:sp>
        </mc:Choice>
        <mc:Fallback>
          <p:sp>
            <p:nvSpPr>
              <p:cNvPr id="163" name="文本框 16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93424" y="3376214"/>
                <a:ext cx="842475" cy="246221"/>
              </a:xfrm>
              <a:prstGeom prst="rect">
                <a:avLst/>
              </a:prstGeom>
              <a:blipFill rotWithShape="1">
                <a:blip r:embed="rId17"/>
                <a:stretch>
                  <a:fillRect l="-25" t="-225" r="-4140" b="16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5" name="文本框 164"/>
              <p:cNvSpPr txBox="1"/>
              <p:nvPr/>
            </p:nvSpPr>
            <p:spPr>
              <a:xfrm>
                <a:off x="3885166" y="2035408"/>
                <a:ext cx="842475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CN" sz="160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6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8</m:t>
                          </m:r>
                          <m:r>
                            <a:rPr lang="en-US" altLang="zh-CN" sz="16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altLang="zh-CN" sz="16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altLang="zh-CN" sz="16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CN" sz="16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9</m:t>
                          </m:r>
                          <m:r>
                            <a:rPr lang="en-US" altLang="zh-CN" sz="16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altLang="zh-CN" sz="16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zh-CN" altLang="en-US" sz="1600" dirty="0">
                  <a:solidFill>
                    <a:srgbClr val="FFFF00"/>
                  </a:solidFill>
                </a:endParaRPr>
              </a:p>
            </p:txBody>
          </p:sp>
        </mc:Choice>
        <mc:Fallback>
          <p:sp>
            <p:nvSpPr>
              <p:cNvPr id="165" name="文本框 16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85166" y="2035408"/>
                <a:ext cx="842475" cy="246221"/>
              </a:xfrm>
              <a:prstGeom prst="rect">
                <a:avLst/>
              </a:prstGeom>
              <a:blipFill rotWithShape="1">
                <a:blip r:embed="rId18"/>
                <a:stretch>
                  <a:fillRect l="-28" t="-95" r="-4138" b="3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8" name="任意多边形 67"/>
          <p:cNvSpPr/>
          <p:nvPr/>
        </p:nvSpPr>
        <p:spPr>
          <a:xfrm>
            <a:off x="3708400" y="1193800"/>
            <a:ext cx="3403600" cy="1866900"/>
          </a:xfrm>
          <a:custGeom>
            <a:avLst/>
            <a:gdLst>
              <a:gd name="connsiteX0" fmla="*/ 241300 w 3403600"/>
              <a:gd name="connsiteY0" fmla="*/ 88900 h 1866900"/>
              <a:gd name="connsiteX1" fmla="*/ 825500 w 3403600"/>
              <a:gd name="connsiteY1" fmla="*/ 0 h 1866900"/>
              <a:gd name="connsiteX2" fmla="*/ 1562100 w 3403600"/>
              <a:gd name="connsiteY2" fmla="*/ 266700 h 1866900"/>
              <a:gd name="connsiteX3" fmla="*/ 2146300 w 3403600"/>
              <a:gd name="connsiteY3" fmla="*/ 546100 h 1866900"/>
              <a:gd name="connsiteX4" fmla="*/ 2959100 w 3403600"/>
              <a:gd name="connsiteY4" fmla="*/ 901700 h 1866900"/>
              <a:gd name="connsiteX5" fmla="*/ 3403600 w 3403600"/>
              <a:gd name="connsiteY5" fmla="*/ 1371600 h 1866900"/>
              <a:gd name="connsiteX6" fmla="*/ 3289300 w 3403600"/>
              <a:gd name="connsiteY6" fmla="*/ 1765300 h 1866900"/>
              <a:gd name="connsiteX7" fmla="*/ 2768600 w 3403600"/>
              <a:gd name="connsiteY7" fmla="*/ 1866900 h 1866900"/>
              <a:gd name="connsiteX8" fmla="*/ 2057400 w 3403600"/>
              <a:gd name="connsiteY8" fmla="*/ 1701800 h 1866900"/>
              <a:gd name="connsiteX9" fmla="*/ 1397000 w 3403600"/>
              <a:gd name="connsiteY9" fmla="*/ 1473200 h 1866900"/>
              <a:gd name="connsiteX10" fmla="*/ 647700 w 3403600"/>
              <a:gd name="connsiteY10" fmla="*/ 1155700 h 1866900"/>
              <a:gd name="connsiteX11" fmla="*/ 228600 w 3403600"/>
              <a:gd name="connsiteY11" fmla="*/ 838200 h 1866900"/>
              <a:gd name="connsiteX12" fmla="*/ 0 w 3403600"/>
              <a:gd name="connsiteY12" fmla="*/ 508000 h 1866900"/>
              <a:gd name="connsiteX13" fmla="*/ 241300 w 3403600"/>
              <a:gd name="connsiteY13" fmla="*/ 88900 h 1866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3403600" h="1866900">
                <a:moveTo>
                  <a:pt x="241300" y="88900"/>
                </a:moveTo>
                <a:lnTo>
                  <a:pt x="825500" y="0"/>
                </a:lnTo>
                <a:lnTo>
                  <a:pt x="1562100" y="266700"/>
                </a:lnTo>
                <a:lnTo>
                  <a:pt x="2146300" y="546100"/>
                </a:lnTo>
                <a:lnTo>
                  <a:pt x="2959100" y="901700"/>
                </a:lnTo>
                <a:lnTo>
                  <a:pt x="3403600" y="1371600"/>
                </a:lnTo>
                <a:lnTo>
                  <a:pt x="3289300" y="1765300"/>
                </a:lnTo>
                <a:lnTo>
                  <a:pt x="2768600" y="1866900"/>
                </a:lnTo>
                <a:lnTo>
                  <a:pt x="2057400" y="1701800"/>
                </a:lnTo>
                <a:lnTo>
                  <a:pt x="1397000" y="1473200"/>
                </a:lnTo>
                <a:lnTo>
                  <a:pt x="647700" y="1155700"/>
                </a:lnTo>
                <a:lnTo>
                  <a:pt x="228600" y="838200"/>
                </a:lnTo>
                <a:lnTo>
                  <a:pt x="0" y="508000"/>
                </a:lnTo>
                <a:lnTo>
                  <a:pt x="241300" y="88900"/>
                </a:lnTo>
                <a:close/>
              </a:path>
            </a:pathLst>
          </a:custGeom>
          <a:noFill/>
          <a:ln w="38100">
            <a:solidFill>
              <a:srgbClr val="FFFF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 b="1" dirty="0"/>
          </a:p>
        </p:txBody>
      </p:sp>
      <p:sp>
        <p:nvSpPr>
          <p:cNvPr id="69" name="任意多边形 68"/>
          <p:cNvSpPr/>
          <p:nvPr/>
        </p:nvSpPr>
        <p:spPr>
          <a:xfrm>
            <a:off x="1511300" y="2137038"/>
            <a:ext cx="3625666" cy="3527162"/>
          </a:xfrm>
          <a:custGeom>
            <a:avLst/>
            <a:gdLst>
              <a:gd name="connsiteX0" fmla="*/ 1930400 w 3454400"/>
              <a:gd name="connsiteY0" fmla="*/ 0 h 3454400"/>
              <a:gd name="connsiteX1" fmla="*/ 571500 w 3454400"/>
              <a:gd name="connsiteY1" fmla="*/ 584200 h 3454400"/>
              <a:gd name="connsiteX2" fmla="*/ 304800 w 3454400"/>
              <a:gd name="connsiteY2" fmla="*/ 1143000 h 3454400"/>
              <a:gd name="connsiteX3" fmla="*/ 38100 w 3454400"/>
              <a:gd name="connsiteY3" fmla="*/ 2006600 h 3454400"/>
              <a:gd name="connsiteX4" fmla="*/ 0 w 3454400"/>
              <a:gd name="connsiteY4" fmla="*/ 2730500 h 3454400"/>
              <a:gd name="connsiteX5" fmla="*/ 266700 w 3454400"/>
              <a:gd name="connsiteY5" fmla="*/ 3454400 h 3454400"/>
              <a:gd name="connsiteX6" fmla="*/ 1790700 w 3454400"/>
              <a:gd name="connsiteY6" fmla="*/ 3238500 h 3454400"/>
              <a:gd name="connsiteX7" fmla="*/ 2997200 w 3454400"/>
              <a:gd name="connsiteY7" fmla="*/ 2882900 h 3454400"/>
              <a:gd name="connsiteX8" fmla="*/ 3454400 w 3454400"/>
              <a:gd name="connsiteY8" fmla="*/ 2273300 h 3454400"/>
              <a:gd name="connsiteX9" fmla="*/ 3200400 w 3454400"/>
              <a:gd name="connsiteY9" fmla="*/ 1333500 h 3454400"/>
              <a:gd name="connsiteX10" fmla="*/ 2984500 w 3454400"/>
              <a:gd name="connsiteY10" fmla="*/ 482600 h 3454400"/>
              <a:gd name="connsiteX11" fmla="*/ 2565400 w 3454400"/>
              <a:gd name="connsiteY11" fmla="*/ 88900 h 3454400"/>
              <a:gd name="connsiteX12" fmla="*/ 1930400 w 3454400"/>
              <a:gd name="connsiteY12" fmla="*/ 0 h 3454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454400" h="3454400">
                <a:moveTo>
                  <a:pt x="1930400" y="0"/>
                </a:moveTo>
                <a:lnTo>
                  <a:pt x="571500" y="584200"/>
                </a:lnTo>
                <a:lnTo>
                  <a:pt x="304800" y="1143000"/>
                </a:lnTo>
                <a:lnTo>
                  <a:pt x="38100" y="2006600"/>
                </a:lnTo>
                <a:lnTo>
                  <a:pt x="0" y="2730500"/>
                </a:lnTo>
                <a:lnTo>
                  <a:pt x="266700" y="3454400"/>
                </a:lnTo>
                <a:lnTo>
                  <a:pt x="1790700" y="3238500"/>
                </a:lnTo>
                <a:lnTo>
                  <a:pt x="2997200" y="2882900"/>
                </a:lnTo>
                <a:lnTo>
                  <a:pt x="3454400" y="2273300"/>
                </a:lnTo>
                <a:lnTo>
                  <a:pt x="3200400" y="1333500"/>
                </a:lnTo>
                <a:lnTo>
                  <a:pt x="2984500" y="482600"/>
                </a:lnTo>
                <a:lnTo>
                  <a:pt x="2565400" y="88900"/>
                </a:lnTo>
                <a:lnTo>
                  <a:pt x="1930400" y="0"/>
                </a:lnTo>
                <a:close/>
              </a:path>
            </a:pathLst>
          </a:custGeom>
          <a:noFill/>
          <a:ln>
            <a:solidFill>
              <a:srgbClr val="00B0F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 b="1" dirty="0"/>
          </a:p>
        </p:txBody>
      </p:sp>
      <p:sp>
        <p:nvSpPr>
          <p:cNvPr id="166" name="椭圆 165"/>
          <p:cNvSpPr/>
          <p:nvPr/>
        </p:nvSpPr>
        <p:spPr>
          <a:xfrm>
            <a:off x="5345047" y="2031884"/>
            <a:ext cx="312329" cy="312329"/>
          </a:xfrm>
          <a:prstGeom prst="ellipse">
            <a:avLst/>
          </a:prstGeom>
          <a:solidFill>
            <a:srgbClr val="FFFF00"/>
          </a:solidFill>
          <a:ln w="57150">
            <a:solidFill>
              <a:srgbClr val="FF818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7" name="椭圆 166"/>
          <p:cNvSpPr/>
          <p:nvPr/>
        </p:nvSpPr>
        <p:spPr>
          <a:xfrm>
            <a:off x="3092931" y="3836751"/>
            <a:ext cx="312329" cy="312329"/>
          </a:xfrm>
          <a:prstGeom prst="ellipse">
            <a:avLst/>
          </a:prstGeom>
          <a:solidFill>
            <a:srgbClr val="00B0F0"/>
          </a:solidFill>
          <a:ln w="57150">
            <a:solidFill>
              <a:srgbClr val="FF818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8" name="文本框 167"/>
              <p:cNvSpPr txBox="1"/>
              <p:nvPr/>
            </p:nvSpPr>
            <p:spPr>
              <a:xfrm>
                <a:off x="4943057" y="2453982"/>
                <a:ext cx="1183914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CN" sz="1600" i="1" smtClean="0">
                              <a:solidFill>
                                <a:srgbClr val="FF818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600" b="0" i="1" smtClean="0">
                              <a:solidFill>
                                <a:srgbClr val="FF8181"/>
                              </a:solidFill>
                              <a:latin typeface="Cambria Math" panose="02040503050406030204" pitchFamily="18" charset="0"/>
                            </a:rPr>
                            <m:t>10</m:t>
                          </m:r>
                          <m:r>
                            <a:rPr lang="en-US" altLang="zh-CN" sz="1600" b="0" i="1" smtClean="0">
                              <a:solidFill>
                                <a:srgbClr val="FF8181"/>
                              </a:solidFill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altLang="zh-CN" sz="1600" b="0" i="1" smtClean="0">
                              <a:solidFill>
                                <a:srgbClr val="FF8181"/>
                              </a:solidFill>
                              <a:latin typeface="Cambria Math" panose="02040503050406030204" pitchFamily="18" charset="0"/>
                            </a:rPr>
                            <m:t>35</m:t>
                          </m:r>
                          <m:r>
                            <a:rPr lang="en-US" altLang="zh-CN" sz="1600" b="0" i="1" smtClean="0">
                              <a:solidFill>
                                <a:srgbClr val="FF8181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CN" sz="1600" b="0" i="1" smtClean="0">
                              <a:solidFill>
                                <a:srgbClr val="FF8181"/>
                              </a:solidFill>
                              <a:latin typeface="Cambria Math" panose="02040503050406030204" pitchFamily="18" charset="0"/>
                            </a:rPr>
                            <m:t>8</m:t>
                          </m:r>
                          <m:r>
                            <a:rPr lang="en-US" altLang="zh-CN" sz="1600" b="0" i="1" smtClean="0">
                              <a:solidFill>
                                <a:srgbClr val="FF8181"/>
                              </a:solidFill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altLang="zh-CN" sz="1600" b="0" i="1" smtClean="0">
                              <a:solidFill>
                                <a:srgbClr val="FF8181"/>
                              </a:solidFill>
                              <a:latin typeface="Cambria Math" panose="02040503050406030204" pitchFamily="18" charset="0"/>
                            </a:rPr>
                            <m:t>25</m:t>
                          </m:r>
                        </m:e>
                      </m:d>
                    </m:oMath>
                  </m:oMathPara>
                </a14:m>
                <a:endParaRPr lang="zh-CN" altLang="en-US" sz="1600" dirty="0">
                  <a:solidFill>
                    <a:srgbClr val="FF8181"/>
                  </a:solidFill>
                </a:endParaRPr>
              </a:p>
            </p:txBody>
          </p:sp>
        </mc:Choice>
        <mc:Fallback>
          <p:sp>
            <p:nvSpPr>
              <p:cNvPr id="168" name="文本框 16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43057" y="2453982"/>
                <a:ext cx="1183914" cy="246221"/>
              </a:xfrm>
              <a:prstGeom prst="rect">
                <a:avLst/>
              </a:prstGeom>
              <a:blipFill rotWithShape="1">
                <a:blip r:embed="rId19"/>
                <a:stretch>
                  <a:fillRect l="-18" t="-139" r="-2748" b="7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9" name="文本框 168"/>
              <p:cNvSpPr txBox="1"/>
              <p:nvPr/>
            </p:nvSpPr>
            <p:spPr>
              <a:xfrm>
                <a:off x="3411157" y="3802161"/>
                <a:ext cx="956287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CN" sz="1600" i="1" smtClean="0">
                              <a:solidFill>
                                <a:srgbClr val="FF818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600" b="0" i="1" smtClean="0">
                              <a:solidFill>
                                <a:srgbClr val="FF8181"/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  <m:r>
                            <a:rPr lang="en-US" altLang="zh-CN" sz="1600" b="0" i="1" smtClean="0">
                              <a:solidFill>
                                <a:srgbClr val="FF8181"/>
                              </a:solidFill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altLang="zh-CN" sz="1600" b="0" i="1" smtClean="0">
                              <a:solidFill>
                                <a:srgbClr val="FF818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zh-CN" sz="1600" b="0" i="1" smtClean="0">
                              <a:solidFill>
                                <a:srgbClr val="FF8181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CN" sz="1600" b="0" i="1" smtClean="0">
                              <a:solidFill>
                                <a:srgbClr val="FF8181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  <m:r>
                            <a:rPr lang="en-US" altLang="zh-CN" sz="1600" b="0" i="1" smtClean="0">
                              <a:solidFill>
                                <a:srgbClr val="FF8181"/>
                              </a:solidFill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altLang="zh-CN" sz="1600" b="0" i="1" smtClean="0">
                              <a:solidFill>
                                <a:srgbClr val="FF8181"/>
                              </a:solidFill>
                              <a:latin typeface="Cambria Math" panose="02040503050406030204" pitchFamily="18" charset="0"/>
                            </a:rPr>
                            <m:t>25</m:t>
                          </m:r>
                        </m:e>
                      </m:d>
                    </m:oMath>
                  </m:oMathPara>
                </a14:m>
                <a:endParaRPr lang="zh-CN" altLang="en-US" sz="1600" dirty="0">
                  <a:solidFill>
                    <a:srgbClr val="FF8181"/>
                  </a:solidFill>
                </a:endParaRPr>
              </a:p>
            </p:txBody>
          </p:sp>
        </mc:Choice>
        <mc:Fallback>
          <p:sp>
            <p:nvSpPr>
              <p:cNvPr id="169" name="文本框 16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11157" y="3802161"/>
                <a:ext cx="956287" cy="246221"/>
              </a:xfrm>
              <a:prstGeom prst="rect">
                <a:avLst/>
              </a:prstGeom>
              <a:blipFill rotWithShape="1">
                <a:blip r:embed="rId20"/>
                <a:stretch>
                  <a:fillRect l="-60" t="-169" r="-3528" b="10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8" name="矩形 107"/>
          <p:cNvSpPr/>
          <p:nvPr/>
        </p:nvSpPr>
        <p:spPr>
          <a:xfrm>
            <a:off x="7370575" y="3083078"/>
            <a:ext cx="3735969" cy="1786781"/>
          </a:xfrm>
          <a:prstGeom prst="rect">
            <a:avLst/>
          </a:prstGeom>
          <a:solidFill>
            <a:schemeClr val="tx1">
              <a:lumMod val="50000"/>
            </a:schemeClr>
          </a:solidFill>
        </p:spPr>
        <p:txBody>
          <a:bodyPr wrap="square" rtlCol="0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zh-CN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if 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真实平均能力 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!= 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假定平均能力：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假定平均能力 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= 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真实平均能力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else: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return 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聚类中心，聚类结果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zh-CN" altLang="en-US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9" name="文本框 108"/>
          <p:cNvSpPr txBox="1"/>
          <p:nvPr/>
        </p:nvSpPr>
        <p:spPr>
          <a:xfrm>
            <a:off x="7160283" y="2492896"/>
            <a:ext cx="45219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/>
              <a:t>4</a:t>
            </a:r>
            <a:r>
              <a:rPr lang="zh-CN" altLang="en-US" sz="2000" b="1" dirty="0"/>
              <a:t>、判断聚类是否结束</a:t>
            </a:r>
            <a:endParaRPr lang="zh-CN" altLang="en-US" sz="2000" b="1" dirty="0"/>
          </a:p>
        </p:txBody>
      </p:sp>
      <p:sp>
        <p:nvSpPr>
          <p:cNvPr id="164" name="椭圆 163"/>
          <p:cNvSpPr/>
          <p:nvPr/>
        </p:nvSpPr>
        <p:spPr>
          <a:xfrm>
            <a:off x="4007688" y="1650382"/>
            <a:ext cx="312329" cy="312329"/>
          </a:xfrm>
          <a:prstGeom prst="ellipse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2" name="椭圆 121"/>
          <p:cNvSpPr/>
          <p:nvPr/>
        </p:nvSpPr>
        <p:spPr>
          <a:xfrm>
            <a:off x="3863752" y="3140968"/>
            <a:ext cx="312329" cy="312329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5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5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" dur="5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" dur="5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2" dur="5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5" dur="5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8" dur="5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1" dur="50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4" dur="50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7" dur="5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0" dur="5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3" dur="5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6" dur="50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9" dur="5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2" dur="50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5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8" dur="5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1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2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6" grpId="0"/>
      <p:bldP spid="147" grpId="0"/>
      <p:bldP spid="148" grpId="0"/>
      <p:bldP spid="149" grpId="0"/>
      <p:bldP spid="150" grpId="0"/>
      <p:bldP spid="151" grpId="0"/>
      <p:bldP spid="152" grpId="0"/>
      <p:bldP spid="154" grpId="0"/>
      <p:bldP spid="155" grpId="0" animBg="1"/>
      <p:bldP spid="156" grpId="0" animBg="1"/>
      <p:bldP spid="157" grpId="0" animBg="1"/>
      <p:bldP spid="158" grpId="0" animBg="1"/>
      <p:bldP spid="159" grpId="0" animBg="1"/>
      <p:bldP spid="160" grpId="0" animBg="1"/>
      <p:bldP spid="161" grpId="0" animBg="1"/>
      <p:bldP spid="162" grpId="0" animBg="1"/>
      <p:bldP spid="68" grpId="0" animBg="1"/>
      <p:bldP spid="69" grpId="0" animBg="1"/>
      <p:bldP spid="108" grpId="0" animBg="1"/>
      <p:bldP spid="109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627149" y="6093296"/>
            <a:ext cx="7170831" cy="612492"/>
            <a:chOff x="2906758" y="6323422"/>
            <a:chExt cx="7170831" cy="612492"/>
          </a:xfrm>
        </p:grpSpPr>
        <p:cxnSp>
          <p:nvCxnSpPr>
            <p:cNvPr id="5" name="直接箭头连接符 4"/>
            <p:cNvCxnSpPr/>
            <p:nvPr/>
          </p:nvCxnSpPr>
          <p:spPr>
            <a:xfrm>
              <a:off x="2906758" y="6494231"/>
              <a:ext cx="6476963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直接连接符 5"/>
            <p:cNvCxnSpPr/>
            <p:nvPr/>
          </p:nvCxnSpPr>
          <p:spPr>
            <a:xfrm>
              <a:off x="3647728" y="6323423"/>
              <a:ext cx="0" cy="170808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直接连接符 6"/>
            <p:cNvCxnSpPr/>
            <p:nvPr/>
          </p:nvCxnSpPr>
          <p:spPr>
            <a:xfrm>
              <a:off x="4223792" y="6323423"/>
              <a:ext cx="0" cy="170808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直接连接符 7"/>
            <p:cNvCxnSpPr/>
            <p:nvPr/>
          </p:nvCxnSpPr>
          <p:spPr>
            <a:xfrm>
              <a:off x="4799856" y="6323423"/>
              <a:ext cx="0" cy="170808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直接连接符 8"/>
            <p:cNvCxnSpPr/>
            <p:nvPr/>
          </p:nvCxnSpPr>
          <p:spPr>
            <a:xfrm>
              <a:off x="5375920" y="6323422"/>
              <a:ext cx="0" cy="170808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直接连接符 9"/>
            <p:cNvCxnSpPr/>
            <p:nvPr/>
          </p:nvCxnSpPr>
          <p:spPr>
            <a:xfrm>
              <a:off x="5951984" y="6323422"/>
              <a:ext cx="0" cy="170808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直接连接符 10"/>
            <p:cNvCxnSpPr/>
            <p:nvPr/>
          </p:nvCxnSpPr>
          <p:spPr>
            <a:xfrm>
              <a:off x="6528048" y="6323422"/>
              <a:ext cx="0" cy="170808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接连接符 11"/>
            <p:cNvCxnSpPr/>
            <p:nvPr/>
          </p:nvCxnSpPr>
          <p:spPr>
            <a:xfrm>
              <a:off x="7151473" y="6323422"/>
              <a:ext cx="0" cy="170808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接连接符 12"/>
            <p:cNvCxnSpPr/>
            <p:nvPr/>
          </p:nvCxnSpPr>
          <p:spPr>
            <a:xfrm>
              <a:off x="7655529" y="6323422"/>
              <a:ext cx="0" cy="170808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/>
            <p:nvPr/>
          </p:nvCxnSpPr>
          <p:spPr>
            <a:xfrm>
              <a:off x="8159585" y="6323422"/>
              <a:ext cx="0" cy="170808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连接符 14"/>
            <p:cNvCxnSpPr/>
            <p:nvPr/>
          </p:nvCxnSpPr>
          <p:spPr>
            <a:xfrm>
              <a:off x="8688288" y="6323422"/>
              <a:ext cx="0" cy="170808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文本框 15"/>
            <p:cNvSpPr txBox="1"/>
            <p:nvPr/>
          </p:nvSpPr>
          <p:spPr>
            <a:xfrm>
              <a:off x="9044797" y="6566582"/>
              <a:ext cx="103279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b="1" dirty="0"/>
                <a:t>篮板</a:t>
              </a:r>
              <a:endParaRPr lang="zh-CN" altLang="en-US" b="1" dirty="0"/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3494872" y="6478899"/>
              <a:ext cx="32501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/>
                <a:t>3</a:t>
              </a:r>
              <a:endParaRPr lang="zh-CN" altLang="en-US" b="1" dirty="0"/>
            </a:p>
          </p:txBody>
        </p:sp>
        <p:sp>
          <p:nvSpPr>
            <p:cNvPr id="18" name="文本框 17"/>
            <p:cNvSpPr txBox="1"/>
            <p:nvPr/>
          </p:nvSpPr>
          <p:spPr>
            <a:xfrm>
              <a:off x="4055127" y="6470969"/>
              <a:ext cx="32501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/>
                <a:t>4</a:t>
              </a:r>
              <a:endParaRPr lang="zh-CN" altLang="en-US" b="1" dirty="0"/>
            </a:p>
          </p:txBody>
        </p:sp>
        <p:sp>
          <p:nvSpPr>
            <p:cNvPr id="19" name="文本框 18"/>
            <p:cNvSpPr txBox="1"/>
            <p:nvPr/>
          </p:nvSpPr>
          <p:spPr>
            <a:xfrm>
              <a:off x="4637956" y="6475151"/>
              <a:ext cx="32501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/>
                <a:t>5</a:t>
              </a:r>
              <a:endParaRPr lang="zh-CN" altLang="en-US" b="1" dirty="0"/>
            </a:p>
          </p:txBody>
        </p:sp>
        <p:sp>
          <p:nvSpPr>
            <p:cNvPr id="20" name="文本框 19"/>
            <p:cNvSpPr txBox="1"/>
            <p:nvPr/>
          </p:nvSpPr>
          <p:spPr>
            <a:xfrm>
              <a:off x="5214019" y="6455987"/>
              <a:ext cx="32501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/>
                <a:t>6</a:t>
              </a:r>
              <a:endParaRPr lang="zh-CN" altLang="en-US" b="1" dirty="0"/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5805891" y="6490296"/>
              <a:ext cx="32501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/>
                <a:t>7</a:t>
              </a:r>
              <a:endParaRPr lang="zh-CN" altLang="en-US" b="1" dirty="0"/>
            </a:p>
          </p:txBody>
        </p:sp>
        <p:sp>
          <p:nvSpPr>
            <p:cNvPr id="22" name="文本框 21"/>
            <p:cNvSpPr txBox="1"/>
            <p:nvPr/>
          </p:nvSpPr>
          <p:spPr>
            <a:xfrm>
              <a:off x="6366146" y="6482366"/>
              <a:ext cx="32501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/>
                <a:t>8</a:t>
              </a:r>
              <a:endParaRPr lang="zh-CN" altLang="en-US" b="1" dirty="0"/>
            </a:p>
          </p:txBody>
        </p:sp>
        <p:sp>
          <p:nvSpPr>
            <p:cNvPr id="23" name="文本框 22"/>
            <p:cNvSpPr txBox="1"/>
            <p:nvPr/>
          </p:nvSpPr>
          <p:spPr>
            <a:xfrm>
              <a:off x="6935416" y="6470969"/>
              <a:ext cx="32501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/>
                <a:t>9</a:t>
              </a:r>
              <a:endParaRPr lang="zh-CN" altLang="en-US" b="1" dirty="0"/>
            </a:p>
          </p:txBody>
        </p:sp>
        <p:sp>
          <p:nvSpPr>
            <p:cNvPr id="24" name="文本框 23"/>
            <p:cNvSpPr txBox="1"/>
            <p:nvPr/>
          </p:nvSpPr>
          <p:spPr>
            <a:xfrm>
              <a:off x="7453348" y="6463754"/>
              <a:ext cx="45365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/>
                <a:t>10</a:t>
              </a:r>
              <a:endParaRPr lang="zh-CN" altLang="en-US" b="1" dirty="0"/>
            </a:p>
          </p:txBody>
        </p:sp>
        <p:sp>
          <p:nvSpPr>
            <p:cNvPr id="25" name="文本框 24"/>
            <p:cNvSpPr txBox="1"/>
            <p:nvPr/>
          </p:nvSpPr>
          <p:spPr>
            <a:xfrm>
              <a:off x="7957762" y="6465598"/>
              <a:ext cx="59584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/>
                <a:t>11</a:t>
              </a:r>
              <a:endParaRPr lang="zh-CN" altLang="en-US" b="1" dirty="0"/>
            </a:p>
          </p:txBody>
        </p:sp>
        <p:sp>
          <p:nvSpPr>
            <p:cNvPr id="26" name="文本框 25"/>
            <p:cNvSpPr txBox="1"/>
            <p:nvPr/>
          </p:nvSpPr>
          <p:spPr>
            <a:xfrm>
              <a:off x="8475527" y="6477979"/>
              <a:ext cx="50741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/>
                <a:t>12</a:t>
              </a:r>
              <a:endParaRPr lang="zh-CN" altLang="en-US" b="1" dirty="0"/>
            </a:p>
          </p:txBody>
        </p:sp>
      </p:grpSp>
      <p:grpSp>
        <p:nvGrpSpPr>
          <p:cNvPr id="34" name="组合 33"/>
          <p:cNvGrpSpPr/>
          <p:nvPr/>
        </p:nvGrpSpPr>
        <p:grpSpPr>
          <a:xfrm>
            <a:off x="194601" y="154638"/>
            <a:ext cx="1131184" cy="6464978"/>
            <a:chOff x="194601" y="154638"/>
            <a:chExt cx="1131184" cy="6464978"/>
          </a:xfrm>
        </p:grpSpPr>
        <p:grpSp>
          <p:nvGrpSpPr>
            <p:cNvPr id="35" name="组合 34"/>
            <p:cNvGrpSpPr/>
            <p:nvPr/>
          </p:nvGrpSpPr>
          <p:grpSpPr>
            <a:xfrm>
              <a:off x="1039064" y="428431"/>
              <a:ext cx="171961" cy="6155366"/>
              <a:chOff x="3287688" y="-597610"/>
              <a:chExt cx="171961" cy="6155366"/>
            </a:xfrm>
          </p:grpSpPr>
          <p:cxnSp>
            <p:nvCxnSpPr>
              <p:cNvPr id="50" name="直接箭头连接符 49"/>
              <p:cNvCxnSpPr/>
              <p:nvPr/>
            </p:nvCxnSpPr>
            <p:spPr>
              <a:xfrm flipV="1">
                <a:off x="3287688" y="-597610"/>
                <a:ext cx="0" cy="6155366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直接连接符 50"/>
              <p:cNvCxnSpPr/>
              <p:nvPr/>
            </p:nvCxnSpPr>
            <p:spPr>
              <a:xfrm>
                <a:off x="3287688" y="3789040"/>
                <a:ext cx="144016" cy="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直接连接符 51"/>
              <p:cNvCxnSpPr/>
              <p:nvPr/>
            </p:nvCxnSpPr>
            <p:spPr>
              <a:xfrm>
                <a:off x="3301841" y="4941168"/>
                <a:ext cx="144016" cy="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直接连接符 52"/>
              <p:cNvCxnSpPr/>
              <p:nvPr/>
            </p:nvCxnSpPr>
            <p:spPr>
              <a:xfrm>
                <a:off x="3301480" y="4365104"/>
                <a:ext cx="144016" cy="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直接连接符 53"/>
              <p:cNvCxnSpPr/>
              <p:nvPr/>
            </p:nvCxnSpPr>
            <p:spPr>
              <a:xfrm>
                <a:off x="3301480" y="764704"/>
                <a:ext cx="144016" cy="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直接连接符 54"/>
              <p:cNvCxnSpPr/>
              <p:nvPr/>
            </p:nvCxnSpPr>
            <p:spPr>
              <a:xfrm>
                <a:off x="3301480" y="3140968"/>
                <a:ext cx="144016" cy="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直接连接符 55"/>
              <p:cNvCxnSpPr/>
              <p:nvPr/>
            </p:nvCxnSpPr>
            <p:spPr>
              <a:xfrm>
                <a:off x="3301480" y="2564904"/>
                <a:ext cx="144016" cy="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直接连接符 56"/>
              <p:cNvCxnSpPr/>
              <p:nvPr/>
            </p:nvCxnSpPr>
            <p:spPr>
              <a:xfrm>
                <a:off x="3315633" y="1916832"/>
                <a:ext cx="144016" cy="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直接连接符 57"/>
              <p:cNvCxnSpPr/>
              <p:nvPr/>
            </p:nvCxnSpPr>
            <p:spPr>
              <a:xfrm>
                <a:off x="3315272" y="1340768"/>
                <a:ext cx="144016" cy="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6" name="文本框 35"/>
            <p:cNvSpPr txBox="1"/>
            <p:nvPr/>
          </p:nvSpPr>
          <p:spPr>
            <a:xfrm>
              <a:off x="627149" y="6250284"/>
              <a:ext cx="44314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i="1" dirty="0"/>
                <a:t>O</a:t>
              </a:r>
              <a:endParaRPr lang="zh-CN" altLang="en-US" b="1" i="1" dirty="0"/>
            </a:p>
          </p:txBody>
        </p:sp>
        <p:sp>
          <p:nvSpPr>
            <p:cNvPr id="37" name="文本框 36"/>
            <p:cNvSpPr txBox="1"/>
            <p:nvPr/>
          </p:nvSpPr>
          <p:spPr>
            <a:xfrm>
              <a:off x="194601" y="154638"/>
              <a:ext cx="6457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b="1" dirty="0"/>
                <a:t>助攻</a:t>
              </a:r>
              <a:endParaRPr lang="zh-CN" altLang="en-US" b="1" dirty="0"/>
            </a:p>
          </p:txBody>
        </p:sp>
        <p:sp>
          <p:nvSpPr>
            <p:cNvPr id="38" name="文本框 37"/>
            <p:cNvSpPr txBox="1"/>
            <p:nvPr/>
          </p:nvSpPr>
          <p:spPr>
            <a:xfrm>
              <a:off x="652062" y="5229200"/>
              <a:ext cx="32501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/>
                <a:t>3</a:t>
              </a:r>
              <a:endParaRPr lang="zh-CN" altLang="en-US" b="1" dirty="0"/>
            </a:p>
          </p:txBody>
        </p:sp>
        <p:sp>
          <p:nvSpPr>
            <p:cNvPr id="39" name="文本框 38"/>
            <p:cNvSpPr txBox="1"/>
            <p:nvPr/>
          </p:nvSpPr>
          <p:spPr>
            <a:xfrm>
              <a:off x="652061" y="4653136"/>
              <a:ext cx="32501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/>
                <a:t>4</a:t>
              </a:r>
              <a:endParaRPr lang="zh-CN" altLang="en-US" b="1" dirty="0"/>
            </a:p>
          </p:txBody>
        </p:sp>
        <p:sp>
          <p:nvSpPr>
            <p:cNvPr id="40" name="文本框 39"/>
            <p:cNvSpPr txBox="1"/>
            <p:nvPr/>
          </p:nvSpPr>
          <p:spPr>
            <a:xfrm>
              <a:off x="649015" y="4005064"/>
              <a:ext cx="32501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/>
                <a:t>5</a:t>
              </a:r>
              <a:endParaRPr lang="zh-CN" altLang="en-US" b="1" dirty="0"/>
            </a:p>
          </p:txBody>
        </p:sp>
        <p:sp>
          <p:nvSpPr>
            <p:cNvPr id="41" name="文本框 40"/>
            <p:cNvSpPr txBox="1"/>
            <p:nvPr/>
          </p:nvSpPr>
          <p:spPr>
            <a:xfrm>
              <a:off x="653553" y="3429000"/>
              <a:ext cx="32501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/>
                <a:t>6</a:t>
              </a:r>
              <a:endParaRPr lang="zh-CN" altLang="en-US" b="1" dirty="0"/>
            </a:p>
          </p:txBody>
        </p:sp>
        <p:sp>
          <p:nvSpPr>
            <p:cNvPr id="42" name="文本框 41"/>
            <p:cNvSpPr txBox="1"/>
            <p:nvPr/>
          </p:nvSpPr>
          <p:spPr>
            <a:xfrm>
              <a:off x="653553" y="2780928"/>
              <a:ext cx="32501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/>
                <a:t>7</a:t>
              </a:r>
              <a:endParaRPr lang="zh-CN" altLang="en-US" b="1" dirty="0"/>
            </a:p>
          </p:txBody>
        </p:sp>
        <p:sp>
          <p:nvSpPr>
            <p:cNvPr id="43" name="文本框 42"/>
            <p:cNvSpPr txBox="1"/>
            <p:nvPr/>
          </p:nvSpPr>
          <p:spPr>
            <a:xfrm>
              <a:off x="670472" y="2232046"/>
              <a:ext cx="32501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/>
                <a:t>8</a:t>
              </a:r>
              <a:endParaRPr lang="zh-CN" altLang="en-US" b="1" dirty="0"/>
            </a:p>
          </p:txBody>
        </p:sp>
        <p:sp>
          <p:nvSpPr>
            <p:cNvPr id="44" name="文本框 43"/>
            <p:cNvSpPr txBox="1"/>
            <p:nvPr/>
          </p:nvSpPr>
          <p:spPr>
            <a:xfrm>
              <a:off x="695400" y="1628800"/>
              <a:ext cx="32501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/>
                <a:t>9</a:t>
              </a:r>
              <a:endParaRPr lang="zh-CN" altLang="en-US" b="1" dirty="0"/>
            </a:p>
          </p:txBody>
        </p:sp>
        <p:sp>
          <p:nvSpPr>
            <p:cNvPr id="45" name="文本框 44"/>
            <p:cNvSpPr txBox="1"/>
            <p:nvPr/>
          </p:nvSpPr>
          <p:spPr>
            <a:xfrm>
              <a:off x="632062" y="1077033"/>
              <a:ext cx="66656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/>
                <a:t>10</a:t>
              </a:r>
              <a:endParaRPr lang="zh-CN" altLang="en-US" b="1" dirty="0"/>
            </a:p>
          </p:txBody>
        </p:sp>
        <p:cxnSp>
          <p:nvCxnSpPr>
            <p:cNvPr id="46" name="直接连接符 45"/>
            <p:cNvCxnSpPr/>
            <p:nvPr/>
          </p:nvCxnSpPr>
          <p:spPr>
            <a:xfrm>
              <a:off x="1053217" y="1210947"/>
              <a:ext cx="144016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直接连接符 46"/>
            <p:cNvCxnSpPr/>
            <p:nvPr/>
          </p:nvCxnSpPr>
          <p:spPr>
            <a:xfrm>
              <a:off x="1052856" y="634883"/>
              <a:ext cx="144016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8" name="文本框 47"/>
            <p:cNvSpPr txBox="1"/>
            <p:nvPr/>
          </p:nvSpPr>
          <p:spPr>
            <a:xfrm>
              <a:off x="659220" y="508731"/>
              <a:ext cx="666565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altLang="zh-CN" b="1" dirty="0"/>
                <a:t>11</a:t>
              </a:r>
              <a:endParaRPr lang="zh-CN" altLang="en-US" b="1" dirty="0"/>
            </a:p>
          </p:txBody>
        </p:sp>
        <p:sp>
          <p:nvSpPr>
            <p:cNvPr id="49" name="文本框 48"/>
            <p:cNvSpPr txBox="1"/>
            <p:nvPr/>
          </p:nvSpPr>
          <p:spPr>
            <a:xfrm>
              <a:off x="645819" y="5802804"/>
              <a:ext cx="32501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/>
                <a:t>2</a:t>
              </a:r>
              <a:endParaRPr lang="zh-CN" altLang="en-US" b="1" dirty="0"/>
            </a:p>
          </p:txBody>
        </p:sp>
      </p:grpSp>
      <p:sp>
        <p:nvSpPr>
          <p:cNvPr id="95" name="文本框 94"/>
          <p:cNvSpPr txBox="1"/>
          <p:nvPr/>
        </p:nvSpPr>
        <p:spPr>
          <a:xfrm>
            <a:off x="7104112" y="916694"/>
            <a:ext cx="41764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/>
              <a:t>1</a:t>
            </a:r>
            <a:r>
              <a:rPr lang="zh-CN" altLang="en-US" sz="2000" b="1" dirty="0"/>
              <a:t>、随机生成两个点</a:t>
            </a:r>
            <a:endParaRPr lang="en-US" altLang="zh-CN" sz="2000" b="1" dirty="0"/>
          </a:p>
        </p:txBody>
      </p:sp>
      <p:sp>
        <p:nvSpPr>
          <p:cNvPr id="96" name="文本框 95"/>
          <p:cNvSpPr txBox="1"/>
          <p:nvPr/>
        </p:nvSpPr>
        <p:spPr>
          <a:xfrm>
            <a:off x="7135033" y="1362039"/>
            <a:ext cx="50569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/>
              <a:t>2</a:t>
            </a:r>
            <a:r>
              <a:rPr lang="zh-CN" altLang="en-US" sz="2000" b="1" dirty="0"/>
              <a:t>、类别划分</a:t>
            </a:r>
            <a:endParaRPr lang="zh-CN" altLang="en-US" sz="2000" b="1" dirty="0"/>
          </a:p>
        </p:txBody>
      </p:sp>
      <p:sp>
        <p:nvSpPr>
          <p:cNvPr id="137" name="文本框 136"/>
          <p:cNvSpPr txBox="1"/>
          <p:nvPr/>
        </p:nvSpPr>
        <p:spPr>
          <a:xfrm>
            <a:off x="7135033" y="1833370"/>
            <a:ext cx="562715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/>
              <a:t>3</a:t>
            </a:r>
            <a:r>
              <a:rPr lang="zh-CN" altLang="en-US" sz="2000" b="1" dirty="0"/>
              <a:t>、分析调整 </a:t>
            </a:r>
            <a:endParaRPr lang="en-US" altLang="zh-CN" sz="2000" b="1" dirty="0"/>
          </a:p>
          <a:p>
            <a:r>
              <a:rPr lang="en-US" altLang="zh-CN" sz="2000" b="1" dirty="0"/>
              <a:t>      — </a:t>
            </a:r>
            <a:r>
              <a:rPr lang="zh-CN" altLang="en-US" sz="2000" b="1" dirty="0"/>
              <a:t>计算每类球员的真实平均能力</a:t>
            </a:r>
            <a:endParaRPr lang="zh-CN" altLang="en-US" sz="2000" b="1" dirty="0"/>
          </a:p>
        </p:txBody>
      </p:sp>
      <p:sp>
        <p:nvSpPr>
          <p:cNvPr id="122" name="椭圆 121"/>
          <p:cNvSpPr/>
          <p:nvPr/>
        </p:nvSpPr>
        <p:spPr>
          <a:xfrm>
            <a:off x="3863752" y="3140968"/>
            <a:ext cx="312329" cy="312329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24" name="图片 123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389" r="21923" b="36428"/>
          <a:stretch>
            <a:fillRect/>
          </a:stretch>
        </p:blipFill>
        <p:spPr>
          <a:xfrm>
            <a:off x="1795275" y="4655088"/>
            <a:ext cx="576064" cy="646030"/>
          </a:xfrm>
          <a:prstGeom prst="ellipse">
            <a:avLst/>
          </a:prstGeom>
        </p:spPr>
      </p:pic>
      <p:pic>
        <p:nvPicPr>
          <p:cNvPr id="127" name="图片 126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130" r="26899" b="47125"/>
          <a:stretch>
            <a:fillRect/>
          </a:stretch>
        </p:blipFill>
        <p:spPr>
          <a:xfrm>
            <a:off x="2752310" y="4512946"/>
            <a:ext cx="576064" cy="534646"/>
          </a:xfrm>
          <a:prstGeom prst="ellipse">
            <a:avLst/>
          </a:prstGeom>
        </p:spPr>
      </p:pic>
      <p:pic>
        <p:nvPicPr>
          <p:cNvPr id="128" name="图片 12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5368" y="4281528"/>
            <a:ext cx="575216" cy="575216"/>
          </a:xfrm>
          <a:prstGeom prst="ellipse">
            <a:avLst/>
          </a:prstGeom>
        </p:spPr>
      </p:pic>
      <p:pic>
        <p:nvPicPr>
          <p:cNvPr id="131" name="图片 130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086" r="19844" b="44050"/>
          <a:stretch>
            <a:fillRect/>
          </a:stretch>
        </p:blipFill>
        <p:spPr>
          <a:xfrm>
            <a:off x="2181979" y="2976164"/>
            <a:ext cx="576064" cy="613708"/>
          </a:xfrm>
          <a:prstGeom prst="ellipse">
            <a:avLst/>
          </a:prstGeom>
        </p:spPr>
      </p:pic>
      <p:pic>
        <p:nvPicPr>
          <p:cNvPr id="132" name="图片 131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045" t="8887" r="22876" b="45424"/>
          <a:stretch>
            <a:fillRect/>
          </a:stretch>
        </p:blipFill>
        <p:spPr>
          <a:xfrm>
            <a:off x="2837178" y="3353288"/>
            <a:ext cx="529020" cy="507760"/>
          </a:xfrm>
          <a:prstGeom prst="ellipse">
            <a:avLst/>
          </a:prstGeom>
        </p:spPr>
      </p:pic>
      <p:pic>
        <p:nvPicPr>
          <p:cNvPr id="144" name="图片 143"/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341" r="20773" b="47362"/>
          <a:stretch>
            <a:fillRect/>
          </a:stretch>
        </p:blipFill>
        <p:spPr>
          <a:xfrm>
            <a:off x="4494919" y="1530038"/>
            <a:ext cx="504057" cy="521415"/>
          </a:xfrm>
          <a:prstGeom prst="ellipse">
            <a:avLst/>
          </a:prstGeom>
        </p:spPr>
      </p:pic>
      <p:pic>
        <p:nvPicPr>
          <p:cNvPr id="145" name="图片 144"/>
          <p:cNvPicPr>
            <a:picLocks noChangeAspect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929" t="-193" r="25178" b="54927"/>
          <a:stretch>
            <a:fillRect/>
          </a:stretch>
        </p:blipFill>
        <p:spPr>
          <a:xfrm>
            <a:off x="6082288" y="2301291"/>
            <a:ext cx="495610" cy="497738"/>
          </a:xfrm>
          <a:prstGeom prst="ellipse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46" name="文本框 145"/>
              <p:cNvSpPr txBox="1"/>
              <p:nvPr/>
            </p:nvSpPr>
            <p:spPr>
              <a:xfrm>
                <a:off x="4651010" y="2100541"/>
                <a:ext cx="95141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9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146" name="文本框 14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51010" y="2100541"/>
                <a:ext cx="951414" cy="276999"/>
              </a:xfrm>
              <a:prstGeom prst="rect">
                <a:avLst/>
              </a:prstGeom>
              <a:blipFill rotWithShape="1">
                <a:blip r:embed="rId8"/>
                <a:stretch>
                  <a:fillRect l="-28" t="-215" r="-3890" b="3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7" name="文本框 146"/>
              <p:cNvSpPr txBox="1"/>
              <p:nvPr/>
            </p:nvSpPr>
            <p:spPr>
              <a:xfrm>
                <a:off x="1624830" y="5388865"/>
                <a:ext cx="95141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147" name="文本框 14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4830" y="5388865"/>
                <a:ext cx="951414" cy="276999"/>
              </a:xfrm>
              <a:prstGeom prst="rect">
                <a:avLst/>
              </a:prstGeom>
              <a:blipFill rotWithShape="1">
                <a:blip r:embed="rId9"/>
                <a:stretch>
                  <a:fillRect l="-53" t="-92" r="-3866" b="14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8" name="文本框 147"/>
              <p:cNvSpPr txBox="1"/>
              <p:nvPr/>
            </p:nvSpPr>
            <p:spPr>
              <a:xfrm>
                <a:off x="2859121" y="5121784"/>
                <a:ext cx="95141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148" name="文本框 14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9121" y="5121784"/>
                <a:ext cx="951414" cy="276999"/>
              </a:xfrm>
              <a:prstGeom prst="rect">
                <a:avLst/>
              </a:prstGeom>
              <a:blipFill rotWithShape="1">
                <a:blip r:embed="rId10"/>
                <a:stretch>
                  <a:fillRect l="-37" t="-184" r="-3882" b="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9" name="文本框 148"/>
              <p:cNvSpPr txBox="1"/>
              <p:nvPr/>
            </p:nvSpPr>
            <p:spPr>
              <a:xfrm>
                <a:off x="3103045" y="3904503"/>
                <a:ext cx="95141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9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149" name="文本框 14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03045" y="3904503"/>
                <a:ext cx="951414" cy="276999"/>
              </a:xfrm>
              <a:prstGeom prst="rect">
                <a:avLst/>
              </a:prstGeom>
              <a:blipFill rotWithShape="1">
                <a:blip r:embed="rId11"/>
                <a:stretch>
                  <a:fillRect l="-46" t="-189" r="-3873" b="1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0" name="文本框 149"/>
              <p:cNvSpPr txBox="1"/>
              <p:nvPr/>
            </p:nvSpPr>
            <p:spPr>
              <a:xfrm>
                <a:off x="1631845" y="3564435"/>
                <a:ext cx="95141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150" name="文本框 14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1845" y="3564435"/>
                <a:ext cx="951414" cy="276999"/>
              </a:xfrm>
              <a:prstGeom prst="rect">
                <a:avLst/>
              </a:prstGeom>
              <a:blipFill rotWithShape="1">
                <a:blip r:embed="rId12"/>
                <a:stretch>
                  <a:fillRect l="-56" t="-65" r="-3863" b="11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1" name="文本框 150"/>
              <p:cNvSpPr txBox="1"/>
              <p:nvPr/>
            </p:nvSpPr>
            <p:spPr>
              <a:xfrm>
                <a:off x="5880441" y="2912271"/>
                <a:ext cx="107965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12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151" name="文本框 15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0441" y="2912271"/>
                <a:ext cx="1079655" cy="276999"/>
              </a:xfrm>
              <a:prstGeom prst="rect">
                <a:avLst/>
              </a:prstGeom>
              <a:blipFill rotWithShape="1">
                <a:blip r:embed="rId13"/>
                <a:stretch>
                  <a:fillRect l="-32" t="-58" r="-3307" b="10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2" name="文本框 151"/>
              <p:cNvSpPr txBox="1"/>
              <p:nvPr/>
            </p:nvSpPr>
            <p:spPr>
              <a:xfrm>
                <a:off x="4185552" y="4731215"/>
                <a:ext cx="95141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152" name="文本框 15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85552" y="4731215"/>
                <a:ext cx="951414" cy="276999"/>
              </a:xfrm>
              <a:prstGeom prst="rect">
                <a:avLst/>
              </a:prstGeom>
              <a:blipFill rotWithShape="1">
                <a:blip r:embed="rId14"/>
                <a:stretch>
                  <a:fillRect l="-28" t="-168" r="-3890" b="21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53" name="图片 152"/>
          <p:cNvPicPr>
            <a:picLocks noChangeAspect="1"/>
          </p:cNvPicPr>
          <p:nvPr/>
        </p:nvPicPr>
        <p:blipFill rotWithShape="1"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557" t="446" r="27557" b="52305"/>
          <a:stretch>
            <a:fillRect/>
          </a:stretch>
        </p:blipFill>
        <p:spPr>
          <a:xfrm>
            <a:off x="3959828" y="2421820"/>
            <a:ext cx="512896" cy="553388"/>
          </a:xfrm>
          <a:prstGeom prst="ellipse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54" name="文本框 153"/>
              <p:cNvSpPr txBox="1"/>
              <p:nvPr/>
            </p:nvSpPr>
            <p:spPr>
              <a:xfrm>
                <a:off x="3632418" y="3007985"/>
                <a:ext cx="95141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154" name="文本框 15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32418" y="3007985"/>
                <a:ext cx="951414" cy="276999"/>
              </a:xfrm>
              <a:prstGeom prst="rect">
                <a:avLst/>
              </a:prstGeom>
              <a:blipFill rotWithShape="1">
                <a:blip r:embed="rId16"/>
                <a:stretch>
                  <a:fillRect l="-23" t="-226" r="-3896" b="4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5" name="椭圆 154"/>
          <p:cNvSpPr/>
          <p:nvPr/>
        </p:nvSpPr>
        <p:spPr>
          <a:xfrm>
            <a:off x="4481258" y="1523434"/>
            <a:ext cx="534622" cy="534622"/>
          </a:xfrm>
          <a:prstGeom prst="ellipse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6" name="椭圆 155"/>
          <p:cNvSpPr/>
          <p:nvPr/>
        </p:nvSpPr>
        <p:spPr>
          <a:xfrm>
            <a:off x="2762586" y="4502111"/>
            <a:ext cx="550756" cy="550756"/>
          </a:xfrm>
          <a:prstGeom prst="ellipse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7" name="椭圆 156"/>
          <p:cNvSpPr/>
          <p:nvPr/>
        </p:nvSpPr>
        <p:spPr>
          <a:xfrm>
            <a:off x="1754877" y="4656928"/>
            <a:ext cx="616462" cy="646352"/>
          </a:xfrm>
          <a:prstGeom prst="ellipse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8" name="椭圆 157"/>
          <p:cNvSpPr/>
          <p:nvPr/>
        </p:nvSpPr>
        <p:spPr>
          <a:xfrm>
            <a:off x="6078691" y="2276872"/>
            <a:ext cx="513321" cy="522157"/>
          </a:xfrm>
          <a:prstGeom prst="ellipse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9" name="椭圆 158"/>
          <p:cNvSpPr/>
          <p:nvPr/>
        </p:nvSpPr>
        <p:spPr>
          <a:xfrm>
            <a:off x="3947340" y="2428091"/>
            <a:ext cx="534622" cy="534622"/>
          </a:xfrm>
          <a:prstGeom prst="ellipse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0" name="椭圆 159"/>
          <p:cNvSpPr/>
          <p:nvPr/>
        </p:nvSpPr>
        <p:spPr>
          <a:xfrm>
            <a:off x="2184467" y="2988881"/>
            <a:ext cx="571208" cy="597884"/>
          </a:xfrm>
          <a:prstGeom prst="ellipse">
            <a:avLst/>
          </a:prstGeom>
          <a:noFill/>
          <a:ln>
            <a:solidFill>
              <a:schemeClr val="bg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1" name="椭圆 160"/>
          <p:cNvSpPr/>
          <p:nvPr/>
        </p:nvSpPr>
        <p:spPr>
          <a:xfrm>
            <a:off x="2828923" y="3338300"/>
            <a:ext cx="536824" cy="536824"/>
          </a:xfrm>
          <a:prstGeom prst="ellipse">
            <a:avLst/>
          </a:prstGeom>
          <a:noFill/>
          <a:ln>
            <a:solidFill>
              <a:schemeClr val="bg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2" name="椭圆 161"/>
          <p:cNvSpPr/>
          <p:nvPr/>
        </p:nvSpPr>
        <p:spPr>
          <a:xfrm>
            <a:off x="3698500" y="4290816"/>
            <a:ext cx="549761" cy="556639"/>
          </a:xfrm>
          <a:prstGeom prst="ellipse">
            <a:avLst/>
          </a:prstGeom>
          <a:noFill/>
          <a:ln>
            <a:solidFill>
              <a:schemeClr val="bg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3" name="文本框 162"/>
              <p:cNvSpPr txBox="1"/>
              <p:nvPr/>
            </p:nvSpPr>
            <p:spPr>
              <a:xfrm>
                <a:off x="4093424" y="3376214"/>
                <a:ext cx="842475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CN" sz="160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6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7</m:t>
                          </m:r>
                          <m:r>
                            <a:rPr lang="en-US" altLang="zh-CN" sz="16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altLang="zh-CN" sz="16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  <m:r>
                            <a:rPr lang="en-US" altLang="zh-CN" sz="16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CN" sz="16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  <m:r>
                            <a:rPr lang="en-US" altLang="zh-CN" sz="16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altLang="zh-CN" sz="16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</m:oMath>
                  </m:oMathPara>
                </a14:m>
                <a:endParaRPr lang="zh-CN" altLang="en-US" sz="1600" dirty="0">
                  <a:solidFill>
                    <a:srgbClr val="00B0F0"/>
                  </a:solidFill>
                </a:endParaRPr>
              </a:p>
            </p:txBody>
          </p:sp>
        </mc:Choice>
        <mc:Fallback>
          <p:sp>
            <p:nvSpPr>
              <p:cNvPr id="163" name="文本框 16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93424" y="3376214"/>
                <a:ext cx="842475" cy="246221"/>
              </a:xfrm>
              <a:prstGeom prst="rect">
                <a:avLst/>
              </a:prstGeom>
              <a:blipFill rotWithShape="1">
                <a:blip r:embed="rId17"/>
                <a:stretch>
                  <a:fillRect l="-25" t="-225" r="-4140" b="16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4" name="椭圆 163"/>
          <p:cNvSpPr/>
          <p:nvPr/>
        </p:nvSpPr>
        <p:spPr>
          <a:xfrm>
            <a:off x="4007688" y="1650382"/>
            <a:ext cx="312329" cy="312329"/>
          </a:xfrm>
          <a:prstGeom prst="ellipse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5" name="文本框 164"/>
              <p:cNvSpPr txBox="1"/>
              <p:nvPr/>
            </p:nvSpPr>
            <p:spPr>
              <a:xfrm>
                <a:off x="3741357" y="1988840"/>
                <a:ext cx="842475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CN" sz="160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6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8</m:t>
                          </m:r>
                          <m:r>
                            <a:rPr lang="en-US" altLang="zh-CN" sz="16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altLang="zh-CN" sz="16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altLang="zh-CN" sz="16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CN" sz="16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9</m:t>
                          </m:r>
                          <m:r>
                            <a:rPr lang="en-US" altLang="zh-CN" sz="16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altLang="zh-CN" sz="16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zh-CN" altLang="en-US" sz="1600" dirty="0">
                  <a:solidFill>
                    <a:srgbClr val="FFFF00"/>
                  </a:solidFill>
                </a:endParaRPr>
              </a:p>
            </p:txBody>
          </p:sp>
        </mc:Choice>
        <mc:Fallback>
          <p:sp>
            <p:nvSpPr>
              <p:cNvPr id="165" name="文本框 16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41357" y="1988840"/>
                <a:ext cx="842475" cy="246221"/>
              </a:xfrm>
              <a:prstGeom prst="rect">
                <a:avLst/>
              </a:prstGeom>
              <a:blipFill rotWithShape="1">
                <a:blip r:embed="rId18"/>
                <a:stretch>
                  <a:fillRect l="-68" t="-8" r="-4098" b="20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6" name="椭圆 165"/>
          <p:cNvSpPr/>
          <p:nvPr/>
        </p:nvSpPr>
        <p:spPr>
          <a:xfrm>
            <a:off x="5345047" y="2031884"/>
            <a:ext cx="312329" cy="312329"/>
          </a:xfrm>
          <a:prstGeom prst="ellipse">
            <a:avLst/>
          </a:prstGeom>
          <a:solidFill>
            <a:srgbClr val="FFFF00"/>
          </a:solidFill>
          <a:ln w="57150">
            <a:solidFill>
              <a:srgbClr val="FF818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7" name="椭圆 166"/>
          <p:cNvSpPr/>
          <p:nvPr/>
        </p:nvSpPr>
        <p:spPr>
          <a:xfrm>
            <a:off x="3092931" y="3836751"/>
            <a:ext cx="312329" cy="312329"/>
          </a:xfrm>
          <a:prstGeom prst="ellipse">
            <a:avLst/>
          </a:prstGeom>
          <a:solidFill>
            <a:srgbClr val="00B0F0"/>
          </a:solidFill>
          <a:ln w="57150">
            <a:solidFill>
              <a:srgbClr val="FF818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8" name="文本框 167"/>
              <p:cNvSpPr txBox="1"/>
              <p:nvPr/>
            </p:nvSpPr>
            <p:spPr>
              <a:xfrm>
                <a:off x="4943057" y="2453982"/>
                <a:ext cx="1183914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CN" sz="1600" i="1" smtClean="0">
                              <a:solidFill>
                                <a:srgbClr val="FF818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600" b="0" i="1" smtClean="0">
                              <a:solidFill>
                                <a:srgbClr val="FF8181"/>
                              </a:solidFill>
                              <a:latin typeface="Cambria Math" panose="02040503050406030204" pitchFamily="18" charset="0"/>
                            </a:rPr>
                            <m:t>10</m:t>
                          </m:r>
                          <m:r>
                            <a:rPr lang="en-US" altLang="zh-CN" sz="1600" b="0" i="1" smtClean="0">
                              <a:solidFill>
                                <a:srgbClr val="FF8181"/>
                              </a:solidFill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altLang="zh-CN" sz="1600" b="0" i="1" smtClean="0">
                              <a:solidFill>
                                <a:srgbClr val="FF8181"/>
                              </a:solidFill>
                              <a:latin typeface="Cambria Math" panose="02040503050406030204" pitchFamily="18" charset="0"/>
                            </a:rPr>
                            <m:t>35</m:t>
                          </m:r>
                          <m:r>
                            <a:rPr lang="en-US" altLang="zh-CN" sz="1600" b="0" i="1" smtClean="0">
                              <a:solidFill>
                                <a:srgbClr val="FF8181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CN" sz="1600" b="0" i="1" smtClean="0">
                              <a:solidFill>
                                <a:srgbClr val="FF8181"/>
                              </a:solidFill>
                              <a:latin typeface="Cambria Math" panose="02040503050406030204" pitchFamily="18" charset="0"/>
                            </a:rPr>
                            <m:t>8</m:t>
                          </m:r>
                          <m:r>
                            <a:rPr lang="en-US" altLang="zh-CN" sz="1600" b="0" i="1" smtClean="0">
                              <a:solidFill>
                                <a:srgbClr val="FF8181"/>
                              </a:solidFill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altLang="zh-CN" sz="1600" b="0" i="1" smtClean="0">
                              <a:solidFill>
                                <a:srgbClr val="FF8181"/>
                              </a:solidFill>
                              <a:latin typeface="Cambria Math" panose="02040503050406030204" pitchFamily="18" charset="0"/>
                            </a:rPr>
                            <m:t>25</m:t>
                          </m:r>
                        </m:e>
                      </m:d>
                    </m:oMath>
                  </m:oMathPara>
                </a14:m>
                <a:endParaRPr lang="zh-CN" altLang="en-US" sz="1600" dirty="0">
                  <a:solidFill>
                    <a:srgbClr val="FF8181"/>
                  </a:solidFill>
                </a:endParaRPr>
              </a:p>
            </p:txBody>
          </p:sp>
        </mc:Choice>
        <mc:Fallback>
          <p:sp>
            <p:nvSpPr>
              <p:cNvPr id="168" name="文本框 16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43057" y="2453982"/>
                <a:ext cx="1183914" cy="246221"/>
              </a:xfrm>
              <a:prstGeom prst="rect">
                <a:avLst/>
              </a:prstGeom>
              <a:blipFill rotWithShape="1">
                <a:blip r:embed="rId19"/>
                <a:stretch>
                  <a:fillRect l="-18" t="-139" r="-2748" b="7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9" name="文本框 168"/>
              <p:cNvSpPr txBox="1"/>
              <p:nvPr/>
            </p:nvSpPr>
            <p:spPr>
              <a:xfrm>
                <a:off x="3411157" y="3802161"/>
                <a:ext cx="956287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CN" sz="1600" i="1" smtClean="0">
                              <a:solidFill>
                                <a:srgbClr val="FF818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600" b="0" i="1" smtClean="0">
                              <a:solidFill>
                                <a:srgbClr val="FF8181"/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  <m:r>
                            <a:rPr lang="en-US" altLang="zh-CN" sz="1600" b="0" i="1" smtClean="0">
                              <a:solidFill>
                                <a:srgbClr val="FF8181"/>
                              </a:solidFill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altLang="zh-CN" sz="1600" b="0" i="1" smtClean="0">
                              <a:solidFill>
                                <a:srgbClr val="FF818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zh-CN" sz="1600" b="0" i="1" smtClean="0">
                              <a:solidFill>
                                <a:srgbClr val="FF8181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CN" sz="1600" b="0" i="1" smtClean="0">
                              <a:solidFill>
                                <a:srgbClr val="FF8181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  <m:r>
                            <a:rPr lang="en-US" altLang="zh-CN" sz="1600" b="0" i="1" smtClean="0">
                              <a:solidFill>
                                <a:srgbClr val="FF8181"/>
                              </a:solidFill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altLang="zh-CN" sz="1600" b="0" i="1" smtClean="0">
                              <a:solidFill>
                                <a:srgbClr val="FF8181"/>
                              </a:solidFill>
                              <a:latin typeface="Cambria Math" panose="02040503050406030204" pitchFamily="18" charset="0"/>
                            </a:rPr>
                            <m:t>25</m:t>
                          </m:r>
                        </m:e>
                      </m:d>
                    </m:oMath>
                  </m:oMathPara>
                </a14:m>
                <a:endParaRPr lang="zh-CN" altLang="en-US" sz="1600" dirty="0">
                  <a:solidFill>
                    <a:srgbClr val="FF8181"/>
                  </a:solidFill>
                </a:endParaRPr>
              </a:p>
            </p:txBody>
          </p:sp>
        </mc:Choice>
        <mc:Fallback>
          <p:sp>
            <p:nvSpPr>
              <p:cNvPr id="169" name="文本框 16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11157" y="3802161"/>
                <a:ext cx="956287" cy="246221"/>
              </a:xfrm>
              <a:prstGeom prst="rect">
                <a:avLst/>
              </a:prstGeom>
              <a:blipFill rotWithShape="1">
                <a:blip r:embed="rId20"/>
                <a:stretch>
                  <a:fillRect l="-60" t="-169" r="-3528" b="10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8" name="矩形 107"/>
          <p:cNvSpPr/>
          <p:nvPr/>
        </p:nvSpPr>
        <p:spPr>
          <a:xfrm>
            <a:off x="7370575" y="3083078"/>
            <a:ext cx="3735969" cy="1786781"/>
          </a:xfrm>
          <a:prstGeom prst="rect">
            <a:avLst/>
          </a:prstGeom>
          <a:solidFill>
            <a:schemeClr val="tx1">
              <a:lumMod val="50000"/>
            </a:schemeClr>
          </a:solidFill>
        </p:spPr>
        <p:txBody>
          <a:bodyPr wrap="square" rtlCol="0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zh-CN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if 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真实平均能力 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!= 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假定平均能力：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假定平均能力 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= 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真实平均能力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else: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return 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聚类中心，聚类结果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zh-CN" altLang="en-US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9" name="文本框 108"/>
          <p:cNvSpPr txBox="1"/>
          <p:nvPr/>
        </p:nvSpPr>
        <p:spPr>
          <a:xfrm>
            <a:off x="7160283" y="2492896"/>
            <a:ext cx="45219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/>
              <a:t>4</a:t>
            </a:r>
            <a:r>
              <a:rPr lang="zh-CN" altLang="en-US" sz="2000" b="1" dirty="0"/>
              <a:t>、判断聚类是否结束</a:t>
            </a:r>
            <a:endParaRPr lang="zh-CN" altLang="en-US" sz="2000" b="1" dirty="0"/>
          </a:p>
        </p:txBody>
      </p:sp>
      <p:sp>
        <p:nvSpPr>
          <p:cNvPr id="89" name="椭圆 88"/>
          <p:cNvSpPr/>
          <p:nvPr/>
        </p:nvSpPr>
        <p:spPr>
          <a:xfrm>
            <a:off x="5341047" y="2035951"/>
            <a:ext cx="312329" cy="312329"/>
          </a:xfrm>
          <a:prstGeom prst="ellipse">
            <a:avLst/>
          </a:prstGeom>
          <a:solidFill>
            <a:srgbClr val="FFFF00"/>
          </a:solidFill>
          <a:ln w="571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0" name="椭圆 89"/>
          <p:cNvSpPr/>
          <p:nvPr/>
        </p:nvSpPr>
        <p:spPr>
          <a:xfrm>
            <a:off x="3092930" y="3836750"/>
            <a:ext cx="312329" cy="312329"/>
          </a:xfrm>
          <a:prstGeom prst="ellipse">
            <a:avLst/>
          </a:prstGeom>
          <a:solidFill>
            <a:srgbClr val="00B0F0"/>
          </a:solidFill>
          <a:ln w="571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1" name="文本框 90"/>
              <p:cNvSpPr txBox="1"/>
              <p:nvPr/>
            </p:nvSpPr>
            <p:spPr>
              <a:xfrm>
                <a:off x="4935899" y="2434282"/>
                <a:ext cx="1183914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CN" sz="160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6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10</m:t>
                          </m:r>
                          <m:r>
                            <a:rPr lang="en-US" altLang="zh-CN" sz="16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altLang="zh-CN" sz="16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35</m:t>
                          </m:r>
                          <m:r>
                            <a:rPr lang="en-US" altLang="zh-CN" sz="16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CN" sz="16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8</m:t>
                          </m:r>
                          <m:r>
                            <a:rPr lang="en-US" altLang="zh-CN" sz="16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altLang="zh-CN" sz="16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25</m:t>
                          </m:r>
                        </m:e>
                      </m:d>
                    </m:oMath>
                  </m:oMathPara>
                </a14:m>
                <a:endParaRPr lang="zh-CN" altLang="en-US" sz="1600" dirty="0">
                  <a:solidFill>
                    <a:srgbClr val="FFFF00"/>
                  </a:solidFill>
                </a:endParaRPr>
              </a:p>
            </p:txBody>
          </p:sp>
        </mc:Choice>
        <mc:Fallback>
          <p:sp>
            <p:nvSpPr>
              <p:cNvPr id="91" name="文本框 9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35899" y="2434282"/>
                <a:ext cx="1183914" cy="246221"/>
              </a:xfrm>
              <a:prstGeom prst="rect">
                <a:avLst/>
              </a:prstGeom>
              <a:blipFill rotWithShape="1">
                <a:blip r:embed="rId21"/>
                <a:stretch>
                  <a:fillRect l="-4" t="-133" r="-2762" b="6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2" name="文本框 91"/>
              <p:cNvSpPr txBox="1"/>
              <p:nvPr/>
            </p:nvSpPr>
            <p:spPr>
              <a:xfrm>
                <a:off x="3411156" y="3802161"/>
                <a:ext cx="956287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CN" sz="160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6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  <m:r>
                            <a:rPr lang="en-US" altLang="zh-CN" sz="16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altLang="zh-CN" sz="16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zh-CN" sz="16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CN" sz="16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  <m:r>
                            <a:rPr lang="en-US" altLang="zh-CN" sz="16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altLang="zh-CN" sz="16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25</m:t>
                          </m:r>
                        </m:e>
                      </m:d>
                    </m:oMath>
                  </m:oMathPara>
                </a14:m>
                <a:endParaRPr lang="zh-CN" altLang="en-US" sz="1600" dirty="0">
                  <a:solidFill>
                    <a:srgbClr val="00B0F0"/>
                  </a:solidFill>
                </a:endParaRPr>
              </a:p>
            </p:txBody>
          </p:sp>
        </mc:Choice>
        <mc:Fallback>
          <p:sp>
            <p:nvSpPr>
              <p:cNvPr id="92" name="文本框 9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11156" y="3802161"/>
                <a:ext cx="956287" cy="246221"/>
              </a:xfrm>
              <a:prstGeom prst="rect">
                <a:avLst/>
              </a:prstGeom>
              <a:blipFill rotWithShape="1">
                <a:blip r:embed="rId22"/>
                <a:stretch>
                  <a:fillRect l="-60" t="-169" r="-3528" b="10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5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3" dur="500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6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9" dur="50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2" dur="500"/>
                                        <p:tgtEl>
                                          <p:spTgt spid="16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5" dur="500"/>
                                        <p:tgtEl>
                                          <p:spTgt spid="16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8" dur="50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0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1" dur="50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4" dur="500"/>
                                        <p:tgtEl>
                                          <p:spTgt spid="16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5" grpId="0"/>
      <p:bldP spid="96" grpId="0"/>
      <p:bldP spid="137" grpId="0"/>
      <p:bldP spid="122" grpId="0" animBg="1"/>
      <p:bldP spid="146" grpId="0"/>
      <p:bldP spid="147" grpId="0"/>
      <p:bldP spid="148" grpId="0"/>
      <p:bldP spid="149" grpId="0"/>
      <p:bldP spid="150" grpId="0"/>
      <p:bldP spid="151" grpId="0"/>
      <p:bldP spid="152" grpId="0"/>
      <p:bldP spid="154" grpId="0"/>
      <p:bldP spid="155" grpId="0" animBg="1"/>
      <p:bldP spid="156" grpId="0" animBg="1"/>
      <p:bldP spid="157" grpId="0" animBg="1"/>
      <p:bldP spid="158" grpId="0" animBg="1"/>
      <p:bldP spid="159" grpId="0" animBg="1"/>
      <p:bldP spid="160" grpId="0" animBg="1"/>
      <p:bldP spid="161" grpId="0" animBg="1"/>
      <p:bldP spid="162" grpId="0" animBg="1"/>
      <p:bldP spid="163" grpId="0"/>
      <p:bldP spid="164" grpId="0" animBg="1"/>
      <p:bldP spid="165" grpId="0"/>
      <p:bldP spid="166" grpId="0" animBg="1"/>
      <p:bldP spid="167" grpId="0" animBg="1"/>
      <p:bldP spid="168" grpId="0"/>
      <p:bldP spid="169" grpId="0"/>
      <p:bldP spid="108" grpId="0" animBg="1"/>
      <p:bldP spid="109" grpId="0"/>
      <p:bldP spid="89" grpId="0" animBg="1"/>
      <p:bldP spid="90" grpId="0" animBg="1"/>
      <p:bldP spid="91" grpId="0"/>
      <p:bldP spid="9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" name="图片 105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557" t="446" r="27557" b="52305"/>
          <a:stretch>
            <a:fillRect/>
          </a:stretch>
        </p:blipFill>
        <p:spPr>
          <a:xfrm>
            <a:off x="3959828" y="2421820"/>
            <a:ext cx="512896" cy="553388"/>
          </a:xfrm>
          <a:prstGeom prst="ellipse">
            <a:avLst/>
          </a:prstGeom>
        </p:spPr>
      </p:pic>
      <p:grpSp>
        <p:nvGrpSpPr>
          <p:cNvPr id="4" name="组合 3"/>
          <p:cNvGrpSpPr/>
          <p:nvPr/>
        </p:nvGrpSpPr>
        <p:grpSpPr>
          <a:xfrm>
            <a:off x="627149" y="6093296"/>
            <a:ext cx="7170831" cy="612492"/>
            <a:chOff x="2906758" y="6323422"/>
            <a:chExt cx="7170831" cy="612492"/>
          </a:xfrm>
        </p:grpSpPr>
        <p:cxnSp>
          <p:nvCxnSpPr>
            <p:cNvPr id="5" name="直接箭头连接符 4"/>
            <p:cNvCxnSpPr/>
            <p:nvPr/>
          </p:nvCxnSpPr>
          <p:spPr>
            <a:xfrm>
              <a:off x="2906758" y="6494231"/>
              <a:ext cx="6476963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直接连接符 5"/>
            <p:cNvCxnSpPr/>
            <p:nvPr/>
          </p:nvCxnSpPr>
          <p:spPr>
            <a:xfrm>
              <a:off x="3647728" y="6323423"/>
              <a:ext cx="0" cy="170808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直接连接符 6"/>
            <p:cNvCxnSpPr/>
            <p:nvPr/>
          </p:nvCxnSpPr>
          <p:spPr>
            <a:xfrm>
              <a:off x="4223792" y="6323423"/>
              <a:ext cx="0" cy="170808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直接连接符 7"/>
            <p:cNvCxnSpPr/>
            <p:nvPr/>
          </p:nvCxnSpPr>
          <p:spPr>
            <a:xfrm>
              <a:off x="4799856" y="6323423"/>
              <a:ext cx="0" cy="170808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直接连接符 8"/>
            <p:cNvCxnSpPr/>
            <p:nvPr/>
          </p:nvCxnSpPr>
          <p:spPr>
            <a:xfrm>
              <a:off x="5375920" y="6323422"/>
              <a:ext cx="0" cy="170808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直接连接符 9"/>
            <p:cNvCxnSpPr/>
            <p:nvPr/>
          </p:nvCxnSpPr>
          <p:spPr>
            <a:xfrm>
              <a:off x="5951984" y="6323422"/>
              <a:ext cx="0" cy="170808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直接连接符 10"/>
            <p:cNvCxnSpPr/>
            <p:nvPr/>
          </p:nvCxnSpPr>
          <p:spPr>
            <a:xfrm>
              <a:off x="6528048" y="6323422"/>
              <a:ext cx="0" cy="170808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接连接符 11"/>
            <p:cNvCxnSpPr/>
            <p:nvPr/>
          </p:nvCxnSpPr>
          <p:spPr>
            <a:xfrm>
              <a:off x="7151473" y="6323422"/>
              <a:ext cx="0" cy="170808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接连接符 12"/>
            <p:cNvCxnSpPr/>
            <p:nvPr/>
          </p:nvCxnSpPr>
          <p:spPr>
            <a:xfrm>
              <a:off x="7655529" y="6323422"/>
              <a:ext cx="0" cy="170808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/>
            <p:nvPr/>
          </p:nvCxnSpPr>
          <p:spPr>
            <a:xfrm>
              <a:off x="8159585" y="6323422"/>
              <a:ext cx="0" cy="170808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连接符 14"/>
            <p:cNvCxnSpPr/>
            <p:nvPr/>
          </p:nvCxnSpPr>
          <p:spPr>
            <a:xfrm>
              <a:off x="8688288" y="6323422"/>
              <a:ext cx="0" cy="170808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文本框 15"/>
            <p:cNvSpPr txBox="1"/>
            <p:nvPr/>
          </p:nvSpPr>
          <p:spPr>
            <a:xfrm>
              <a:off x="9044797" y="6566582"/>
              <a:ext cx="103279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b="1" dirty="0"/>
                <a:t>篮板</a:t>
              </a:r>
              <a:endParaRPr lang="zh-CN" altLang="en-US" b="1" dirty="0"/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3494872" y="6478899"/>
              <a:ext cx="32501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/>
                <a:t>3</a:t>
              </a:r>
              <a:endParaRPr lang="zh-CN" altLang="en-US" b="1" dirty="0"/>
            </a:p>
          </p:txBody>
        </p:sp>
        <p:sp>
          <p:nvSpPr>
            <p:cNvPr id="18" name="文本框 17"/>
            <p:cNvSpPr txBox="1"/>
            <p:nvPr/>
          </p:nvSpPr>
          <p:spPr>
            <a:xfrm>
              <a:off x="4055127" y="6470969"/>
              <a:ext cx="32501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/>
                <a:t>4</a:t>
              </a:r>
              <a:endParaRPr lang="zh-CN" altLang="en-US" b="1" dirty="0"/>
            </a:p>
          </p:txBody>
        </p:sp>
        <p:sp>
          <p:nvSpPr>
            <p:cNvPr id="19" name="文本框 18"/>
            <p:cNvSpPr txBox="1"/>
            <p:nvPr/>
          </p:nvSpPr>
          <p:spPr>
            <a:xfrm>
              <a:off x="4637956" y="6475151"/>
              <a:ext cx="32501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/>
                <a:t>5</a:t>
              </a:r>
              <a:endParaRPr lang="zh-CN" altLang="en-US" b="1" dirty="0"/>
            </a:p>
          </p:txBody>
        </p:sp>
        <p:sp>
          <p:nvSpPr>
            <p:cNvPr id="20" name="文本框 19"/>
            <p:cNvSpPr txBox="1"/>
            <p:nvPr/>
          </p:nvSpPr>
          <p:spPr>
            <a:xfrm>
              <a:off x="5214019" y="6455987"/>
              <a:ext cx="32501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/>
                <a:t>6</a:t>
              </a:r>
              <a:endParaRPr lang="zh-CN" altLang="en-US" b="1" dirty="0"/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5805891" y="6490296"/>
              <a:ext cx="32501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/>
                <a:t>7</a:t>
              </a:r>
              <a:endParaRPr lang="zh-CN" altLang="en-US" b="1" dirty="0"/>
            </a:p>
          </p:txBody>
        </p:sp>
        <p:sp>
          <p:nvSpPr>
            <p:cNvPr id="22" name="文本框 21"/>
            <p:cNvSpPr txBox="1"/>
            <p:nvPr/>
          </p:nvSpPr>
          <p:spPr>
            <a:xfrm>
              <a:off x="6366146" y="6482366"/>
              <a:ext cx="32501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/>
                <a:t>8</a:t>
              </a:r>
              <a:endParaRPr lang="zh-CN" altLang="en-US" b="1" dirty="0"/>
            </a:p>
          </p:txBody>
        </p:sp>
        <p:sp>
          <p:nvSpPr>
            <p:cNvPr id="23" name="文本框 22"/>
            <p:cNvSpPr txBox="1"/>
            <p:nvPr/>
          </p:nvSpPr>
          <p:spPr>
            <a:xfrm>
              <a:off x="6935416" y="6470969"/>
              <a:ext cx="32501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/>
                <a:t>9</a:t>
              </a:r>
              <a:endParaRPr lang="zh-CN" altLang="en-US" b="1" dirty="0"/>
            </a:p>
          </p:txBody>
        </p:sp>
        <p:sp>
          <p:nvSpPr>
            <p:cNvPr id="24" name="文本框 23"/>
            <p:cNvSpPr txBox="1"/>
            <p:nvPr/>
          </p:nvSpPr>
          <p:spPr>
            <a:xfrm>
              <a:off x="7453348" y="6463754"/>
              <a:ext cx="45365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/>
                <a:t>10</a:t>
              </a:r>
              <a:endParaRPr lang="zh-CN" altLang="en-US" b="1" dirty="0"/>
            </a:p>
          </p:txBody>
        </p:sp>
        <p:sp>
          <p:nvSpPr>
            <p:cNvPr id="25" name="文本框 24"/>
            <p:cNvSpPr txBox="1"/>
            <p:nvPr/>
          </p:nvSpPr>
          <p:spPr>
            <a:xfrm>
              <a:off x="7957762" y="6465598"/>
              <a:ext cx="59584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/>
                <a:t>11</a:t>
              </a:r>
              <a:endParaRPr lang="zh-CN" altLang="en-US" b="1" dirty="0"/>
            </a:p>
          </p:txBody>
        </p:sp>
        <p:sp>
          <p:nvSpPr>
            <p:cNvPr id="26" name="文本框 25"/>
            <p:cNvSpPr txBox="1"/>
            <p:nvPr/>
          </p:nvSpPr>
          <p:spPr>
            <a:xfrm>
              <a:off x="8475527" y="6477979"/>
              <a:ext cx="50741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/>
                <a:t>12</a:t>
              </a:r>
              <a:endParaRPr lang="zh-CN" altLang="en-US" b="1" dirty="0"/>
            </a:p>
          </p:txBody>
        </p:sp>
      </p:grpSp>
      <p:grpSp>
        <p:nvGrpSpPr>
          <p:cNvPr id="34" name="组合 33"/>
          <p:cNvGrpSpPr/>
          <p:nvPr/>
        </p:nvGrpSpPr>
        <p:grpSpPr>
          <a:xfrm>
            <a:off x="194601" y="154638"/>
            <a:ext cx="1131184" cy="6464978"/>
            <a:chOff x="194601" y="154638"/>
            <a:chExt cx="1131184" cy="6464978"/>
          </a:xfrm>
        </p:grpSpPr>
        <p:grpSp>
          <p:nvGrpSpPr>
            <p:cNvPr id="35" name="组合 34"/>
            <p:cNvGrpSpPr/>
            <p:nvPr/>
          </p:nvGrpSpPr>
          <p:grpSpPr>
            <a:xfrm>
              <a:off x="1039064" y="428431"/>
              <a:ext cx="171961" cy="6155366"/>
              <a:chOff x="3287688" y="-597610"/>
              <a:chExt cx="171961" cy="6155366"/>
            </a:xfrm>
          </p:grpSpPr>
          <p:cxnSp>
            <p:nvCxnSpPr>
              <p:cNvPr id="50" name="直接箭头连接符 49"/>
              <p:cNvCxnSpPr/>
              <p:nvPr/>
            </p:nvCxnSpPr>
            <p:spPr>
              <a:xfrm flipV="1">
                <a:off x="3287688" y="-597610"/>
                <a:ext cx="0" cy="6155366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直接连接符 50"/>
              <p:cNvCxnSpPr/>
              <p:nvPr/>
            </p:nvCxnSpPr>
            <p:spPr>
              <a:xfrm>
                <a:off x="3287688" y="3789040"/>
                <a:ext cx="144016" cy="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直接连接符 51"/>
              <p:cNvCxnSpPr/>
              <p:nvPr/>
            </p:nvCxnSpPr>
            <p:spPr>
              <a:xfrm>
                <a:off x="3301841" y="4941168"/>
                <a:ext cx="144016" cy="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直接连接符 52"/>
              <p:cNvCxnSpPr/>
              <p:nvPr/>
            </p:nvCxnSpPr>
            <p:spPr>
              <a:xfrm>
                <a:off x="3301480" y="4365104"/>
                <a:ext cx="144016" cy="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直接连接符 53"/>
              <p:cNvCxnSpPr/>
              <p:nvPr/>
            </p:nvCxnSpPr>
            <p:spPr>
              <a:xfrm>
                <a:off x="3301480" y="764704"/>
                <a:ext cx="144016" cy="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直接连接符 54"/>
              <p:cNvCxnSpPr/>
              <p:nvPr/>
            </p:nvCxnSpPr>
            <p:spPr>
              <a:xfrm>
                <a:off x="3301480" y="3140968"/>
                <a:ext cx="144016" cy="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直接连接符 55"/>
              <p:cNvCxnSpPr/>
              <p:nvPr/>
            </p:nvCxnSpPr>
            <p:spPr>
              <a:xfrm>
                <a:off x="3301480" y="2564904"/>
                <a:ext cx="144016" cy="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直接连接符 56"/>
              <p:cNvCxnSpPr/>
              <p:nvPr/>
            </p:nvCxnSpPr>
            <p:spPr>
              <a:xfrm>
                <a:off x="3315633" y="1916832"/>
                <a:ext cx="144016" cy="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直接连接符 57"/>
              <p:cNvCxnSpPr/>
              <p:nvPr/>
            </p:nvCxnSpPr>
            <p:spPr>
              <a:xfrm>
                <a:off x="3315272" y="1340768"/>
                <a:ext cx="144016" cy="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6" name="文本框 35"/>
            <p:cNvSpPr txBox="1"/>
            <p:nvPr/>
          </p:nvSpPr>
          <p:spPr>
            <a:xfrm>
              <a:off x="627149" y="6250284"/>
              <a:ext cx="44314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i="1" dirty="0"/>
                <a:t>O</a:t>
              </a:r>
              <a:endParaRPr lang="zh-CN" altLang="en-US" b="1" i="1" dirty="0"/>
            </a:p>
          </p:txBody>
        </p:sp>
        <p:sp>
          <p:nvSpPr>
            <p:cNvPr id="37" name="文本框 36"/>
            <p:cNvSpPr txBox="1"/>
            <p:nvPr/>
          </p:nvSpPr>
          <p:spPr>
            <a:xfrm>
              <a:off x="194601" y="154638"/>
              <a:ext cx="6457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b="1" dirty="0"/>
                <a:t>助攻</a:t>
              </a:r>
              <a:endParaRPr lang="zh-CN" altLang="en-US" b="1" dirty="0"/>
            </a:p>
          </p:txBody>
        </p:sp>
        <p:sp>
          <p:nvSpPr>
            <p:cNvPr id="38" name="文本框 37"/>
            <p:cNvSpPr txBox="1"/>
            <p:nvPr/>
          </p:nvSpPr>
          <p:spPr>
            <a:xfrm>
              <a:off x="652062" y="5229200"/>
              <a:ext cx="32501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/>
                <a:t>3</a:t>
              </a:r>
              <a:endParaRPr lang="zh-CN" altLang="en-US" b="1" dirty="0"/>
            </a:p>
          </p:txBody>
        </p:sp>
        <p:sp>
          <p:nvSpPr>
            <p:cNvPr id="39" name="文本框 38"/>
            <p:cNvSpPr txBox="1"/>
            <p:nvPr/>
          </p:nvSpPr>
          <p:spPr>
            <a:xfrm>
              <a:off x="652061" y="4653136"/>
              <a:ext cx="32501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/>
                <a:t>4</a:t>
              </a:r>
              <a:endParaRPr lang="zh-CN" altLang="en-US" b="1" dirty="0"/>
            </a:p>
          </p:txBody>
        </p:sp>
        <p:sp>
          <p:nvSpPr>
            <p:cNvPr id="40" name="文本框 39"/>
            <p:cNvSpPr txBox="1"/>
            <p:nvPr/>
          </p:nvSpPr>
          <p:spPr>
            <a:xfrm>
              <a:off x="649015" y="4005064"/>
              <a:ext cx="32501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/>
                <a:t>5</a:t>
              </a:r>
              <a:endParaRPr lang="zh-CN" altLang="en-US" b="1" dirty="0"/>
            </a:p>
          </p:txBody>
        </p:sp>
        <p:sp>
          <p:nvSpPr>
            <p:cNvPr id="41" name="文本框 40"/>
            <p:cNvSpPr txBox="1"/>
            <p:nvPr/>
          </p:nvSpPr>
          <p:spPr>
            <a:xfrm>
              <a:off x="653553" y="3429000"/>
              <a:ext cx="32501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/>
                <a:t>6</a:t>
              </a:r>
              <a:endParaRPr lang="zh-CN" altLang="en-US" b="1" dirty="0"/>
            </a:p>
          </p:txBody>
        </p:sp>
        <p:sp>
          <p:nvSpPr>
            <p:cNvPr id="42" name="文本框 41"/>
            <p:cNvSpPr txBox="1"/>
            <p:nvPr/>
          </p:nvSpPr>
          <p:spPr>
            <a:xfrm>
              <a:off x="653553" y="2780928"/>
              <a:ext cx="32501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/>
                <a:t>7</a:t>
              </a:r>
              <a:endParaRPr lang="zh-CN" altLang="en-US" b="1" dirty="0"/>
            </a:p>
          </p:txBody>
        </p:sp>
        <p:sp>
          <p:nvSpPr>
            <p:cNvPr id="43" name="文本框 42"/>
            <p:cNvSpPr txBox="1"/>
            <p:nvPr/>
          </p:nvSpPr>
          <p:spPr>
            <a:xfrm>
              <a:off x="670472" y="2232046"/>
              <a:ext cx="32501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/>
                <a:t>8</a:t>
              </a:r>
              <a:endParaRPr lang="zh-CN" altLang="en-US" b="1" dirty="0"/>
            </a:p>
          </p:txBody>
        </p:sp>
        <p:sp>
          <p:nvSpPr>
            <p:cNvPr id="44" name="文本框 43"/>
            <p:cNvSpPr txBox="1"/>
            <p:nvPr/>
          </p:nvSpPr>
          <p:spPr>
            <a:xfrm>
              <a:off x="695400" y="1628800"/>
              <a:ext cx="32501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/>
                <a:t>9</a:t>
              </a:r>
              <a:endParaRPr lang="zh-CN" altLang="en-US" b="1" dirty="0"/>
            </a:p>
          </p:txBody>
        </p:sp>
        <p:sp>
          <p:nvSpPr>
            <p:cNvPr id="45" name="文本框 44"/>
            <p:cNvSpPr txBox="1"/>
            <p:nvPr/>
          </p:nvSpPr>
          <p:spPr>
            <a:xfrm>
              <a:off x="632062" y="1077033"/>
              <a:ext cx="66656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/>
                <a:t>10</a:t>
              </a:r>
              <a:endParaRPr lang="zh-CN" altLang="en-US" b="1" dirty="0"/>
            </a:p>
          </p:txBody>
        </p:sp>
        <p:cxnSp>
          <p:nvCxnSpPr>
            <p:cNvPr id="46" name="直接连接符 45"/>
            <p:cNvCxnSpPr/>
            <p:nvPr/>
          </p:nvCxnSpPr>
          <p:spPr>
            <a:xfrm>
              <a:off x="1053217" y="1210947"/>
              <a:ext cx="144016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直接连接符 46"/>
            <p:cNvCxnSpPr/>
            <p:nvPr/>
          </p:nvCxnSpPr>
          <p:spPr>
            <a:xfrm>
              <a:off x="1052856" y="634883"/>
              <a:ext cx="144016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8" name="文本框 47"/>
            <p:cNvSpPr txBox="1"/>
            <p:nvPr/>
          </p:nvSpPr>
          <p:spPr>
            <a:xfrm>
              <a:off x="659220" y="508731"/>
              <a:ext cx="666565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altLang="zh-CN" b="1" dirty="0"/>
                <a:t>11</a:t>
              </a:r>
              <a:endParaRPr lang="zh-CN" altLang="en-US" b="1" dirty="0"/>
            </a:p>
          </p:txBody>
        </p:sp>
        <p:sp>
          <p:nvSpPr>
            <p:cNvPr id="49" name="文本框 48"/>
            <p:cNvSpPr txBox="1"/>
            <p:nvPr/>
          </p:nvSpPr>
          <p:spPr>
            <a:xfrm>
              <a:off x="645819" y="5802804"/>
              <a:ext cx="32501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/>
                <a:t>2</a:t>
              </a:r>
              <a:endParaRPr lang="zh-CN" altLang="en-US" b="1" dirty="0"/>
            </a:p>
          </p:txBody>
        </p:sp>
      </p:grpSp>
      <p:pic>
        <p:nvPicPr>
          <p:cNvPr id="124" name="图片 123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389" r="21923" b="36428"/>
          <a:stretch>
            <a:fillRect/>
          </a:stretch>
        </p:blipFill>
        <p:spPr>
          <a:xfrm>
            <a:off x="1795275" y="4655088"/>
            <a:ext cx="576064" cy="646030"/>
          </a:xfrm>
          <a:prstGeom prst="ellipse">
            <a:avLst/>
          </a:prstGeom>
        </p:spPr>
      </p:pic>
      <p:pic>
        <p:nvPicPr>
          <p:cNvPr id="127" name="图片 126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130" r="26899" b="47125"/>
          <a:stretch>
            <a:fillRect/>
          </a:stretch>
        </p:blipFill>
        <p:spPr>
          <a:xfrm>
            <a:off x="2752310" y="4512946"/>
            <a:ext cx="576064" cy="534646"/>
          </a:xfrm>
          <a:prstGeom prst="ellipse">
            <a:avLst/>
          </a:prstGeom>
        </p:spPr>
      </p:pic>
      <p:pic>
        <p:nvPicPr>
          <p:cNvPr id="128" name="图片 127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5368" y="4281528"/>
            <a:ext cx="575216" cy="575216"/>
          </a:xfrm>
          <a:prstGeom prst="ellipse">
            <a:avLst/>
          </a:prstGeom>
        </p:spPr>
      </p:pic>
      <p:pic>
        <p:nvPicPr>
          <p:cNvPr id="131" name="图片 130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086" r="19844" b="44050"/>
          <a:stretch>
            <a:fillRect/>
          </a:stretch>
        </p:blipFill>
        <p:spPr>
          <a:xfrm>
            <a:off x="2181979" y="2976164"/>
            <a:ext cx="576064" cy="613708"/>
          </a:xfrm>
          <a:prstGeom prst="ellipse">
            <a:avLst/>
          </a:prstGeom>
        </p:spPr>
      </p:pic>
      <p:pic>
        <p:nvPicPr>
          <p:cNvPr id="132" name="图片 131"/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045" t="8887" r="22876" b="45424"/>
          <a:stretch>
            <a:fillRect/>
          </a:stretch>
        </p:blipFill>
        <p:spPr>
          <a:xfrm>
            <a:off x="2837178" y="3353288"/>
            <a:ext cx="529020" cy="507760"/>
          </a:xfrm>
          <a:prstGeom prst="ellipse">
            <a:avLst/>
          </a:prstGeom>
        </p:spPr>
      </p:pic>
      <p:pic>
        <p:nvPicPr>
          <p:cNvPr id="144" name="图片 143"/>
          <p:cNvPicPr>
            <a:picLocks noChangeAspect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341" r="20773" b="47362"/>
          <a:stretch>
            <a:fillRect/>
          </a:stretch>
        </p:blipFill>
        <p:spPr>
          <a:xfrm>
            <a:off x="4494919" y="1530038"/>
            <a:ext cx="504057" cy="521415"/>
          </a:xfrm>
          <a:prstGeom prst="ellipse">
            <a:avLst/>
          </a:prstGeom>
        </p:spPr>
      </p:pic>
      <p:pic>
        <p:nvPicPr>
          <p:cNvPr id="145" name="图片 144"/>
          <p:cNvPicPr>
            <a:picLocks noChangeAspect="1"/>
          </p:cNvPicPr>
          <p:nvPr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929" t="-193" r="25178" b="54927"/>
          <a:stretch>
            <a:fillRect/>
          </a:stretch>
        </p:blipFill>
        <p:spPr>
          <a:xfrm>
            <a:off x="6082288" y="2301291"/>
            <a:ext cx="495610" cy="497738"/>
          </a:xfrm>
          <a:prstGeom prst="ellipse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46" name="文本框 145"/>
              <p:cNvSpPr txBox="1"/>
              <p:nvPr/>
            </p:nvSpPr>
            <p:spPr>
              <a:xfrm>
                <a:off x="4651010" y="2100541"/>
                <a:ext cx="95141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9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146" name="文本框 14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51010" y="2100541"/>
                <a:ext cx="951414" cy="276999"/>
              </a:xfrm>
              <a:prstGeom prst="rect">
                <a:avLst/>
              </a:prstGeom>
              <a:blipFill rotWithShape="1">
                <a:blip r:embed="rId9"/>
                <a:stretch>
                  <a:fillRect l="-28" t="-215" r="-3890" b="3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7" name="文本框 146"/>
              <p:cNvSpPr txBox="1"/>
              <p:nvPr/>
            </p:nvSpPr>
            <p:spPr>
              <a:xfrm>
                <a:off x="1624830" y="5388865"/>
                <a:ext cx="95141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147" name="文本框 14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4830" y="5388865"/>
                <a:ext cx="951414" cy="276999"/>
              </a:xfrm>
              <a:prstGeom prst="rect">
                <a:avLst/>
              </a:prstGeom>
              <a:blipFill rotWithShape="1">
                <a:blip r:embed="rId10"/>
                <a:stretch>
                  <a:fillRect l="-53" t="-92" r="-3866" b="14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8" name="文本框 147"/>
              <p:cNvSpPr txBox="1"/>
              <p:nvPr/>
            </p:nvSpPr>
            <p:spPr>
              <a:xfrm>
                <a:off x="2859121" y="5121784"/>
                <a:ext cx="95141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148" name="文本框 14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9121" y="5121784"/>
                <a:ext cx="951414" cy="276999"/>
              </a:xfrm>
              <a:prstGeom prst="rect">
                <a:avLst/>
              </a:prstGeom>
              <a:blipFill rotWithShape="1">
                <a:blip r:embed="rId11"/>
                <a:stretch>
                  <a:fillRect l="-37" t="-184" r="-3882" b="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9" name="文本框 148"/>
              <p:cNvSpPr txBox="1"/>
              <p:nvPr/>
            </p:nvSpPr>
            <p:spPr>
              <a:xfrm>
                <a:off x="3103045" y="3904503"/>
                <a:ext cx="95141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9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149" name="文本框 14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03045" y="3904503"/>
                <a:ext cx="951414" cy="276999"/>
              </a:xfrm>
              <a:prstGeom prst="rect">
                <a:avLst/>
              </a:prstGeom>
              <a:blipFill rotWithShape="1">
                <a:blip r:embed="rId12"/>
                <a:stretch>
                  <a:fillRect l="-46" t="-189" r="-3873" b="1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0" name="文本框 149"/>
              <p:cNvSpPr txBox="1"/>
              <p:nvPr/>
            </p:nvSpPr>
            <p:spPr>
              <a:xfrm>
                <a:off x="1631845" y="3564435"/>
                <a:ext cx="95141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150" name="文本框 14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1845" y="3564435"/>
                <a:ext cx="951414" cy="276999"/>
              </a:xfrm>
              <a:prstGeom prst="rect">
                <a:avLst/>
              </a:prstGeom>
              <a:blipFill rotWithShape="1">
                <a:blip r:embed="rId13"/>
                <a:stretch>
                  <a:fillRect l="-56" t="-65" r="-3863" b="11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1" name="文本框 150"/>
              <p:cNvSpPr txBox="1"/>
              <p:nvPr/>
            </p:nvSpPr>
            <p:spPr>
              <a:xfrm>
                <a:off x="5880441" y="2912271"/>
                <a:ext cx="107965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12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151" name="文本框 15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0441" y="2912271"/>
                <a:ext cx="1079655" cy="276999"/>
              </a:xfrm>
              <a:prstGeom prst="rect">
                <a:avLst/>
              </a:prstGeom>
              <a:blipFill rotWithShape="1">
                <a:blip r:embed="rId14"/>
                <a:stretch>
                  <a:fillRect l="-32" t="-58" r="-3307" b="10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2" name="文本框 151"/>
              <p:cNvSpPr txBox="1"/>
              <p:nvPr/>
            </p:nvSpPr>
            <p:spPr>
              <a:xfrm>
                <a:off x="4185552" y="4731215"/>
                <a:ext cx="95141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152" name="文本框 15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85552" y="4731215"/>
                <a:ext cx="951414" cy="276999"/>
              </a:xfrm>
              <a:prstGeom prst="rect">
                <a:avLst/>
              </a:prstGeom>
              <a:blipFill rotWithShape="1">
                <a:blip r:embed="rId15"/>
                <a:stretch>
                  <a:fillRect l="-28" t="-168" r="-3890" b="21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5" name="椭圆 154"/>
          <p:cNvSpPr/>
          <p:nvPr/>
        </p:nvSpPr>
        <p:spPr>
          <a:xfrm>
            <a:off x="4481258" y="1523434"/>
            <a:ext cx="534622" cy="534622"/>
          </a:xfrm>
          <a:prstGeom prst="ellipse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6" name="椭圆 155"/>
          <p:cNvSpPr/>
          <p:nvPr/>
        </p:nvSpPr>
        <p:spPr>
          <a:xfrm>
            <a:off x="2762586" y="4502111"/>
            <a:ext cx="550756" cy="550756"/>
          </a:xfrm>
          <a:prstGeom prst="ellipse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7" name="椭圆 156"/>
          <p:cNvSpPr/>
          <p:nvPr/>
        </p:nvSpPr>
        <p:spPr>
          <a:xfrm>
            <a:off x="1754877" y="4656928"/>
            <a:ext cx="616462" cy="646352"/>
          </a:xfrm>
          <a:prstGeom prst="ellipse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8" name="椭圆 157"/>
          <p:cNvSpPr/>
          <p:nvPr/>
        </p:nvSpPr>
        <p:spPr>
          <a:xfrm>
            <a:off x="6078691" y="2276872"/>
            <a:ext cx="513321" cy="522157"/>
          </a:xfrm>
          <a:prstGeom prst="ellipse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0" name="椭圆 159"/>
          <p:cNvSpPr/>
          <p:nvPr/>
        </p:nvSpPr>
        <p:spPr>
          <a:xfrm>
            <a:off x="2184467" y="2988881"/>
            <a:ext cx="571208" cy="597884"/>
          </a:xfrm>
          <a:prstGeom prst="ellipse">
            <a:avLst/>
          </a:prstGeom>
          <a:noFill/>
          <a:ln>
            <a:solidFill>
              <a:schemeClr val="bg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1" name="椭圆 160"/>
          <p:cNvSpPr/>
          <p:nvPr/>
        </p:nvSpPr>
        <p:spPr>
          <a:xfrm>
            <a:off x="2828923" y="3338300"/>
            <a:ext cx="536824" cy="536824"/>
          </a:xfrm>
          <a:prstGeom prst="ellipse">
            <a:avLst/>
          </a:prstGeom>
          <a:noFill/>
          <a:ln>
            <a:solidFill>
              <a:schemeClr val="bg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2" name="椭圆 161"/>
          <p:cNvSpPr/>
          <p:nvPr/>
        </p:nvSpPr>
        <p:spPr>
          <a:xfrm>
            <a:off x="3698500" y="4290816"/>
            <a:ext cx="549761" cy="556639"/>
          </a:xfrm>
          <a:prstGeom prst="ellipse">
            <a:avLst/>
          </a:prstGeom>
          <a:noFill/>
          <a:ln>
            <a:solidFill>
              <a:schemeClr val="bg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9" name="椭圆 88"/>
          <p:cNvSpPr/>
          <p:nvPr/>
        </p:nvSpPr>
        <p:spPr>
          <a:xfrm>
            <a:off x="5341047" y="2035951"/>
            <a:ext cx="312329" cy="312329"/>
          </a:xfrm>
          <a:prstGeom prst="ellipse">
            <a:avLst/>
          </a:prstGeom>
          <a:solidFill>
            <a:srgbClr val="FFFF00"/>
          </a:solidFill>
          <a:ln w="571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0" name="椭圆 89"/>
          <p:cNvSpPr/>
          <p:nvPr/>
        </p:nvSpPr>
        <p:spPr>
          <a:xfrm>
            <a:off x="3092930" y="3836750"/>
            <a:ext cx="312329" cy="312329"/>
          </a:xfrm>
          <a:prstGeom prst="ellipse">
            <a:avLst/>
          </a:prstGeom>
          <a:solidFill>
            <a:srgbClr val="00B0F0"/>
          </a:solidFill>
          <a:ln w="571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7" name="文本框 96"/>
              <p:cNvSpPr txBox="1"/>
              <p:nvPr/>
            </p:nvSpPr>
            <p:spPr>
              <a:xfrm>
                <a:off x="4935899" y="2434282"/>
                <a:ext cx="1183914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CN" sz="160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6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10</m:t>
                          </m:r>
                          <m:r>
                            <a:rPr lang="en-US" altLang="zh-CN" sz="16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altLang="zh-CN" sz="16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35</m:t>
                          </m:r>
                          <m:r>
                            <a:rPr lang="en-US" altLang="zh-CN" sz="16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CN" sz="16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8</m:t>
                          </m:r>
                          <m:r>
                            <a:rPr lang="en-US" altLang="zh-CN" sz="16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altLang="zh-CN" sz="16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25</m:t>
                          </m:r>
                        </m:e>
                      </m:d>
                    </m:oMath>
                  </m:oMathPara>
                </a14:m>
                <a:endParaRPr lang="zh-CN" altLang="en-US" sz="1600" dirty="0">
                  <a:solidFill>
                    <a:srgbClr val="FFFF00"/>
                  </a:solidFill>
                </a:endParaRPr>
              </a:p>
            </p:txBody>
          </p:sp>
        </mc:Choice>
        <mc:Fallback>
          <p:sp>
            <p:nvSpPr>
              <p:cNvPr id="97" name="文本框 9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35899" y="2434282"/>
                <a:ext cx="1183914" cy="246221"/>
              </a:xfrm>
              <a:prstGeom prst="rect">
                <a:avLst/>
              </a:prstGeom>
              <a:blipFill rotWithShape="1">
                <a:blip r:embed="rId16"/>
                <a:stretch>
                  <a:fillRect l="-4" t="-133" r="-2762" b="6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8" name="文本框 97"/>
              <p:cNvSpPr txBox="1"/>
              <p:nvPr/>
            </p:nvSpPr>
            <p:spPr>
              <a:xfrm>
                <a:off x="3411156" y="3802161"/>
                <a:ext cx="956287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CN" sz="160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6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  <m:r>
                            <a:rPr lang="en-US" altLang="zh-CN" sz="16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altLang="zh-CN" sz="16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zh-CN" sz="16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CN" sz="16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  <m:r>
                            <a:rPr lang="en-US" altLang="zh-CN" sz="16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altLang="zh-CN" sz="16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25</m:t>
                          </m:r>
                        </m:e>
                      </m:d>
                    </m:oMath>
                  </m:oMathPara>
                </a14:m>
                <a:endParaRPr lang="zh-CN" altLang="en-US" sz="1600" dirty="0">
                  <a:solidFill>
                    <a:srgbClr val="00B0F0"/>
                  </a:solidFill>
                </a:endParaRPr>
              </a:p>
            </p:txBody>
          </p:sp>
        </mc:Choice>
        <mc:Fallback>
          <p:sp>
            <p:nvSpPr>
              <p:cNvPr id="98" name="文本框 9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11156" y="3802161"/>
                <a:ext cx="956287" cy="246221"/>
              </a:xfrm>
              <a:prstGeom prst="rect">
                <a:avLst/>
              </a:prstGeom>
              <a:blipFill rotWithShape="1">
                <a:blip r:embed="rId17"/>
                <a:stretch>
                  <a:fillRect l="-60" t="-169" r="-3528" b="10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9" name="文本框 98"/>
          <p:cNvSpPr txBox="1"/>
          <p:nvPr/>
        </p:nvSpPr>
        <p:spPr>
          <a:xfrm>
            <a:off x="7135033" y="908720"/>
            <a:ext cx="50569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/>
              <a:t>1</a:t>
            </a:r>
            <a:r>
              <a:rPr lang="zh-CN" altLang="en-US" sz="2000" b="1" dirty="0"/>
              <a:t>、类别划分</a:t>
            </a:r>
            <a:endParaRPr lang="zh-CN" altLang="en-US" sz="2000" b="1" dirty="0"/>
          </a:p>
        </p:txBody>
      </p:sp>
      <p:cxnSp>
        <p:nvCxnSpPr>
          <p:cNvPr id="101" name="直接箭头连接符 100"/>
          <p:cNvCxnSpPr>
            <a:stCxn id="90" idx="1"/>
          </p:cNvCxnSpPr>
          <p:nvPr/>
        </p:nvCxnSpPr>
        <p:spPr>
          <a:xfrm flipH="1" flipV="1">
            <a:off x="2717300" y="3441533"/>
            <a:ext cx="421370" cy="440957"/>
          </a:xfrm>
          <a:prstGeom prst="straightConnector1">
            <a:avLst/>
          </a:prstGeom>
          <a:ln w="38100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直接箭头连接符 101"/>
          <p:cNvCxnSpPr>
            <a:stCxn id="106" idx="3"/>
          </p:cNvCxnSpPr>
          <p:nvPr/>
        </p:nvCxnSpPr>
        <p:spPr>
          <a:xfrm flipH="1">
            <a:off x="3328374" y="2894166"/>
            <a:ext cx="706566" cy="1009660"/>
          </a:xfrm>
          <a:prstGeom prst="straightConnector1">
            <a:avLst/>
          </a:prstGeom>
          <a:ln w="38100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直接箭头连接符 102"/>
          <p:cNvCxnSpPr/>
          <p:nvPr/>
        </p:nvCxnSpPr>
        <p:spPr>
          <a:xfrm flipH="1">
            <a:off x="4516941" y="2295313"/>
            <a:ext cx="798364" cy="373000"/>
          </a:xfrm>
          <a:prstGeom prst="straightConnector1">
            <a:avLst/>
          </a:prstGeom>
          <a:ln w="38100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07" name="文本框 106"/>
              <p:cNvSpPr txBox="1"/>
              <p:nvPr/>
            </p:nvSpPr>
            <p:spPr>
              <a:xfrm>
                <a:off x="3632418" y="3007985"/>
                <a:ext cx="95141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107" name="文本框 10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32418" y="3007985"/>
                <a:ext cx="951414" cy="276999"/>
              </a:xfrm>
              <a:prstGeom prst="rect">
                <a:avLst/>
              </a:prstGeom>
              <a:blipFill rotWithShape="1">
                <a:blip r:embed="rId18"/>
                <a:stretch>
                  <a:fillRect l="-23" t="-226" r="-3896" b="4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0" name="椭圆 109"/>
          <p:cNvSpPr/>
          <p:nvPr/>
        </p:nvSpPr>
        <p:spPr>
          <a:xfrm>
            <a:off x="3947340" y="2428091"/>
            <a:ext cx="534622" cy="534622"/>
          </a:xfrm>
          <a:prstGeom prst="ellipse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00" name="直接箭头连接符 99"/>
          <p:cNvCxnSpPr/>
          <p:nvPr/>
        </p:nvCxnSpPr>
        <p:spPr>
          <a:xfrm flipH="1">
            <a:off x="2672025" y="2232046"/>
            <a:ext cx="2669022" cy="844393"/>
          </a:xfrm>
          <a:prstGeom prst="straightConnector1">
            <a:avLst/>
          </a:prstGeom>
          <a:ln w="38100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椭圆 112"/>
          <p:cNvSpPr/>
          <p:nvPr/>
        </p:nvSpPr>
        <p:spPr>
          <a:xfrm>
            <a:off x="3948038" y="2423350"/>
            <a:ext cx="534622" cy="534622"/>
          </a:xfrm>
          <a:prstGeom prst="ellipse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75" name="组合 174"/>
          <p:cNvGrpSpPr/>
          <p:nvPr/>
        </p:nvGrpSpPr>
        <p:grpSpPr>
          <a:xfrm>
            <a:off x="7019000" y="1895822"/>
            <a:ext cx="5046251" cy="3502961"/>
            <a:chOff x="6981502" y="2509607"/>
            <a:chExt cx="5046251" cy="3502961"/>
          </a:xfrm>
        </p:grpSpPr>
        <p:sp>
          <p:nvSpPr>
            <p:cNvPr id="176" name="矩形 175"/>
            <p:cNvSpPr/>
            <p:nvPr/>
          </p:nvSpPr>
          <p:spPr>
            <a:xfrm>
              <a:off x="6981502" y="2509607"/>
              <a:ext cx="5046251" cy="3502961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7" name="文本框 176"/>
            <p:cNvSpPr txBox="1"/>
            <p:nvPr/>
          </p:nvSpPr>
          <p:spPr>
            <a:xfrm>
              <a:off x="7032104" y="3508427"/>
              <a:ext cx="109819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篮板：</a:t>
              </a:r>
              <a:endPara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8" name="文本框 177"/>
            <p:cNvSpPr txBox="1"/>
            <p:nvPr/>
          </p:nvSpPr>
          <p:spPr>
            <a:xfrm>
              <a:off x="7086499" y="4309807"/>
              <a:ext cx="109819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助攻：</a:t>
              </a:r>
              <a:endPara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9" name="矩形 178"/>
            <p:cNvSpPr/>
            <p:nvPr/>
          </p:nvSpPr>
          <p:spPr>
            <a:xfrm>
              <a:off x="8689458" y="2690307"/>
              <a:ext cx="1630341" cy="323566"/>
            </a:xfrm>
            <a:prstGeom prst="rect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蓝队真实能力</a:t>
              </a:r>
              <a:endPara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0" name="矩形 179"/>
            <p:cNvSpPr/>
            <p:nvPr/>
          </p:nvSpPr>
          <p:spPr>
            <a:xfrm>
              <a:off x="8747129" y="5029887"/>
              <a:ext cx="1572670" cy="408704"/>
            </a:xfrm>
            <a:prstGeom prst="rect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黄队真实能力</a:t>
              </a:r>
              <a:endPara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181" name="组合 180"/>
            <p:cNvGrpSpPr/>
            <p:nvPr/>
          </p:nvGrpSpPr>
          <p:grpSpPr>
            <a:xfrm>
              <a:off x="8150127" y="3278464"/>
              <a:ext cx="3293249" cy="815319"/>
              <a:chOff x="9400269" y="1830764"/>
              <a:chExt cx="3293249" cy="815319"/>
            </a:xfrm>
          </p:grpSpPr>
          <p:cxnSp>
            <p:nvCxnSpPr>
              <p:cNvPr id="191" name="直接连接符 190"/>
              <p:cNvCxnSpPr/>
              <p:nvPr/>
            </p:nvCxnSpPr>
            <p:spPr>
              <a:xfrm>
                <a:off x="9400269" y="2230857"/>
                <a:ext cx="2560280" cy="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92" name="文本框 191"/>
              <p:cNvSpPr txBox="1"/>
              <p:nvPr/>
            </p:nvSpPr>
            <p:spPr>
              <a:xfrm>
                <a:off x="10521510" y="2245973"/>
                <a:ext cx="417425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000" dirty="0"/>
                  <a:t>5</a:t>
                </a:r>
                <a:endParaRPr lang="zh-CN" altLang="en-US" sz="2000" dirty="0"/>
              </a:p>
            </p:txBody>
          </p:sp>
          <p:sp>
            <p:nvSpPr>
              <p:cNvPr id="193" name="文本框 192"/>
              <p:cNvSpPr txBox="1"/>
              <p:nvPr/>
            </p:nvSpPr>
            <p:spPr>
              <a:xfrm>
                <a:off x="9403882" y="1830764"/>
                <a:ext cx="3289636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000" dirty="0"/>
                  <a:t>4.2+5.8+7.4+5.9+5.0</a:t>
                </a:r>
                <a:endParaRPr lang="zh-CN" altLang="en-US" sz="2000" dirty="0"/>
              </a:p>
            </p:txBody>
          </p:sp>
        </p:grpSp>
        <p:sp>
          <p:nvSpPr>
            <p:cNvPr id="182" name="文本框 181"/>
            <p:cNvSpPr txBox="1"/>
            <p:nvPr/>
          </p:nvSpPr>
          <p:spPr>
            <a:xfrm>
              <a:off x="10814366" y="4309807"/>
              <a:ext cx="41324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dirty="0"/>
                <a:t>=</a:t>
              </a:r>
              <a:endParaRPr lang="zh-CN" altLang="en-US" sz="2000" dirty="0"/>
            </a:p>
          </p:txBody>
        </p:sp>
        <p:sp>
          <p:nvSpPr>
            <p:cNvPr id="183" name="文本框 182"/>
            <p:cNvSpPr txBox="1"/>
            <p:nvPr/>
          </p:nvSpPr>
          <p:spPr>
            <a:xfrm>
              <a:off x="10801973" y="3459564"/>
              <a:ext cx="31957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dirty="0"/>
                <a:t>=</a:t>
              </a:r>
              <a:endParaRPr lang="zh-CN" altLang="en-US" sz="2000" dirty="0"/>
            </a:p>
          </p:txBody>
        </p:sp>
        <p:grpSp>
          <p:nvGrpSpPr>
            <p:cNvPr id="184" name="组合 183"/>
            <p:cNvGrpSpPr/>
            <p:nvPr/>
          </p:nvGrpSpPr>
          <p:grpSpPr>
            <a:xfrm>
              <a:off x="8210856" y="4093783"/>
              <a:ext cx="3168427" cy="801620"/>
              <a:chOff x="9916289" y="3575652"/>
              <a:chExt cx="3168427" cy="801620"/>
            </a:xfrm>
          </p:grpSpPr>
          <p:cxnSp>
            <p:nvCxnSpPr>
              <p:cNvPr id="188" name="直接连接符 187"/>
              <p:cNvCxnSpPr/>
              <p:nvPr/>
            </p:nvCxnSpPr>
            <p:spPr>
              <a:xfrm>
                <a:off x="9975145" y="3960093"/>
                <a:ext cx="2437198" cy="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89" name="文本框 188"/>
              <p:cNvSpPr txBox="1"/>
              <p:nvPr/>
            </p:nvSpPr>
            <p:spPr>
              <a:xfrm>
                <a:off x="11005331" y="3977162"/>
                <a:ext cx="417425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000" dirty="0"/>
                  <a:t>5</a:t>
                </a:r>
                <a:endParaRPr lang="zh-CN" altLang="en-US" sz="2000" dirty="0"/>
              </a:p>
            </p:txBody>
          </p:sp>
          <p:sp>
            <p:nvSpPr>
              <p:cNvPr id="190" name="文本框 189"/>
              <p:cNvSpPr txBox="1"/>
              <p:nvPr/>
            </p:nvSpPr>
            <p:spPr>
              <a:xfrm>
                <a:off x="9916289" y="3575652"/>
                <a:ext cx="3168427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000" dirty="0"/>
                  <a:t>3.6+4.0+4.3+5.8+6.5</a:t>
                </a:r>
                <a:endParaRPr lang="zh-CN" altLang="en-US" sz="2000" dirty="0"/>
              </a:p>
            </p:txBody>
          </p:sp>
        </p:grpSp>
        <p:sp>
          <p:nvSpPr>
            <p:cNvPr id="185" name="文本框 184"/>
            <p:cNvSpPr txBox="1"/>
            <p:nvPr/>
          </p:nvSpPr>
          <p:spPr>
            <a:xfrm>
              <a:off x="8740382" y="5534784"/>
              <a:ext cx="218405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000" dirty="0"/>
                <a:t>（</a:t>
              </a:r>
              <a:r>
                <a:rPr lang="en-US" altLang="zh-CN" sz="2000" dirty="0"/>
                <a:t>9.6, 7.9</a:t>
              </a:r>
              <a:r>
                <a:rPr lang="zh-CN" altLang="en-US" sz="2000" dirty="0"/>
                <a:t>）</a:t>
              </a:r>
              <a:endParaRPr lang="zh-CN" altLang="en-US" sz="2000" dirty="0"/>
            </a:p>
          </p:txBody>
        </p:sp>
        <p:sp>
          <p:nvSpPr>
            <p:cNvPr id="186" name="矩形 185"/>
            <p:cNvSpPr/>
            <p:nvPr/>
          </p:nvSpPr>
          <p:spPr>
            <a:xfrm>
              <a:off x="11101776" y="4269573"/>
              <a:ext cx="683200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/>
              <a:r>
                <a:rPr lang="en-US" altLang="zh-CN" sz="2000" dirty="0">
                  <a:solidFill>
                    <a:prstClr val="white"/>
                  </a:solidFill>
                </a:rPr>
                <a:t>4.84</a:t>
              </a:r>
              <a:endParaRPr lang="zh-CN" altLang="en-US" sz="2000" dirty="0">
                <a:solidFill>
                  <a:prstClr val="white"/>
                </a:solidFill>
              </a:endParaRPr>
            </a:p>
          </p:txBody>
        </p:sp>
        <p:sp>
          <p:nvSpPr>
            <p:cNvPr id="187" name="矩形 186"/>
            <p:cNvSpPr/>
            <p:nvPr/>
          </p:nvSpPr>
          <p:spPr>
            <a:xfrm>
              <a:off x="11085066" y="3479785"/>
              <a:ext cx="683200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/>
              <a:r>
                <a:rPr lang="en-US" altLang="zh-CN" sz="2000" dirty="0">
                  <a:solidFill>
                    <a:prstClr val="white"/>
                  </a:solidFill>
                </a:rPr>
                <a:t>5.66</a:t>
              </a:r>
              <a:endParaRPr lang="zh-CN" altLang="en-US" sz="2000" dirty="0">
                <a:solidFill>
                  <a:prstClr val="white"/>
                </a:solidFill>
              </a:endParaRPr>
            </a:p>
          </p:txBody>
        </p:sp>
      </p:grpSp>
      <p:sp>
        <p:nvSpPr>
          <p:cNvPr id="194" name="文本框 193"/>
          <p:cNvSpPr txBox="1"/>
          <p:nvPr/>
        </p:nvSpPr>
        <p:spPr>
          <a:xfrm>
            <a:off x="7135033" y="1380051"/>
            <a:ext cx="391649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/>
              <a:t>2</a:t>
            </a:r>
            <a:r>
              <a:rPr lang="zh-CN" altLang="en-US" sz="2000" b="1" dirty="0"/>
              <a:t>、计算每类球员的真实平均能力</a:t>
            </a:r>
            <a:endParaRPr lang="zh-CN" altLang="en-US" sz="2000" b="1" dirty="0"/>
          </a:p>
        </p:txBody>
      </p:sp>
      <p:sp>
        <p:nvSpPr>
          <p:cNvPr id="195" name="矩形 194"/>
          <p:cNvSpPr/>
          <p:nvPr/>
        </p:nvSpPr>
        <p:spPr>
          <a:xfrm>
            <a:off x="7472599" y="2450900"/>
            <a:ext cx="3735969" cy="1786781"/>
          </a:xfrm>
          <a:prstGeom prst="rect">
            <a:avLst/>
          </a:prstGeom>
          <a:solidFill>
            <a:schemeClr val="tx1">
              <a:lumMod val="50000"/>
            </a:schemeClr>
          </a:solidFill>
        </p:spPr>
        <p:txBody>
          <a:bodyPr wrap="square" rtlCol="0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zh-CN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if 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真实平均能力 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!= 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假定平均能力：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假定平均能力 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= 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真实平均能力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else: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return 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聚类中心，聚类结果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zh-CN" altLang="en-US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6" name="文本框 195"/>
          <p:cNvSpPr txBox="1"/>
          <p:nvPr/>
        </p:nvSpPr>
        <p:spPr>
          <a:xfrm>
            <a:off x="7160283" y="1861440"/>
            <a:ext cx="45219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/>
              <a:t>3</a:t>
            </a:r>
            <a:r>
              <a:rPr lang="zh-CN" altLang="en-US" sz="2000" b="1" dirty="0"/>
              <a:t>、判断聚类是否结束</a:t>
            </a:r>
            <a:endParaRPr lang="zh-CN" altLang="en-US" sz="2000" b="1" dirty="0"/>
          </a:p>
        </p:txBody>
      </p:sp>
      <p:sp>
        <p:nvSpPr>
          <p:cNvPr id="197" name="椭圆 196"/>
          <p:cNvSpPr/>
          <p:nvPr/>
        </p:nvSpPr>
        <p:spPr>
          <a:xfrm>
            <a:off x="5161550" y="2180567"/>
            <a:ext cx="312329" cy="312329"/>
          </a:xfrm>
          <a:prstGeom prst="ellipse">
            <a:avLst/>
          </a:prstGeom>
          <a:solidFill>
            <a:srgbClr val="FFFF00"/>
          </a:solidFill>
          <a:ln w="57150">
            <a:solidFill>
              <a:srgbClr val="FF818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8" name="椭圆 197"/>
          <p:cNvSpPr/>
          <p:nvPr/>
        </p:nvSpPr>
        <p:spPr>
          <a:xfrm>
            <a:off x="2747697" y="4096752"/>
            <a:ext cx="312329" cy="312329"/>
          </a:xfrm>
          <a:prstGeom prst="ellipse">
            <a:avLst/>
          </a:prstGeom>
          <a:solidFill>
            <a:srgbClr val="00B0F0"/>
          </a:solidFill>
          <a:ln w="57150">
            <a:solidFill>
              <a:srgbClr val="FF818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99" name="文本框 198"/>
              <p:cNvSpPr txBox="1"/>
              <p:nvPr/>
            </p:nvSpPr>
            <p:spPr>
              <a:xfrm>
                <a:off x="5596203" y="2136368"/>
                <a:ext cx="842475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CN" sz="1600" i="1" smtClean="0">
                              <a:solidFill>
                                <a:srgbClr val="FF818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600" b="0" i="1" smtClean="0">
                              <a:solidFill>
                                <a:srgbClr val="FF8181"/>
                              </a:solidFill>
                              <a:latin typeface="Cambria Math" panose="02040503050406030204" pitchFamily="18" charset="0"/>
                            </a:rPr>
                            <m:t>9</m:t>
                          </m:r>
                          <m:r>
                            <a:rPr lang="en-US" altLang="zh-CN" sz="1600" b="0" i="1" smtClean="0">
                              <a:solidFill>
                                <a:srgbClr val="FF8181"/>
                              </a:solidFill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altLang="zh-CN" sz="1600" b="0" i="1" smtClean="0">
                              <a:solidFill>
                                <a:srgbClr val="FF8181"/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  <m:r>
                            <a:rPr lang="en-US" altLang="zh-CN" sz="1600" b="0" i="1" smtClean="0">
                              <a:solidFill>
                                <a:srgbClr val="FF8181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CN" sz="1600" b="0" i="1" smtClean="0">
                              <a:solidFill>
                                <a:srgbClr val="FF8181"/>
                              </a:solidFill>
                              <a:latin typeface="Cambria Math" panose="02040503050406030204" pitchFamily="18" charset="0"/>
                            </a:rPr>
                            <m:t>7</m:t>
                          </m:r>
                          <m:r>
                            <a:rPr lang="en-US" altLang="zh-CN" sz="1600" b="0" i="1" smtClean="0">
                              <a:solidFill>
                                <a:srgbClr val="FF8181"/>
                              </a:solidFill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altLang="zh-CN" sz="1600" b="0" i="1" smtClean="0">
                              <a:solidFill>
                                <a:srgbClr val="FF8181"/>
                              </a:solidFill>
                              <a:latin typeface="Cambria Math" panose="02040503050406030204" pitchFamily="18" charset="0"/>
                            </a:rPr>
                            <m:t>9</m:t>
                          </m:r>
                        </m:e>
                      </m:d>
                    </m:oMath>
                  </m:oMathPara>
                </a14:m>
                <a:endParaRPr lang="zh-CN" altLang="en-US" sz="1600" dirty="0">
                  <a:solidFill>
                    <a:srgbClr val="FF8181"/>
                  </a:solidFill>
                </a:endParaRPr>
              </a:p>
            </p:txBody>
          </p:sp>
        </mc:Choice>
        <mc:Fallback>
          <p:sp>
            <p:nvSpPr>
              <p:cNvPr id="199" name="文本框 19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96203" y="2136368"/>
                <a:ext cx="842475" cy="246221"/>
              </a:xfrm>
              <a:prstGeom prst="rect">
                <a:avLst/>
              </a:prstGeom>
              <a:blipFill rotWithShape="1">
                <a:blip r:embed="rId19"/>
                <a:stretch>
                  <a:fillRect l="-69" t="-93" r="-4097" b="2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0" name="文本框 199"/>
              <p:cNvSpPr txBox="1"/>
              <p:nvPr/>
            </p:nvSpPr>
            <p:spPr>
              <a:xfrm>
                <a:off x="1671030" y="4217207"/>
                <a:ext cx="1070101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CN" sz="1600" i="1" smtClean="0">
                              <a:solidFill>
                                <a:srgbClr val="FF818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600" b="0" i="1" smtClean="0">
                              <a:solidFill>
                                <a:srgbClr val="FF8181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  <m:r>
                            <a:rPr lang="en-US" altLang="zh-CN" sz="1600" b="0" i="1" smtClean="0">
                              <a:solidFill>
                                <a:srgbClr val="FF8181"/>
                              </a:solidFill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altLang="zh-CN" sz="1600" b="0" i="1" smtClean="0">
                              <a:solidFill>
                                <a:srgbClr val="FF8181"/>
                              </a:solidFill>
                              <a:latin typeface="Cambria Math" panose="02040503050406030204" pitchFamily="18" charset="0"/>
                            </a:rPr>
                            <m:t>66</m:t>
                          </m:r>
                          <m:r>
                            <a:rPr lang="en-US" altLang="zh-CN" sz="1600" b="0" i="1" smtClean="0">
                              <a:solidFill>
                                <a:srgbClr val="FF8181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CN" sz="1600" b="0" i="1" smtClean="0">
                              <a:solidFill>
                                <a:srgbClr val="FF818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n-US" altLang="zh-CN" sz="1600" b="0" i="1" smtClean="0">
                              <a:solidFill>
                                <a:srgbClr val="FF8181"/>
                              </a:solidFill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altLang="zh-CN" sz="1600" b="0" i="1" smtClean="0">
                              <a:solidFill>
                                <a:srgbClr val="FF8181"/>
                              </a:solidFill>
                              <a:latin typeface="Cambria Math" panose="02040503050406030204" pitchFamily="18" charset="0"/>
                            </a:rPr>
                            <m:t>84</m:t>
                          </m:r>
                        </m:e>
                      </m:d>
                    </m:oMath>
                  </m:oMathPara>
                </a14:m>
                <a:endParaRPr lang="zh-CN" altLang="en-US" sz="1600" dirty="0">
                  <a:solidFill>
                    <a:srgbClr val="FF8181"/>
                  </a:solidFill>
                </a:endParaRPr>
              </a:p>
            </p:txBody>
          </p:sp>
        </mc:Choice>
        <mc:Fallback>
          <p:sp>
            <p:nvSpPr>
              <p:cNvPr id="200" name="文本框 19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71030" y="4217207"/>
                <a:ext cx="1070101" cy="246221"/>
              </a:xfrm>
              <a:prstGeom prst="rect">
                <a:avLst/>
              </a:prstGeom>
              <a:blipFill rotWithShape="1">
                <a:blip r:embed="rId20"/>
                <a:stretch>
                  <a:fillRect l="-32" t="-70" r="-3101" b="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1" name="任意多边形 200"/>
          <p:cNvSpPr/>
          <p:nvPr/>
        </p:nvSpPr>
        <p:spPr>
          <a:xfrm>
            <a:off x="3161041" y="1204686"/>
            <a:ext cx="3646160" cy="1814285"/>
          </a:xfrm>
          <a:custGeom>
            <a:avLst/>
            <a:gdLst>
              <a:gd name="connsiteX0" fmla="*/ 493486 w 3077029"/>
              <a:gd name="connsiteY0" fmla="*/ 0 h 1814285"/>
              <a:gd name="connsiteX1" fmla="*/ 130629 w 3077029"/>
              <a:gd name="connsiteY1" fmla="*/ 522514 h 1814285"/>
              <a:gd name="connsiteX2" fmla="*/ 0 w 3077029"/>
              <a:gd name="connsiteY2" fmla="*/ 1074057 h 1814285"/>
              <a:gd name="connsiteX3" fmla="*/ 116115 w 3077029"/>
              <a:gd name="connsiteY3" fmla="*/ 1538514 h 1814285"/>
              <a:gd name="connsiteX4" fmla="*/ 827315 w 3077029"/>
              <a:gd name="connsiteY4" fmla="*/ 1814285 h 1814285"/>
              <a:gd name="connsiteX5" fmla="*/ 1364343 w 3077029"/>
              <a:gd name="connsiteY5" fmla="*/ 1770743 h 1814285"/>
              <a:gd name="connsiteX6" fmla="*/ 2046515 w 3077029"/>
              <a:gd name="connsiteY6" fmla="*/ 1814285 h 1814285"/>
              <a:gd name="connsiteX7" fmla="*/ 2960915 w 3077029"/>
              <a:gd name="connsiteY7" fmla="*/ 1683657 h 1814285"/>
              <a:gd name="connsiteX8" fmla="*/ 3077029 w 3077029"/>
              <a:gd name="connsiteY8" fmla="*/ 1233714 h 1814285"/>
              <a:gd name="connsiteX9" fmla="*/ 2801258 w 3077029"/>
              <a:gd name="connsiteY9" fmla="*/ 986971 h 1814285"/>
              <a:gd name="connsiteX10" fmla="*/ 2409372 w 3077029"/>
              <a:gd name="connsiteY10" fmla="*/ 696685 h 1814285"/>
              <a:gd name="connsiteX11" fmla="*/ 1683658 w 3077029"/>
              <a:gd name="connsiteY11" fmla="*/ 449943 h 1814285"/>
              <a:gd name="connsiteX12" fmla="*/ 1219200 w 3077029"/>
              <a:gd name="connsiteY12" fmla="*/ 159657 h 1814285"/>
              <a:gd name="connsiteX13" fmla="*/ 943429 w 3077029"/>
              <a:gd name="connsiteY13" fmla="*/ 43543 h 1814285"/>
              <a:gd name="connsiteX14" fmla="*/ 493486 w 3077029"/>
              <a:gd name="connsiteY14" fmla="*/ 0 h 18142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3077029" h="1814285">
                <a:moveTo>
                  <a:pt x="493486" y="0"/>
                </a:moveTo>
                <a:lnTo>
                  <a:pt x="130629" y="522514"/>
                </a:lnTo>
                <a:lnTo>
                  <a:pt x="0" y="1074057"/>
                </a:lnTo>
                <a:lnTo>
                  <a:pt x="116115" y="1538514"/>
                </a:lnTo>
                <a:lnTo>
                  <a:pt x="827315" y="1814285"/>
                </a:lnTo>
                <a:lnTo>
                  <a:pt x="1364343" y="1770743"/>
                </a:lnTo>
                <a:lnTo>
                  <a:pt x="2046515" y="1814285"/>
                </a:lnTo>
                <a:lnTo>
                  <a:pt x="2960915" y="1683657"/>
                </a:lnTo>
                <a:lnTo>
                  <a:pt x="3077029" y="1233714"/>
                </a:lnTo>
                <a:lnTo>
                  <a:pt x="2801258" y="986971"/>
                </a:lnTo>
                <a:lnTo>
                  <a:pt x="2409372" y="696685"/>
                </a:lnTo>
                <a:lnTo>
                  <a:pt x="1683658" y="449943"/>
                </a:lnTo>
                <a:lnTo>
                  <a:pt x="1219200" y="159657"/>
                </a:lnTo>
                <a:lnTo>
                  <a:pt x="943429" y="43543"/>
                </a:lnTo>
                <a:lnTo>
                  <a:pt x="493486" y="0"/>
                </a:lnTo>
                <a:close/>
              </a:path>
            </a:pathLst>
          </a:custGeom>
          <a:noFill/>
          <a:ln w="57150">
            <a:solidFill>
              <a:srgbClr val="FFFF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2000" b="1" dirty="0"/>
          </a:p>
        </p:txBody>
      </p:sp>
      <p:sp>
        <p:nvSpPr>
          <p:cNvPr id="202" name="任意多边形 201"/>
          <p:cNvSpPr/>
          <p:nvPr/>
        </p:nvSpPr>
        <p:spPr>
          <a:xfrm>
            <a:off x="1582057" y="2685143"/>
            <a:ext cx="3004457" cy="2801257"/>
          </a:xfrm>
          <a:custGeom>
            <a:avLst/>
            <a:gdLst>
              <a:gd name="connsiteX0" fmla="*/ 493486 w 3004457"/>
              <a:gd name="connsiteY0" fmla="*/ 72571 h 2801257"/>
              <a:gd name="connsiteX1" fmla="*/ 159657 w 3004457"/>
              <a:gd name="connsiteY1" fmla="*/ 943428 h 2801257"/>
              <a:gd name="connsiteX2" fmla="*/ 14514 w 3004457"/>
              <a:gd name="connsiteY2" fmla="*/ 1843314 h 2801257"/>
              <a:gd name="connsiteX3" fmla="*/ 0 w 3004457"/>
              <a:gd name="connsiteY3" fmla="*/ 2627086 h 2801257"/>
              <a:gd name="connsiteX4" fmla="*/ 1190172 w 3004457"/>
              <a:gd name="connsiteY4" fmla="*/ 2801257 h 2801257"/>
              <a:gd name="connsiteX5" fmla="*/ 2090057 w 3004457"/>
              <a:gd name="connsiteY5" fmla="*/ 2540000 h 2801257"/>
              <a:gd name="connsiteX6" fmla="*/ 2873829 w 3004457"/>
              <a:gd name="connsiteY6" fmla="*/ 2235200 h 2801257"/>
              <a:gd name="connsiteX7" fmla="*/ 3004457 w 3004457"/>
              <a:gd name="connsiteY7" fmla="*/ 1625600 h 2801257"/>
              <a:gd name="connsiteX8" fmla="*/ 2699657 w 3004457"/>
              <a:gd name="connsiteY8" fmla="*/ 1088571 h 2801257"/>
              <a:gd name="connsiteX9" fmla="*/ 2061029 w 3004457"/>
              <a:gd name="connsiteY9" fmla="*/ 769257 h 2801257"/>
              <a:gd name="connsiteX10" fmla="*/ 1494972 w 3004457"/>
              <a:gd name="connsiteY10" fmla="*/ 275771 h 2801257"/>
              <a:gd name="connsiteX11" fmla="*/ 1277257 w 3004457"/>
              <a:gd name="connsiteY11" fmla="*/ 0 h 2801257"/>
              <a:gd name="connsiteX12" fmla="*/ 493486 w 3004457"/>
              <a:gd name="connsiteY12" fmla="*/ 72571 h 28012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004457" h="2801257">
                <a:moveTo>
                  <a:pt x="493486" y="72571"/>
                </a:moveTo>
                <a:lnTo>
                  <a:pt x="159657" y="943428"/>
                </a:lnTo>
                <a:lnTo>
                  <a:pt x="14514" y="1843314"/>
                </a:lnTo>
                <a:lnTo>
                  <a:pt x="0" y="2627086"/>
                </a:lnTo>
                <a:lnTo>
                  <a:pt x="1190172" y="2801257"/>
                </a:lnTo>
                <a:lnTo>
                  <a:pt x="2090057" y="2540000"/>
                </a:lnTo>
                <a:lnTo>
                  <a:pt x="2873829" y="2235200"/>
                </a:lnTo>
                <a:lnTo>
                  <a:pt x="3004457" y="1625600"/>
                </a:lnTo>
                <a:lnTo>
                  <a:pt x="2699657" y="1088571"/>
                </a:lnTo>
                <a:lnTo>
                  <a:pt x="2061029" y="769257"/>
                </a:lnTo>
                <a:lnTo>
                  <a:pt x="1494972" y="275771"/>
                </a:lnTo>
                <a:lnTo>
                  <a:pt x="1277257" y="0"/>
                </a:lnTo>
                <a:lnTo>
                  <a:pt x="493486" y="72571"/>
                </a:lnTo>
                <a:close/>
              </a:path>
            </a:pathLst>
          </a:custGeom>
          <a:noFill/>
          <a:ln w="57150">
            <a:solidFill>
              <a:srgbClr val="00B0F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2000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500" tmFilter="0, 0; .2, .5; .8, .5; 1, 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0" dur="250" autoRev="1" fill="hold"/>
                                        <p:tgtEl>
                                          <p:spTgt spid="10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 tmFilter="0, 0; .2, .5; .8, .5; 1, 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5" dur="250" autoRev="1" fill="hold"/>
                                        <p:tgtEl>
                                          <p:spTgt spid="16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26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" dur="500" tmFilter="0, 0; .2, .5; .8, .5; 1, 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2" dur="250" autoRev="1" fill="hold"/>
                                        <p:tgtEl>
                                          <p:spTgt spid="10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5" dur="500" tmFilter="0, 0; .2, .5; .8, .5; 1, 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6" dur="250" autoRev="1" fill="hold"/>
                                        <p:tgtEl>
                                          <p:spTgt spid="15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500"/>
                            </p:stCondLst>
                            <p:childTnLst>
                              <p:par>
                                <p:cTn id="58" presetID="26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9" dur="500" tmFilter="0, 0; .2, .5; .8, .5; 1, 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0" dur="250" autoRev="1" fill="hold"/>
                                        <p:tgtEl>
                                          <p:spTgt spid="15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1000"/>
                            </p:stCondLst>
                            <p:childTnLst>
                              <p:par>
                                <p:cTn id="62" presetID="26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3" dur="500" tmFilter="0, 0; .2, .5; .8, .5; 1, 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4" dur="250" autoRev="1" fill="hold"/>
                                        <p:tgtEl>
                                          <p:spTgt spid="15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1500"/>
                            </p:stCondLst>
                            <p:childTnLst>
                              <p:par>
                                <p:cTn id="66" presetID="26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7" dur="500" tmFilter="0, 0; .2, .5; .8, .5; 1, 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8" dur="250" autoRev="1" fill="hold"/>
                                        <p:tgtEl>
                                          <p:spTgt spid="16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69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0" dur="500" tmFilter="0, 0; .2, .5; .8, .5; 1, 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1" dur="250" autoRev="1" fill="hold"/>
                                        <p:tgtEl>
                                          <p:spTgt spid="16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72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3" dur="500" tmFilter="0, 0; .2, .5; .8, .5; 1, 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4" dur="250" autoRev="1" fill="hold"/>
                                        <p:tgtEl>
                                          <p:spTgt spid="15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35" presetClass="emph" presetSubtype="0" repeatCount="2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83" dur="1000" fill="hold"/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35" presetClass="emph" presetSubtype="0" repeatCount="2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85" dur="1000" fill="hold"/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500"/>
                            </p:stCondLst>
                            <p:childTnLst>
                              <p:par>
                                <p:cTn id="92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4" dur="500"/>
                                        <p:tgtEl>
                                          <p:spTgt spid="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47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8" dur="250"/>
                                        <p:tgtEl>
                                          <p:spTgt spid="17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9" dur="250"/>
                                        <p:tgtEl>
                                          <p:spTgt spid="1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250"/>
                                        <p:tgtEl>
                                          <p:spTgt spid="1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2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3" dur="500"/>
                                        <p:tgtEl>
                                          <p:spTgt spid="20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6" dur="500"/>
                                        <p:tgtEl>
                                          <p:spTgt spid="20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>
                            <p:stCondLst>
                              <p:cond delay="500"/>
                            </p:stCondLst>
                            <p:childTnLst>
                              <p:par>
                                <p:cTn id="10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500"/>
                                        <p:tgtEl>
                                          <p:spTgt spid="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500"/>
                                        <p:tgtEl>
                                          <p:spTgt spid="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5" dur="500"/>
                                        <p:tgtEl>
                                          <p:spTgt spid="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8" dur="500"/>
                                        <p:tgtEl>
                                          <p:spTgt spid="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5" grpId="0" animBg="1"/>
      <p:bldP spid="156" grpId="0" animBg="1"/>
      <p:bldP spid="157" grpId="0" animBg="1"/>
      <p:bldP spid="158" grpId="0" animBg="1"/>
      <p:bldP spid="160" grpId="0" animBg="1"/>
      <p:bldP spid="161" grpId="0" animBg="1"/>
      <p:bldP spid="162" grpId="0" animBg="1"/>
      <p:bldP spid="99" grpId="0"/>
      <p:bldP spid="113" grpId="0" animBg="1"/>
      <p:bldP spid="194" grpId="0"/>
      <p:bldP spid="195" grpId="0" animBg="1"/>
      <p:bldP spid="196" grpId="0"/>
      <p:bldP spid="197" grpId="0" animBg="1"/>
      <p:bldP spid="198" grpId="0" animBg="1"/>
      <p:bldP spid="199" grpId="0"/>
      <p:bldP spid="200" grpId="0"/>
      <p:bldP spid="201" grpId="0" animBg="1"/>
      <p:bldP spid="201" grpId="1" animBg="1"/>
      <p:bldP spid="201" grpId="2" animBg="1"/>
      <p:bldP spid="202" grpId="0" animBg="1"/>
      <p:bldP spid="202" grpId="1" animBg="1"/>
      <p:bldP spid="202" grpId="2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627149" y="6093296"/>
            <a:ext cx="7170831" cy="612492"/>
            <a:chOff x="2906758" y="6323422"/>
            <a:chExt cx="7170831" cy="612492"/>
          </a:xfrm>
        </p:grpSpPr>
        <p:cxnSp>
          <p:nvCxnSpPr>
            <p:cNvPr id="5" name="直接箭头连接符 4"/>
            <p:cNvCxnSpPr/>
            <p:nvPr/>
          </p:nvCxnSpPr>
          <p:spPr>
            <a:xfrm>
              <a:off x="2906758" y="6494231"/>
              <a:ext cx="6476963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直接连接符 5"/>
            <p:cNvCxnSpPr/>
            <p:nvPr/>
          </p:nvCxnSpPr>
          <p:spPr>
            <a:xfrm>
              <a:off x="3647728" y="6323423"/>
              <a:ext cx="0" cy="170808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直接连接符 6"/>
            <p:cNvCxnSpPr/>
            <p:nvPr/>
          </p:nvCxnSpPr>
          <p:spPr>
            <a:xfrm>
              <a:off x="4223792" y="6323423"/>
              <a:ext cx="0" cy="170808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直接连接符 7"/>
            <p:cNvCxnSpPr/>
            <p:nvPr/>
          </p:nvCxnSpPr>
          <p:spPr>
            <a:xfrm>
              <a:off x="4799856" y="6323423"/>
              <a:ext cx="0" cy="170808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直接连接符 8"/>
            <p:cNvCxnSpPr/>
            <p:nvPr/>
          </p:nvCxnSpPr>
          <p:spPr>
            <a:xfrm>
              <a:off x="5375920" y="6323422"/>
              <a:ext cx="0" cy="170808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直接连接符 9"/>
            <p:cNvCxnSpPr/>
            <p:nvPr/>
          </p:nvCxnSpPr>
          <p:spPr>
            <a:xfrm>
              <a:off x="5951984" y="6323422"/>
              <a:ext cx="0" cy="170808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直接连接符 10"/>
            <p:cNvCxnSpPr/>
            <p:nvPr/>
          </p:nvCxnSpPr>
          <p:spPr>
            <a:xfrm>
              <a:off x="6528048" y="6323422"/>
              <a:ext cx="0" cy="170808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接连接符 11"/>
            <p:cNvCxnSpPr/>
            <p:nvPr/>
          </p:nvCxnSpPr>
          <p:spPr>
            <a:xfrm>
              <a:off x="7151473" y="6323422"/>
              <a:ext cx="0" cy="170808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接连接符 12"/>
            <p:cNvCxnSpPr/>
            <p:nvPr/>
          </p:nvCxnSpPr>
          <p:spPr>
            <a:xfrm>
              <a:off x="7655529" y="6323422"/>
              <a:ext cx="0" cy="170808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/>
            <p:nvPr/>
          </p:nvCxnSpPr>
          <p:spPr>
            <a:xfrm>
              <a:off x="8159585" y="6323422"/>
              <a:ext cx="0" cy="170808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连接符 14"/>
            <p:cNvCxnSpPr/>
            <p:nvPr/>
          </p:nvCxnSpPr>
          <p:spPr>
            <a:xfrm>
              <a:off x="8688288" y="6323422"/>
              <a:ext cx="0" cy="170808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文本框 15"/>
            <p:cNvSpPr txBox="1"/>
            <p:nvPr/>
          </p:nvSpPr>
          <p:spPr>
            <a:xfrm>
              <a:off x="9044797" y="6566582"/>
              <a:ext cx="103279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b="1" dirty="0"/>
                <a:t>篮板</a:t>
              </a:r>
              <a:endParaRPr lang="zh-CN" altLang="en-US" b="1" dirty="0"/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3494872" y="6478899"/>
              <a:ext cx="32501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/>
                <a:t>3</a:t>
              </a:r>
              <a:endParaRPr lang="zh-CN" altLang="en-US" b="1" dirty="0"/>
            </a:p>
          </p:txBody>
        </p:sp>
        <p:sp>
          <p:nvSpPr>
            <p:cNvPr id="18" name="文本框 17"/>
            <p:cNvSpPr txBox="1"/>
            <p:nvPr/>
          </p:nvSpPr>
          <p:spPr>
            <a:xfrm>
              <a:off x="4055127" y="6470969"/>
              <a:ext cx="32501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/>
                <a:t>4</a:t>
              </a:r>
              <a:endParaRPr lang="zh-CN" altLang="en-US" b="1" dirty="0"/>
            </a:p>
          </p:txBody>
        </p:sp>
        <p:sp>
          <p:nvSpPr>
            <p:cNvPr id="19" name="文本框 18"/>
            <p:cNvSpPr txBox="1"/>
            <p:nvPr/>
          </p:nvSpPr>
          <p:spPr>
            <a:xfrm>
              <a:off x="4637956" y="6475151"/>
              <a:ext cx="32501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/>
                <a:t>5</a:t>
              </a:r>
              <a:endParaRPr lang="zh-CN" altLang="en-US" b="1" dirty="0"/>
            </a:p>
          </p:txBody>
        </p:sp>
        <p:sp>
          <p:nvSpPr>
            <p:cNvPr id="20" name="文本框 19"/>
            <p:cNvSpPr txBox="1"/>
            <p:nvPr/>
          </p:nvSpPr>
          <p:spPr>
            <a:xfrm>
              <a:off x="5214019" y="6455987"/>
              <a:ext cx="32501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/>
                <a:t>6</a:t>
              </a:r>
              <a:endParaRPr lang="zh-CN" altLang="en-US" b="1" dirty="0"/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5805891" y="6490296"/>
              <a:ext cx="32501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/>
                <a:t>7</a:t>
              </a:r>
              <a:endParaRPr lang="zh-CN" altLang="en-US" b="1" dirty="0"/>
            </a:p>
          </p:txBody>
        </p:sp>
        <p:sp>
          <p:nvSpPr>
            <p:cNvPr id="22" name="文本框 21"/>
            <p:cNvSpPr txBox="1"/>
            <p:nvPr/>
          </p:nvSpPr>
          <p:spPr>
            <a:xfrm>
              <a:off x="6366146" y="6482366"/>
              <a:ext cx="32501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/>
                <a:t>8</a:t>
              </a:r>
              <a:endParaRPr lang="zh-CN" altLang="en-US" b="1" dirty="0"/>
            </a:p>
          </p:txBody>
        </p:sp>
        <p:sp>
          <p:nvSpPr>
            <p:cNvPr id="23" name="文本框 22"/>
            <p:cNvSpPr txBox="1"/>
            <p:nvPr/>
          </p:nvSpPr>
          <p:spPr>
            <a:xfrm>
              <a:off x="6935416" y="6470969"/>
              <a:ext cx="32501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/>
                <a:t>9</a:t>
              </a:r>
              <a:endParaRPr lang="zh-CN" altLang="en-US" b="1" dirty="0"/>
            </a:p>
          </p:txBody>
        </p:sp>
        <p:sp>
          <p:nvSpPr>
            <p:cNvPr id="24" name="文本框 23"/>
            <p:cNvSpPr txBox="1"/>
            <p:nvPr/>
          </p:nvSpPr>
          <p:spPr>
            <a:xfrm>
              <a:off x="7453348" y="6463754"/>
              <a:ext cx="45365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/>
                <a:t>10</a:t>
              </a:r>
              <a:endParaRPr lang="zh-CN" altLang="en-US" b="1" dirty="0"/>
            </a:p>
          </p:txBody>
        </p:sp>
        <p:sp>
          <p:nvSpPr>
            <p:cNvPr id="25" name="文本框 24"/>
            <p:cNvSpPr txBox="1"/>
            <p:nvPr/>
          </p:nvSpPr>
          <p:spPr>
            <a:xfrm>
              <a:off x="7957762" y="6465598"/>
              <a:ext cx="59584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/>
                <a:t>11</a:t>
              </a:r>
              <a:endParaRPr lang="zh-CN" altLang="en-US" b="1" dirty="0"/>
            </a:p>
          </p:txBody>
        </p:sp>
        <p:sp>
          <p:nvSpPr>
            <p:cNvPr id="26" name="文本框 25"/>
            <p:cNvSpPr txBox="1"/>
            <p:nvPr/>
          </p:nvSpPr>
          <p:spPr>
            <a:xfrm>
              <a:off x="8475527" y="6477979"/>
              <a:ext cx="50741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/>
                <a:t>12</a:t>
              </a:r>
              <a:endParaRPr lang="zh-CN" altLang="en-US" b="1" dirty="0"/>
            </a:p>
          </p:txBody>
        </p:sp>
      </p:grpSp>
      <p:pic>
        <p:nvPicPr>
          <p:cNvPr id="27" name="图片 26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389" r="21923" b="36428"/>
          <a:stretch>
            <a:fillRect/>
          </a:stretch>
        </p:blipFill>
        <p:spPr>
          <a:xfrm>
            <a:off x="1795275" y="4655088"/>
            <a:ext cx="576064" cy="646030"/>
          </a:xfrm>
          <a:prstGeom prst="ellipse">
            <a:avLst/>
          </a:prstGeom>
        </p:spPr>
      </p:pic>
      <p:pic>
        <p:nvPicPr>
          <p:cNvPr id="28" name="图片 27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130" r="26899" b="47125"/>
          <a:stretch>
            <a:fillRect/>
          </a:stretch>
        </p:blipFill>
        <p:spPr>
          <a:xfrm>
            <a:off x="2752310" y="4512946"/>
            <a:ext cx="576064" cy="534646"/>
          </a:xfrm>
          <a:prstGeom prst="ellipse">
            <a:avLst/>
          </a:prstGeom>
        </p:spPr>
      </p:pic>
      <p:pic>
        <p:nvPicPr>
          <p:cNvPr id="29" name="图片 2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5368" y="4281528"/>
            <a:ext cx="575216" cy="575216"/>
          </a:xfrm>
          <a:prstGeom prst="ellipse">
            <a:avLst/>
          </a:prstGeom>
        </p:spPr>
      </p:pic>
      <p:pic>
        <p:nvPicPr>
          <p:cNvPr id="30" name="图片 29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086" r="19844" b="44050"/>
          <a:stretch>
            <a:fillRect/>
          </a:stretch>
        </p:blipFill>
        <p:spPr>
          <a:xfrm>
            <a:off x="2181979" y="2976164"/>
            <a:ext cx="576064" cy="613708"/>
          </a:xfrm>
          <a:prstGeom prst="ellipse">
            <a:avLst/>
          </a:prstGeom>
        </p:spPr>
      </p:pic>
      <p:pic>
        <p:nvPicPr>
          <p:cNvPr id="31" name="图片 30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045" t="8887" r="22876" b="45424"/>
          <a:stretch>
            <a:fillRect/>
          </a:stretch>
        </p:blipFill>
        <p:spPr>
          <a:xfrm>
            <a:off x="2837178" y="3353288"/>
            <a:ext cx="529020" cy="507760"/>
          </a:xfrm>
          <a:prstGeom prst="ellipse">
            <a:avLst/>
          </a:prstGeom>
        </p:spPr>
      </p:pic>
      <p:pic>
        <p:nvPicPr>
          <p:cNvPr id="32" name="图片 31"/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341" r="20773" b="47362"/>
          <a:stretch>
            <a:fillRect/>
          </a:stretch>
        </p:blipFill>
        <p:spPr>
          <a:xfrm>
            <a:off x="4494919" y="1530038"/>
            <a:ext cx="504057" cy="521415"/>
          </a:xfrm>
          <a:prstGeom prst="ellipse">
            <a:avLst/>
          </a:prstGeom>
        </p:spPr>
      </p:pic>
      <p:pic>
        <p:nvPicPr>
          <p:cNvPr id="33" name="图片 32"/>
          <p:cNvPicPr>
            <a:picLocks noChangeAspect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929" t="-193" r="25178" b="54927"/>
          <a:stretch>
            <a:fillRect/>
          </a:stretch>
        </p:blipFill>
        <p:spPr>
          <a:xfrm>
            <a:off x="6079905" y="2301963"/>
            <a:ext cx="495610" cy="497738"/>
          </a:xfrm>
          <a:prstGeom prst="ellipse">
            <a:avLst/>
          </a:prstGeom>
        </p:spPr>
      </p:pic>
      <p:grpSp>
        <p:nvGrpSpPr>
          <p:cNvPr id="34" name="组合 33"/>
          <p:cNvGrpSpPr/>
          <p:nvPr/>
        </p:nvGrpSpPr>
        <p:grpSpPr>
          <a:xfrm>
            <a:off x="194601" y="154638"/>
            <a:ext cx="1131184" cy="6464978"/>
            <a:chOff x="194601" y="154638"/>
            <a:chExt cx="1131184" cy="6464978"/>
          </a:xfrm>
        </p:grpSpPr>
        <p:grpSp>
          <p:nvGrpSpPr>
            <p:cNvPr id="35" name="组合 34"/>
            <p:cNvGrpSpPr/>
            <p:nvPr/>
          </p:nvGrpSpPr>
          <p:grpSpPr>
            <a:xfrm>
              <a:off x="1039064" y="428431"/>
              <a:ext cx="171961" cy="6155366"/>
              <a:chOff x="3287688" y="-597610"/>
              <a:chExt cx="171961" cy="6155366"/>
            </a:xfrm>
          </p:grpSpPr>
          <p:cxnSp>
            <p:nvCxnSpPr>
              <p:cNvPr id="50" name="直接箭头连接符 49"/>
              <p:cNvCxnSpPr/>
              <p:nvPr/>
            </p:nvCxnSpPr>
            <p:spPr>
              <a:xfrm flipV="1">
                <a:off x="3287688" y="-597610"/>
                <a:ext cx="0" cy="6155366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直接连接符 50"/>
              <p:cNvCxnSpPr/>
              <p:nvPr/>
            </p:nvCxnSpPr>
            <p:spPr>
              <a:xfrm>
                <a:off x="3287688" y="3789040"/>
                <a:ext cx="144016" cy="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直接连接符 51"/>
              <p:cNvCxnSpPr/>
              <p:nvPr/>
            </p:nvCxnSpPr>
            <p:spPr>
              <a:xfrm>
                <a:off x="3301841" y="4941168"/>
                <a:ext cx="144016" cy="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直接连接符 52"/>
              <p:cNvCxnSpPr/>
              <p:nvPr/>
            </p:nvCxnSpPr>
            <p:spPr>
              <a:xfrm>
                <a:off x="3301480" y="4365104"/>
                <a:ext cx="144016" cy="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直接连接符 53"/>
              <p:cNvCxnSpPr/>
              <p:nvPr/>
            </p:nvCxnSpPr>
            <p:spPr>
              <a:xfrm>
                <a:off x="3301480" y="764704"/>
                <a:ext cx="144016" cy="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直接连接符 54"/>
              <p:cNvCxnSpPr/>
              <p:nvPr/>
            </p:nvCxnSpPr>
            <p:spPr>
              <a:xfrm>
                <a:off x="3301480" y="3140968"/>
                <a:ext cx="144016" cy="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直接连接符 55"/>
              <p:cNvCxnSpPr/>
              <p:nvPr/>
            </p:nvCxnSpPr>
            <p:spPr>
              <a:xfrm>
                <a:off x="3301480" y="2564904"/>
                <a:ext cx="144016" cy="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直接连接符 56"/>
              <p:cNvCxnSpPr/>
              <p:nvPr/>
            </p:nvCxnSpPr>
            <p:spPr>
              <a:xfrm>
                <a:off x="3315633" y="1916832"/>
                <a:ext cx="144016" cy="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直接连接符 57"/>
              <p:cNvCxnSpPr/>
              <p:nvPr/>
            </p:nvCxnSpPr>
            <p:spPr>
              <a:xfrm>
                <a:off x="3315272" y="1340768"/>
                <a:ext cx="144016" cy="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6" name="文本框 35"/>
            <p:cNvSpPr txBox="1"/>
            <p:nvPr/>
          </p:nvSpPr>
          <p:spPr>
            <a:xfrm>
              <a:off x="627149" y="6250284"/>
              <a:ext cx="44314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i="1" dirty="0"/>
                <a:t>O</a:t>
              </a:r>
              <a:endParaRPr lang="zh-CN" altLang="en-US" b="1" i="1" dirty="0"/>
            </a:p>
          </p:txBody>
        </p:sp>
        <p:sp>
          <p:nvSpPr>
            <p:cNvPr id="37" name="文本框 36"/>
            <p:cNvSpPr txBox="1"/>
            <p:nvPr/>
          </p:nvSpPr>
          <p:spPr>
            <a:xfrm>
              <a:off x="194601" y="154638"/>
              <a:ext cx="6457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b="1" dirty="0"/>
                <a:t>助攻</a:t>
              </a:r>
              <a:endParaRPr lang="zh-CN" altLang="en-US" b="1" dirty="0"/>
            </a:p>
          </p:txBody>
        </p:sp>
        <p:sp>
          <p:nvSpPr>
            <p:cNvPr id="38" name="文本框 37"/>
            <p:cNvSpPr txBox="1"/>
            <p:nvPr/>
          </p:nvSpPr>
          <p:spPr>
            <a:xfrm>
              <a:off x="652062" y="5229200"/>
              <a:ext cx="32501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/>
                <a:t>3</a:t>
              </a:r>
              <a:endParaRPr lang="zh-CN" altLang="en-US" b="1" dirty="0"/>
            </a:p>
          </p:txBody>
        </p:sp>
        <p:sp>
          <p:nvSpPr>
            <p:cNvPr id="39" name="文本框 38"/>
            <p:cNvSpPr txBox="1"/>
            <p:nvPr/>
          </p:nvSpPr>
          <p:spPr>
            <a:xfrm>
              <a:off x="652061" y="4653136"/>
              <a:ext cx="32501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/>
                <a:t>4</a:t>
              </a:r>
              <a:endParaRPr lang="zh-CN" altLang="en-US" b="1" dirty="0"/>
            </a:p>
          </p:txBody>
        </p:sp>
        <p:sp>
          <p:nvSpPr>
            <p:cNvPr id="40" name="文本框 39"/>
            <p:cNvSpPr txBox="1"/>
            <p:nvPr/>
          </p:nvSpPr>
          <p:spPr>
            <a:xfrm>
              <a:off x="649015" y="4005064"/>
              <a:ext cx="32501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/>
                <a:t>5</a:t>
              </a:r>
              <a:endParaRPr lang="zh-CN" altLang="en-US" b="1" dirty="0"/>
            </a:p>
          </p:txBody>
        </p:sp>
        <p:sp>
          <p:nvSpPr>
            <p:cNvPr id="41" name="文本框 40"/>
            <p:cNvSpPr txBox="1"/>
            <p:nvPr/>
          </p:nvSpPr>
          <p:spPr>
            <a:xfrm>
              <a:off x="653553" y="3429000"/>
              <a:ext cx="32501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/>
                <a:t>6</a:t>
              </a:r>
              <a:endParaRPr lang="zh-CN" altLang="en-US" b="1" dirty="0"/>
            </a:p>
          </p:txBody>
        </p:sp>
        <p:sp>
          <p:nvSpPr>
            <p:cNvPr id="42" name="文本框 41"/>
            <p:cNvSpPr txBox="1"/>
            <p:nvPr/>
          </p:nvSpPr>
          <p:spPr>
            <a:xfrm>
              <a:off x="653553" y="2780928"/>
              <a:ext cx="32501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/>
                <a:t>7</a:t>
              </a:r>
              <a:endParaRPr lang="zh-CN" altLang="en-US" b="1" dirty="0"/>
            </a:p>
          </p:txBody>
        </p:sp>
        <p:sp>
          <p:nvSpPr>
            <p:cNvPr id="43" name="文本框 42"/>
            <p:cNvSpPr txBox="1"/>
            <p:nvPr/>
          </p:nvSpPr>
          <p:spPr>
            <a:xfrm>
              <a:off x="670472" y="2232046"/>
              <a:ext cx="32501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/>
                <a:t>8</a:t>
              </a:r>
              <a:endParaRPr lang="zh-CN" altLang="en-US" b="1" dirty="0"/>
            </a:p>
          </p:txBody>
        </p:sp>
        <p:sp>
          <p:nvSpPr>
            <p:cNvPr id="44" name="文本框 43"/>
            <p:cNvSpPr txBox="1"/>
            <p:nvPr/>
          </p:nvSpPr>
          <p:spPr>
            <a:xfrm>
              <a:off x="695400" y="1628800"/>
              <a:ext cx="32501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/>
                <a:t>9</a:t>
              </a:r>
              <a:endParaRPr lang="zh-CN" altLang="en-US" b="1" dirty="0"/>
            </a:p>
          </p:txBody>
        </p:sp>
        <p:sp>
          <p:nvSpPr>
            <p:cNvPr id="45" name="文本框 44"/>
            <p:cNvSpPr txBox="1"/>
            <p:nvPr/>
          </p:nvSpPr>
          <p:spPr>
            <a:xfrm>
              <a:off x="632062" y="1077033"/>
              <a:ext cx="66656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/>
                <a:t>10</a:t>
              </a:r>
              <a:endParaRPr lang="zh-CN" altLang="en-US" b="1" dirty="0"/>
            </a:p>
          </p:txBody>
        </p:sp>
        <p:cxnSp>
          <p:nvCxnSpPr>
            <p:cNvPr id="46" name="直接连接符 45"/>
            <p:cNvCxnSpPr/>
            <p:nvPr/>
          </p:nvCxnSpPr>
          <p:spPr>
            <a:xfrm>
              <a:off x="1053217" y="1210947"/>
              <a:ext cx="144016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直接连接符 46"/>
            <p:cNvCxnSpPr/>
            <p:nvPr/>
          </p:nvCxnSpPr>
          <p:spPr>
            <a:xfrm>
              <a:off x="1052856" y="634883"/>
              <a:ext cx="144016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8" name="文本框 47"/>
            <p:cNvSpPr txBox="1"/>
            <p:nvPr/>
          </p:nvSpPr>
          <p:spPr>
            <a:xfrm>
              <a:off x="659220" y="508731"/>
              <a:ext cx="666565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altLang="zh-CN" b="1" dirty="0"/>
                <a:t>11</a:t>
              </a:r>
              <a:endParaRPr lang="zh-CN" altLang="en-US" b="1" dirty="0"/>
            </a:p>
          </p:txBody>
        </p:sp>
        <p:sp>
          <p:nvSpPr>
            <p:cNvPr id="49" name="文本框 48"/>
            <p:cNvSpPr txBox="1"/>
            <p:nvPr/>
          </p:nvSpPr>
          <p:spPr>
            <a:xfrm>
              <a:off x="645819" y="5802804"/>
              <a:ext cx="32501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/>
                <a:t>2</a:t>
              </a:r>
              <a:endParaRPr lang="zh-CN" altLang="en-US" b="1" dirty="0"/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61" name="文本框 60"/>
              <p:cNvSpPr txBox="1"/>
              <p:nvPr/>
            </p:nvSpPr>
            <p:spPr>
              <a:xfrm>
                <a:off x="4651010" y="2100541"/>
                <a:ext cx="95141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9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61" name="文本框 6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51010" y="2100541"/>
                <a:ext cx="951414" cy="276999"/>
              </a:xfrm>
              <a:prstGeom prst="rect">
                <a:avLst/>
              </a:prstGeom>
              <a:blipFill rotWithShape="1">
                <a:blip r:embed="rId8"/>
                <a:stretch>
                  <a:fillRect l="-28" t="-215" r="-3890" b="3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2" name="文本框 61"/>
              <p:cNvSpPr txBox="1"/>
              <p:nvPr/>
            </p:nvSpPr>
            <p:spPr>
              <a:xfrm>
                <a:off x="1624830" y="5388865"/>
                <a:ext cx="95141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62" name="文本框 6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4830" y="5388865"/>
                <a:ext cx="951414" cy="276999"/>
              </a:xfrm>
              <a:prstGeom prst="rect">
                <a:avLst/>
              </a:prstGeom>
              <a:blipFill rotWithShape="1">
                <a:blip r:embed="rId9"/>
                <a:stretch>
                  <a:fillRect l="-53" t="-92" r="-3866" b="14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3" name="文本框 62"/>
              <p:cNvSpPr txBox="1"/>
              <p:nvPr/>
            </p:nvSpPr>
            <p:spPr>
              <a:xfrm>
                <a:off x="2859121" y="5121784"/>
                <a:ext cx="95141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63" name="文本框 6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9121" y="5121784"/>
                <a:ext cx="951414" cy="276999"/>
              </a:xfrm>
              <a:prstGeom prst="rect">
                <a:avLst/>
              </a:prstGeom>
              <a:blipFill rotWithShape="1">
                <a:blip r:embed="rId10"/>
                <a:stretch>
                  <a:fillRect l="-37" t="-184" r="-3882" b="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4" name="文本框 63"/>
              <p:cNvSpPr txBox="1"/>
              <p:nvPr/>
            </p:nvSpPr>
            <p:spPr>
              <a:xfrm>
                <a:off x="3103045" y="3904503"/>
                <a:ext cx="95141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9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64" name="文本框 6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03045" y="3904503"/>
                <a:ext cx="951414" cy="276999"/>
              </a:xfrm>
              <a:prstGeom prst="rect">
                <a:avLst/>
              </a:prstGeom>
              <a:blipFill rotWithShape="1">
                <a:blip r:embed="rId11"/>
                <a:stretch>
                  <a:fillRect l="-46" t="-189" r="-3873" b="1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5" name="文本框 64"/>
              <p:cNvSpPr txBox="1"/>
              <p:nvPr/>
            </p:nvSpPr>
            <p:spPr>
              <a:xfrm>
                <a:off x="1631845" y="3564435"/>
                <a:ext cx="95141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65" name="文本框 6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1845" y="3564435"/>
                <a:ext cx="951414" cy="276999"/>
              </a:xfrm>
              <a:prstGeom prst="rect">
                <a:avLst/>
              </a:prstGeom>
              <a:blipFill rotWithShape="1">
                <a:blip r:embed="rId12"/>
                <a:stretch>
                  <a:fillRect l="-56" t="-65" r="-3863" b="11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6" name="文本框 65"/>
              <p:cNvSpPr txBox="1"/>
              <p:nvPr/>
            </p:nvSpPr>
            <p:spPr>
              <a:xfrm>
                <a:off x="5878058" y="2912943"/>
                <a:ext cx="107965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12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66" name="文本框 6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78058" y="2912943"/>
                <a:ext cx="1079655" cy="276999"/>
              </a:xfrm>
              <a:prstGeom prst="rect">
                <a:avLst/>
              </a:prstGeom>
              <a:blipFill rotWithShape="1">
                <a:blip r:embed="rId13"/>
                <a:stretch>
                  <a:fillRect l="-46" t="-71" r="-3292" b="12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7" name="文本框 66"/>
              <p:cNvSpPr txBox="1"/>
              <p:nvPr/>
            </p:nvSpPr>
            <p:spPr>
              <a:xfrm>
                <a:off x="4185552" y="4731215"/>
                <a:ext cx="95141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67" name="文本框 6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85552" y="4731215"/>
                <a:ext cx="951414" cy="276999"/>
              </a:xfrm>
              <a:prstGeom prst="rect">
                <a:avLst/>
              </a:prstGeom>
              <a:blipFill rotWithShape="1">
                <a:blip r:embed="rId14"/>
                <a:stretch>
                  <a:fillRect l="-28" t="-168" r="-3890" b="21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0" name="椭圆 89"/>
          <p:cNvSpPr/>
          <p:nvPr/>
        </p:nvSpPr>
        <p:spPr>
          <a:xfrm>
            <a:off x="4481258" y="1523434"/>
            <a:ext cx="534622" cy="534622"/>
          </a:xfrm>
          <a:prstGeom prst="ellipse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9" name="椭圆 98"/>
          <p:cNvSpPr/>
          <p:nvPr/>
        </p:nvSpPr>
        <p:spPr>
          <a:xfrm>
            <a:off x="2762586" y="4502111"/>
            <a:ext cx="550756" cy="550756"/>
          </a:xfrm>
          <a:prstGeom prst="ellipse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2" name="椭圆 101"/>
          <p:cNvSpPr/>
          <p:nvPr/>
        </p:nvSpPr>
        <p:spPr>
          <a:xfrm>
            <a:off x="1754877" y="4656928"/>
            <a:ext cx="616462" cy="646352"/>
          </a:xfrm>
          <a:prstGeom prst="ellipse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5" name="椭圆 104"/>
          <p:cNvSpPr/>
          <p:nvPr/>
        </p:nvSpPr>
        <p:spPr>
          <a:xfrm>
            <a:off x="6076308" y="2277544"/>
            <a:ext cx="513321" cy="522157"/>
          </a:xfrm>
          <a:prstGeom prst="ellipse">
            <a:avLst/>
          </a:prstGeom>
          <a:noFill/>
          <a:ln>
            <a:solidFill>
              <a:srgbClr val="558ED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3" name="椭圆 122"/>
          <p:cNvSpPr/>
          <p:nvPr/>
        </p:nvSpPr>
        <p:spPr>
          <a:xfrm>
            <a:off x="2184467" y="2988881"/>
            <a:ext cx="571208" cy="597884"/>
          </a:xfrm>
          <a:prstGeom prst="ellipse">
            <a:avLst/>
          </a:prstGeom>
          <a:noFill/>
          <a:ln>
            <a:solidFill>
              <a:schemeClr val="bg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9" name="椭圆 128"/>
          <p:cNvSpPr/>
          <p:nvPr/>
        </p:nvSpPr>
        <p:spPr>
          <a:xfrm>
            <a:off x="2828923" y="3338300"/>
            <a:ext cx="536824" cy="536824"/>
          </a:xfrm>
          <a:prstGeom prst="ellipse">
            <a:avLst/>
          </a:prstGeom>
          <a:noFill/>
          <a:ln>
            <a:solidFill>
              <a:schemeClr val="bg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3" name="椭圆 132"/>
          <p:cNvSpPr/>
          <p:nvPr/>
        </p:nvSpPr>
        <p:spPr>
          <a:xfrm>
            <a:off x="3698500" y="4290816"/>
            <a:ext cx="549761" cy="556639"/>
          </a:xfrm>
          <a:prstGeom prst="ellipse">
            <a:avLst/>
          </a:prstGeom>
          <a:noFill/>
          <a:ln>
            <a:solidFill>
              <a:schemeClr val="bg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9" name="椭圆 88"/>
          <p:cNvSpPr/>
          <p:nvPr/>
        </p:nvSpPr>
        <p:spPr>
          <a:xfrm>
            <a:off x="4401686" y="1973204"/>
            <a:ext cx="312329" cy="312329"/>
          </a:xfrm>
          <a:prstGeom prst="ellipse">
            <a:avLst/>
          </a:prstGeom>
          <a:solidFill>
            <a:srgbClr val="FFFF00"/>
          </a:solidFill>
          <a:ln w="571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1" name="椭圆 90"/>
          <p:cNvSpPr/>
          <p:nvPr/>
        </p:nvSpPr>
        <p:spPr>
          <a:xfrm>
            <a:off x="3472726" y="3771360"/>
            <a:ext cx="312329" cy="312329"/>
          </a:xfrm>
          <a:prstGeom prst="ellipse">
            <a:avLst/>
          </a:prstGeom>
          <a:solidFill>
            <a:srgbClr val="00B0F0"/>
          </a:solidFill>
          <a:ln w="571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4" name="文本框 93"/>
              <p:cNvSpPr txBox="1"/>
              <p:nvPr/>
            </p:nvSpPr>
            <p:spPr>
              <a:xfrm>
                <a:off x="4557850" y="2395658"/>
                <a:ext cx="842475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CN" sz="160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6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8</m:t>
                          </m:r>
                          <m:r>
                            <a:rPr lang="en-US" altLang="zh-CN" sz="16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altLang="zh-CN" sz="16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n-US" altLang="zh-CN" sz="16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CN" sz="16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8</m:t>
                          </m:r>
                          <m:r>
                            <a:rPr lang="en-US" altLang="zh-CN" sz="16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altLang="zh-CN" sz="16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e>
                      </m:d>
                    </m:oMath>
                  </m:oMathPara>
                </a14:m>
                <a:endParaRPr lang="zh-CN" altLang="en-US" sz="1600" dirty="0">
                  <a:solidFill>
                    <a:srgbClr val="FFFF00"/>
                  </a:solidFill>
                </a:endParaRPr>
              </a:p>
            </p:txBody>
          </p:sp>
        </mc:Choice>
        <mc:Fallback>
          <p:sp>
            <p:nvSpPr>
              <p:cNvPr id="94" name="文本框 9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57850" y="2395658"/>
                <a:ext cx="842475" cy="246221"/>
              </a:xfrm>
              <a:prstGeom prst="rect">
                <a:avLst/>
              </a:prstGeom>
              <a:blipFill rotWithShape="1">
                <a:blip r:embed="rId15"/>
                <a:stretch>
                  <a:fillRect l="-54" t="-178" r="-4112" b="11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7" name="文本框 96"/>
              <p:cNvSpPr txBox="1"/>
              <p:nvPr/>
            </p:nvSpPr>
            <p:spPr>
              <a:xfrm>
                <a:off x="3790952" y="3736770"/>
                <a:ext cx="1070101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CN" sz="160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6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  <m:r>
                            <a:rPr lang="en-US" altLang="zh-CN" sz="16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altLang="zh-CN" sz="16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71</m:t>
                          </m:r>
                          <m:r>
                            <a:rPr lang="en-US" altLang="zh-CN" sz="16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CN" sz="16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  <m:r>
                            <a:rPr lang="en-US" altLang="zh-CN" sz="16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altLang="zh-CN" sz="16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28</m:t>
                          </m:r>
                        </m:e>
                      </m:d>
                    </m:oMath>
                  </m:oMathPara>
                </a14:m>
                <a:endParaRPr lang="zh-CN" altLang="en-US" sz="1600" dirty="0">
                  <a:solidFill>
                    <a:srgbClr val="00B0F0"/>
                  </a:solidFill>
                </a:endParaRPr>
              </a:p>
            </p:txBody>
          </p:sp>
        </mc:Choice>
        <mc:Fallback>
          <p:sp>
            <p:nvSpPr>
              <p:cNvPr id="97" name="文本框 9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90952" y="3736770"/>
                <a:ext cx="1070101" cy="246221"/>
              </a:xfrm>
              <a:prstGeom prst="rect">
                <a:avLst/>
              </a:prstGeom>
              <a:blipFill rotWithShape="1">
                <a:blip r:embed="rId16"/>
                <a:stretch>
                  <a:fillRect t="-175" r="-3133" b="11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8" name="文本框 97"/>
          <p:cNvSpPr txBox="1"/>
          <p:nvPr/>
        </p:nvSpPr>
        <p:spPr>
          <a:xfrm>
            <a:off x="7135033" y="908720"/>
            <a:ext cx="26333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/>
              <a:t>1</a:t>
            </a:r>
            <a:r>
              <a:rPr lang="zh-CN" altLang="en-US" sz="2000" b="1" dirty="0"/>
              <a:t>、类别划分</a:t>
            </a:r>
            <a:endParaRPr lang="zh-CN" altLang="en-US" sz="2000" b="1" dirty="0"/>
          </a:p>
        </p:txBody>
      </p:sp>
      <p:sp>
        <p:nvSpPr>
          <p:cNvPr id="112" name="椭圆 111"/>
          <p:cNvSpPr/>
          <p:nvPr/>
        </p:nvSpPr>
        <p:spPr>
          <a:xfrm>
            <a:off x="6076307" y="2277544"/>
            <a:ext cx="513321" cy="522157"/>
          </a:xfrm>
          <a:prstGeom prst="ellipse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3" name="文本框 112"/>
          <p:cNvSpPr txBox="1"/>
          <p:nvPr/>
        </p:nvSpPr>
        <p:spPr>
          <a:xfrm>
            <a:off x="7135033" y="1380051"/>
            <a:ext cx="391649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/>
              <a:t>2</a:t>
            </a:r>
            <a:r>
              <a:rPr lang="zh-CN" altLang="en-US" sz="2000" b="1" dirty="0"/>
              <a:t>、计算每类球员的真实平均能力</a:t>
            </a:r>
            <a:endParaRPr lang="zh-CN" altLang="en-US" sz="2000" b="1" dirty="0"/>
          </a:p>
        </p:txBody>
      </p:sp>
      <p:sp>
        <p:nvSpPr>
          <p:cNvPr id="136" name="矩形 135"/>
          <p:cNvSpPr/>
          <p:nvPr/>
        </p:nvSpPr>
        <p:spPr>
          <a:xfrm>
            <a:off x="7472599" y="2450900"/>
            <a:ext cx="3735969" cy="1786781"/>
          </a:xfrm>
          <a:prstGeom prst="rect">
            <a:avLst/>
          </a:prstGeom>
          <a:solidFill>
            <a:schemeClr val="tx1">
              <a:lumMod val="50000"/>
            </a:schemeClr>
          </a:solidFill>
        </p:spPr>
        <p:txBody>
          <a:bodyPr wrap="square" rtlCol="0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zh-CN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if 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真实平均能力 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!= 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假定平均能力：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假定平均能力 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= 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真实平均能力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else: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return 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聚类中心，聚类结果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zh-CN" altLang="en-US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8" name="文本框 137"/>
          <p:cNvSpPr txBox="1"/>
          <p:nvPr/>
        </p:nvSpPr>
        <p:spPr>
          <a:xfrm>
            <a:off x="7160283" y="1861440"/>
            <a:ext cx="45219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/>
              <a:t>3</a:t>
            </a:r>
            <a:r>
              <a:rPr lang="zh-CN" altLang="en-US" sz="2000" b="1" dirty="0"/>
              <a:t>、判断聚类是否结束</a:t>
            </a:r>
            <a:endParaRPr lang="zh-CN" altLang="en-US" sz="2000" b="1" dirty="0"/>
          </a:p>
        </p:txBody>
      </p:sp>
      <p:sp>
        <p:nvSpPr>
          <p:cNvPr id="139" name="椭圆 138"/>
          <p:cNvSpPr/>
          <p:nvPr/>
        </p:nvSpPr>
        <p:spPr>
          <a:xfrm>
            <a:off x="5161550" y="2180567"/>
            <a:ext cx="312329" cy="312329"/>
          </a:xfrm>
          <a:prstGeom prst="ellipse">
            <a:avLst/>
          </a:prstGeom>
          <a:solidFill>
            <a:srgbClr val="FFFF00"/>
          </a:solidFill>
          <a:ln w="57150">
            <a:solidFill>
              <a:srgbClr val="FF818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4" name="椭圆 143"/>
          <p:cNvSpPr/>
          <p:nvPr/>
        </p:nvSpPr>
        <p:spPr>
          <a:xfrm>
            <a:off x="2747697" y="4096752"/>
            <a:ext cx="312329" cy="312329"/>
          </a:xfrm>
          <a:prstGeom prst="ellipse">
            <a:avLst/>
          </a:prstGeom>
          <a:solidFill>
            <a:srgbClr val="00B0F0"/>
          </a:solidFill>
          <a:ln w="57150">
            <a:solidFill>
              <a:srgbClr val="FF818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5" name="文本框 144"/>
              <p:cNvSpPr txBox="1"/>
              <p:nvPr/>
            </p:nvSpPr>
            <p:spPr>
              <a:xfrm>
                <a:off x="5596203" y="2136368"/>
                <a:ext cx="842475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CN" sz="1600" i="1" smtClean="0">
                              <a:solidFill>
                                <a:srgbClr val="FF818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600" b="0" i="1" smtClean="0">
                              <a:solidFill>
                                <a:srgbClr val="FF8181"/>
                              </a:solidFill>
                              <a:latin typeface="Cambria Math" panose="02040503050406030204" pitchFamily="18" charset="0"/>
                            </a:rPr>
                            <m:t>9</m:t>
                          </m:r>
                          <m:r>
                            <a:rPr lang="en-US" altLang="zh-CN" sz="1600" b="0" i="1" smtClean="0">
                              <a:solidFill>
                                <a:srgbClr val="FF8181"/>
                              </a:solidFill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altLang="zh-CN" sz="1600" b="0" i="1" smtClean="0">
                              <a:solidFill>
                                <a:srgbClr val="FF8181"/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  <m:r>
                            <a:rPr lang="en-US" altLang="zh-CN" sz="1600" b="0" i="1" smtClean="0">
                              <a:solidFill>
                                <a:srgbClr val="FF8181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CN" sz="1600" b="0" i="1" smtClean="0">
                              <a:solidFill>
                                <a:srgbClr val="FF8181"/>
                              </a:solidFill>
                              <a:latin typeface="Cambria Math" panose="02040503050406030204" pitchFamily="18" charset="0"/>
                            </a:rPr>
                            <m:t>7</m:t>
                          </m:r>
                          <m:r>
                            <a:rPr lang="en-US" altLang="zh-CN" sz="1600" b="0" i="1" smtClean="0">
                              <a:solidFill>
                                <a:srgbClr val="FF8181"/>
                              </a:solidFill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altLang="zh-CN" sz="1600" b="0" i="1" smtClean="0">
                              <a:solidFill>
                                <a:srgbClr val="FF8181"/>
                              </a:solidFill>
                              <a:latin typeface="Cambria Math" panose="02040503050406030204" pitchFamily="18" charset="0"/>
                            </a:rPr>
                            <m:t>9</m:t>
                          </m:r>
                        </m:e>
                      </m:d>
                    </m:oMath>
                  </m:oMathPara>
                </a14:m>
                <a:endParaRPr lang="zh-CN" altLang="en-US" sz="1600" dirty="0">
                  <a:solidFill>
                    <a:srgbClr val="FF8181"/>
                  </a:solidFill>
                </a:endParaRPr>
              </a:p>
            </p:txBody>
          </p:sp>
        </mc:Choice>
        <mc:Fallback>
          <p:sp>
            <p:nvSpPr>
              <p:cNvPr id="145" name="文本框 14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96203" y="2136368"/>
                <a:ext cx="842475" cy="246221"/>
              </a:xfrm>
              <a:prstGeom prst="rect">
                <a:avLst/>
              </a:prstGeom>
              <a:blipFill rotWithShape="1">
                <a:blip r:embed="rId17"/>
                <a:stretch>
                  <a:fillRect l="-69" t="-93" r="-4097" b="2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6" name="文本框 145"/>
              <p:cNvSpPr txBox="1"/>
              <p:nvPr/>
            </p:nvSpPr>
            <p:spPr>
              <a:xfrm>
                <a:off x="1671030" y="4217207"/>
                <a:ext cx="1070101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CN" sz="1600" i="1" smtClean="0">
                              <a:solidFill>
                                <a:srgbClr val="FF818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600" b="0" i="1" smtClean="0">
                              <a:solidFill>
                                <a:srgbClr val="FF8181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  <m:r>
                            <a:rPr lang="en-US" altLang="zh-CN" sz="1600" b="0" i="1" smtClean="0">
                              <a:solidFill>
                                <a:srgbClr val="FF8181"/>
                              </a:solidFill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altLang="zh-CN" sz="1600" b="0" i="1" smtClean="0">
                              <a:solidFill>
                                <a:srgbClr val="FF8181"/>
                              </a:solidFill>
                              <a:latin typeface="Cambria Math" panose="02040503050406030204" pitchFamily="18" charset="0"/>
                            </a:rPr>
                            <m:t>66</m:t>
                          </m:r>
                          <m:r>
                            <a:rPr lang="en-US" altLang="zh-CN" sz="1600" b="0" i="1" smtClean="0">
                              <a:solidFill>
                                <a:srgbClr val="FF8181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CN" sz="1600" b="0" i="1" smtClean="0">
                              <a:solidFill>
                                <a:srgbClr val="FF818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n-US" altLang="zh-CN" sz="1600" b="0" i="1" smtClean="0">
                              <a:solidFill>
                                <a:srgbClr val="FF8181"/>
                              </a:solidFill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altLang="zh-CN" sz="1600" b="0" i="1" smtClean="0">
                              <a:solidFill>
                                <a:srgbClr val="FF8181"/>
                              </a:solidFill>
                              <a:latin typeface="Cambria Math" panose="02040503050406030204" pitchFamily="18" charset="0"/>
                            </a:rPr>
                            <m:t>84</m:t>
                          </m:r>
                        </m:e>
                      </m:d>
                    </m:oMath>
                  </m:oMathPara>
                </a14:m>
                <a:endParaRPr lang="zh-CN" altLang="en-US" sz="1600" dirty="0">
                  <a:solidFill>
                    <a:srgbClr val="FF8181"/>
                  </a:solidFill>
                </a:endParaRPr>
              </a:p>
            </p:txBody>
          </p:sp>
        </mc:Choice>
        <mc:Fallback>
          <p:sp>
            <p:nvSpPr>
              <p:cNvPr id="146" name="文本框 14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71030" y="4217207"/>
                <a:ext cx="1070101" cy="246221"/>
              </a:xfrm>
              <a:prstGeom prst="rect">
                <a:avLst/>
              </a:prstGeom>
              <a:blipFill rotWithShape="1">
                <a:blip r:embed="rId18"/>
                <a:stretch>
                  <a:fillRect l="-32" t="-70" r="-3101" b="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3" name="椭圆 142"/>
          <p:cNvSpPr/>
          <p:nvPr/>
        </p:nvSpPr>
        <p:spPr>
          <a:xfrm>
            <a:off x="5168913" y="2173910"/>
            <a:ext cx="312329" cy="312329"/>
          </a:xfrm>
          <a:prstGeom prst="ellipse">
            <a:avLst/>
          </a:prstGeom>
          <a:solidFill>
            <a:srgbClr val="FFFF00"/>
          </a:solidFill>
          <a:ln w="571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7" name="椭圆 146"/>
          <p:cNvSpPr/>
          <p:nvPr/>
        </p:nvSpPr>
        <p:spPr>
          <a:xfrm>
            <a:off x="2755060" y="4090095"/>
            <a:ext cx="312329" cy="312329"/>
          </a:xfrm>
          <a:prstGeom prst="ellipse">
            <a:avLst/>
          </a:prstGeom>
          <a:solidFill>
            <a:srgbClr val="00B0F0"/>
          </a:solidFill>
          <a:ln w="571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8" name="文本框 147"/>
              <p:cNvSpPr txBox="1"/>
              <p:nvPr/>
            </p:nvSpPr>
            <p:spPr>
              <a:xfrm>
                <a:off x="5603566" y="2129711"/>
                <a:ext cx="842475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CN" sz="160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6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9</m:t>
                          </m:r>
                          <m:r>
                            <a:rPr lang="en-US" altLang="zh-CN" sz="16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altLang="zh-CN" sz="16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  <m:r>
                            <a:rPr lang="en-US" altLang="zh-CN" sz="16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CN" sz="16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7</m:t>
                          </m:r>
                          <m:r>
                            <a:rPr lang="en-US" altLang="zh-CN" sz="16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16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9</m:t>
                          </m:r>
                        </m:e>
                      </m:d>
                    </m:oMath>
                  </m:oMathPara>
                </a14:m>
                <a:endParaRPr lang="zh-CN" altLang="en-US" sz="1600" dirty="0">
                  <a:solidFill>
                    <a:srgbClr val="FFFF00"/>
                  </a:solidFill>
                </a:endParaRPr>
              </a:p>
            </p:txBody>
          </p:sp>
        </mc:Choice>
        <mc:Fallback>
          <p:sp>
            <p:nvSpPr>
              <p:cNvPr id="148" name="文本框 14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03566" y="2129711"/>
                <a:ext cx="842475" cy="246221"/>
              </a:xfrm>
              <a:prstGeom prst="rect">
                <a:avLst/>
              </a:prstGeom>
              <a:blipFill rotWithShape="1">
                <a:blip r:embed="rId19"/>
                <a:stretch>
                  <a:fillRect l="-39" t="-226" r="-4127" b="16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9" name="文本框 148"/>
              <p:cNvSpPr txBox="1"/>
              <p:nvPr/>
            </p:nvSpPr>
            <p:spPr>
              <a:xfrm>
                <a:off x="1678393" y="4210550"/>
                <a:ext cx="1070101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CN" sz="160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6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  <m:r>
                            <a:rPr lang="en-US" altLang="zh-CN" sz="16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altLang="zh-CN" sz="16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66</m:t>
                          </m:r>
                          <m:r>
                            <a:rPr lang="en-US" altLang="zh-CN" sz="16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CN" sz="16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n-US" altLang="zh-CN" sz="16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altLang="zh-CN" sz="16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84</m:t>
                          </m:r>
                        </m:e>
                      </m:d>
                    </m:oMath>
                  </m:oMathPara>
                </a14:m>
                <a:endParaRPr lang="zh-CN" altLang="en-US" sz="1600" dirty="0">
                  <a:solidFill>
                    <a:srgbClr val="00B0F0"/>
                  </a:solidFill>
                </a:endParaRPr>
              </a:p>
            </p:txBody>
          </p:sp>
        </mc:Choice>
        <mc:Fallback>
          <p:sp>
            <p:nvSpPr>
              <p:cNvPr id="149" name="文本框 14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78393" y="4210550"/>
                <a:ext cx="1070101" cy="246221"/>
              </a:xfrm>
              <a:prstGeom prst="rect">
                <a:avLst/>
              </a:prstGeom>
              <a:blipFill rotWithShape="1">
                <a:blip r:embed="rId20"/>
                <a:stretch>
                  <a:fillRect l="-8" t="-203" r="-3125" b="13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2" name="图片 91"/>
          <p:cNvPicPr>
            <a:picLocks noChangeAspect="1"/>
          </p:cNvPicPr>
          <p:nvPr/>
        </p:nvPicPr>
        <p:blipFill rotWithShape="1"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557" t="446" r="27557" b="52305"/>
          <a:stretch>
            <a:fillRect/>
          </a:stretch>
        </p:blipFill>
        <p:spPr>
          <a:xfrm>
            <a:off x="3963494" y="2420888"/>
            <a:ext cx="512896" cy="553388"/>
          </a:xfrm>
          <a:prstGeom prst="ellipse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93" name="文本框 92"/>
              <p:cNvSpPr txBox="1"/>
              <p:nvPr/>
            </p:nvSpPr>
            <p:spPr>
              <a:xfrm>
                <a:off x="3636084" y="3007053"/>
                <a:ext cx="95141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93" name="文本框 9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36084" y="3007053"/>
                <a:ext cx="951414" cy="276999"/>
              </a:xfrm>
              <a:prstGeom prst="rect">
                <a:avLst/>
              </a:prstGeom>
              <a:blipFill rotWithShape="1">
                <a:blip r:embed="rId22"/>
                <a:stretch>
                  <a:fillRect l="-8" t="-118" r="-3911" b="16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5" name="椭圆 94"/>
          <p:cNvSpPr/>
          <p:nvPr/>
        </p:nvSpPr>
        <p:spPr>
          <a:xfrm>
            <a:off x="3951006" y="2427159"/>
            <a:ext cx="534622" cy="534622"/>
          </a:xfrm>
          <a:prstGeom prst="ellipse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5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" dur="5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9" grpId="0" animBg="1"/>
      <p:bldP spid="91" grpId="0" animBg="1"/>
      <p:bldP spid="94" grpId="0"/>
      <p:bldP spid="97" grpId="0"/>
      <p:bldP spid="98" grpId="0"/>
      <p:bldP spid="113" grpId="0"/>
      <p:bldP spid="136" grpId="0" animBg="1"/>
      <p:bldP spid="138" grpId="0"/>
      <p:bldP spid="139" grpId="0" animBg="1"/>
      <p:bldP spid="144" grpId="0" animBg="1"/>
      <p:bldP spid="145" grpId="0"/>
      <p:bldP spid="146" grpId="0"/>
      <p:bldP spid="143" grpId="0" animBg="1"/>
      <p:bldP spid="147" grpId="0" animBg="1"/>
      <p:bldP spid="148" grpId="0"/>
      <p:bldP spid="149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627149" y="6093296"/>
            <a:ext cx="7170831" cy="612492"/>
            <a:chOff x="2906758" y="6323422"/>
            <a:chExt cx="7170831" cy="612492"/>
          </a:xfrm>
        </p:grpSpPr>
        <p:cxnSp>
          <p:nvCxnSpPr>
            <p:cNvPr id="5" name="直接箭头连接符 4"/>
            <p:cNvCxnSpPr/>
            <p:nvPr/>
          </p:nvCxnSpPr>
          <p:spPr>
            <a:xfrm>
              <a:off x="2906758" y="6494231"/>
              <a:ext cx="6476963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直接连接符 5"/>
            <p:cNvCxnSpPr/>
            <p:nvPr/>
          </p:nvCxnSpPr>
          <p:spPr>
            <a:xfrm>
              <a:off x="3647728" y="6323423"/>
              <a:ext cx="0" cy="170808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直接连接符 6"/>
            <p:cNvCxnSpPr/>
            <p:nvPr/>
          </p:nvCxnSpPr>
          <p:spPr>
            <a:xfrm>
              <a:off x="4223792" y="6323423"/>
              <a:ext cx="0" cy="170808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直接连接符 7"/>
            <p:cNvCxnSpPr/>
            <p:nvPr/>
          </p:nvCxnSpPr>
          <p:spPr>
            <a:xfrm>
              <a:off x="4799856" y="6323423"/>
              <a:ext cx="0" cy="170808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直接连接符 8"/>
            <p:cNvCxnSpPr/>
            <p:nvPr/>
          </p:nvCxnSpPr>
          <p:spPr>
            <a:xfrm>
              <a:off x="5375920" y="6323422"/>
              <a:ext cx="0" cy="170808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直接连接符 9"/>
            <p:cNvCxnSpPr/>
            <p:nvPr/>
          </p:nvCxnSpPr>
          <p:spPr>
            <a:xfrm>
              <a:off x="5951984" y="6323422"/>
              <a:ext cx="0" cy="170808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直接连接符 10"/>
            <p:cNvCxnSpPr/>
            <p:nvPr/>
          </p:nvCxnSpPr>
          <p:spPr>
            <a:xfrm>
              <a:off x="6528048" y="6323422"/>
              <a:ext cx="0" cy="170808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接连接符 11"/>
            <p:cNvCxnSpPr/>
            <p:nvPr/>
          </p:nvCxnSpPr>
          <p:spPr>
            <a:xfrm>
              <a:off x="7151473" y="6323422"/>
              <a:ext cx="0" cy="170808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接连接符 12"/>
            <p:cNvCxnSpPr/>
            <p:nvPr/>
          </p:nvCxnSpPr>
          <p:spPr>
            <a:xfrm>
              <a:off x="7655529" y="6323422"/>
              <a:ext cx="0" cy="170808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/>
            <p:nvPr/>
          </p:nvCxnSpPr>
          <p:spPr>
            <a:xfrm>
              <a:off x="8159585" y="6323422"/>
              <a:ext cx="0" cy="170808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连接符 14"/>
            <p:cNvCxnSpPr/>
            <p:nvPr/>
          </p:nvCxnSpPr>
          <p:spPr>
            <a:xfrm>
              <a:off x="8688288" y="6323422"/>
              <a:ext cx="0" cy="170808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文本框 15"/>
            <p:cNvSpPr txBox="1"/>
            <p:nvPr/>
          </p:nvSpPr>
          <p:spPr>
            <a:xfrm>
              <a:off x="9044797" y="6566582"/>
              <a:ext cx="103279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b="1" dirty="0"/>
                <a:t>篮板</a:t>
              </a:r>
              <a:endParaRPr lang="zh-CN" altLang="en-US" b="1" dirty="0"/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3494872" y="6478899"/>
              <a:ext cx="32501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/>
                <a:t>3</a:t>
              </a:r>
              <a:endParaRPr lang="zh-CN" altLang="en-US" b="1" dirty="0"/>
            </a:p>
          </p:txBody>
        </p:sp>
        <p:sp>
          <p:nvSpPr>
            <p:cNvPr id="18" name="文本框 17"/>
            <p:cNvSpPr txBox="1"/>
            <p:nvPr/>
          </p:nvSpPr>
          <p:spPr>
            <a:xfrm>
              <a:off x="4055127" y="6470969"/>
              <a:ext cx="32501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/>
                <a:t>4</a:t>
              </a:r>
              <a:endParaRPr lang="zh-CN" altLang="en-US" b="1" dirty="0"/>
            </a:p>
          </p:txBody>
        </p:sp>
        <p:sp>
          <p:nvSpPr>
            <p:cNvPr id="19" name="文本框 18"/>
            <p:cNvSpPr txBox="1"/>
            <p:nvPr/>
          </p:nvSpPr>
          <p:spPr>
            <a:xfrm>
              <a:off x="4637956" y="6475151"/>
              <a:ext cx="32501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/>
                <a:t>5</a:t>
              </a:r>
              <a:endParaRPr lang="zh-CN" altLang="en-US" b="1" dirty="0"/>
            </a:p>
          </p:txBody>
        </p:sp>
        <p:sp>
          <p:nvSpPr>
            <p:cNvPr id="20" name="文本框 19"/>
            <p:cNvSpPr txBox="1"/>
            <p:nvPr/>
          </p:nvSpPr>
          <p:spPr>
            <a:xfrm>
              <a:off x="5214019" y="6455987"/>
              <a:ext cx="32501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/>
                <a:t>6</a:t>
              </a:r>
              <a:endParaRPr lang="zh-CN" altLang="en-US" b="1" dirty="0"/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5805891" y="6490296"/>
              <a:ext cx="32501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/>
                <a:t>7</a:t>
              </a:r>
              <a:endParaRPr lang="zh-CN" altLang="en-US" b="1" dirty="0"/>
            </a:p>
          </p:txBody>
        </p:sp>
        <p:sp>
          <p:nvSpPr>
            <p:cNvPr id="22" name="文本框 21"/>
            <p:cNvSpPr txBox="1"/>
            <p:nvPr/>
          </p:nvSpPr>
          <p:spPr>
            <a:xfrm>
              <a:off x="6366146" y="6482366"/>
              <a:ext cx="32501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/>
                <a:t>8</a:t>
              </a:r>
              <a:endParaRPr lang="zh-CN" altLang="en-US" b="1" dirty="0"/>
            </a:p>
          </p:txBody>
        </p:sp>
        <p:sp>
          <p:nvSpPr>
            <p:cNvPr id="23" name="文本框 22"/>
            <p:cNvSpPr txBox="1"/>
            <p:nvPr/>
          </p:nvSpPr>
          <p:spPr>
            <a:xfrm>
              <a:off x="6935416" y="6470969"/>
              <a:ext cx="32501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/>
                <a:t>9</a:t>
              </a:r>
              <a:endParaRPr lang="zh-CN" altLang="en-US" b="1" dirty="0"/>
            </a:p>
          </p:txBody>
        </p:sp>
        <p:sp>
          <p:nvSpPr>
            <p:cNvPr id="24" name="文本框 23"/>
            <p:cNvSpPr txBox="1"/>
            <p:nvPr/>
          </p:nvSpPr>
          <p:spPr>
            <a:xfrm>
              <a:off x="7453348" y="6463754"/>
              <a:ext cx="45365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/>
                <a:t>10</a:t>
              </a:r>
              <a:endParaRPr lang="zh-CN" altLang="en-US" b="1" dirty="0"/>
            </a:p>
          </p:txBody>
        </p:sp>
        <p:sp>
          <p:nvSpPr>
            <p:cNvPr id="25" name="文本框 24"/>
            <p:cNvSpPr txBox="1"/>
            <p:nvPr/>
          </p:nvSpPr>
          <p:spPr>
            <a:xfrm>
              <a:off x="7957762" y="6465598"/>
              <a:ext cx="59584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/>
                <a:t>11</a:t>
              </a:r>
              <a:endParaRPr lang="zh-CN" altLang="en-US" b="1" dirty="0"/>
            </a:p>
          </p:txBody>
        </p:sp>
        <p:sp>
          <p:nvSpPr>
            <p:cNvPr id="26" name="文本框 25"/>
            <p:cNvSpPr txBox="1"/>
            <p:nvPr/>
          </p:nvSpPr>
          <p:spPr>
            <a:xfrm>
              <a:off x="8475527" y="6477979"/>
              <a:ext cx="50741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/>
                <a:t>12</a:t>
              </a:r>
              <a:endParaRPr lang="zh-CN" altLang="en-US" b="1" dirty="0"/>
            </a:p>
          </p:txBody>
        </p:sp>
      </p:grpSp>
      <p:pic>
        <p:nvPicPr>
          <p:cNvPr id="27" name="图片 26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389" r="21923" b="36428"/>
          <a:stretch>
            <a:fillRect/>
          </a:stretch>
        </p:blipFill>
        <p:spPr>
          <a:xfrm>
            <a:off x="1795275" y="4655088"/>
            <a:ext cx="576064" cy="646030"/>
          </a:xfrm>
          <a:prstGeom prst="ellipse">
            <a:avLst/>
          </a:prstGeom>
        </p:spPr>
      </p:pic>
      <p:pic>
        <p:nvPicPr>
          <p:cNvPr id="28" name="图片 27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130" r="26899" b="47125"/>
          <a:stretch>
            <a:fillRect/>
          </a:stretch>
        </p:blipFill>
        <p:spPr>
          <a:xfrm>
            <a:off x="2752310" y="4512946"/>
            <a:ext cx="576064" cy="534646"/>
          </a:xfrm>
          <a:prstGeom prst="ellipse">
            <a:avLst/>
          </a:prstGeom>
        </p:spPr>
      </p:pic>
      <p:pic>
        <p:nvPicPr>
          <p:cNvPr id="29" name="图片 2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5368" y="4281528"/>
            <a:ext cx="575216" cy="575216"/>
          </a:xfrm>
          <a:prstGeom prst="ellipse">
            <a:avLst/>
          </a:prstGeom>
        </p:spPr>
      </p:pic>
      <p:pic>
        <p:nvPicPr>
          <p:cNvPr id="30" name="图片 29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086" r="19844" b="44050"/>
          <a:stretch>
            <a:fillRect/>
          </a:stretch>
        </p:blipFill>
        <p:spPr>
          <a:xfrm>
            <a:off x="2181979" y="2976164"/>
            <a:ext cx="576064" cy="613708"/>
          </a:xfrm>
          <a:prstGeom prst="ellipse">
            <a:avLst/>
          </a:prstGeom>
        </p:spPr>
      </p:pic>
      <p:pic>
        <p:nvPicPr>
          <p:cNvPr id="31" name="图片 30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045" t="8887" r="22876" b="45424"/>
          <a:stretch>
            <a:fillRect/>
          </a:stretch>
        </p:blipFill>
        <p:spPr>
          <a:xfrm>
            <a:off x="2837178" y="3353288"/>
            <a:ext cx="529020" cy="507760"/>
          </a:xfrm>
          <a:prstGeom prst="ellipse">
            <a:avLst/>
          </a:prstGeom>
        </p:spPr>
      </p:pic>
      <p:pic>
        <p:nvPicPr>
          <p:cNvPr id="32" name="图片 31"/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341" r="20773" b="47362"/>
          <a:stretch>
            <a:fillRect/>
          </a:stretch>
        </p:blipFill>
        <p:spPr>
          <a:xfrm>
            <a:off x="4494919" y="1530038"/>
            <a:ext cx="504057" cy="521415"/>
          </a:xfrm>
          <a:prstGeom prst="ellipse">
            <a:avLst/>
          </a:prstGeom>
        </p:spPr>
      </p:pic>
      <p:pic>
        <p:nvPicPr>
          <p:cNvPr id="33" name="图片 32"/>
          <p:cNvPicPr>
            <a:picLocks noChangeAspect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929" t="-193" r="25178" b="54927"/>
          <a:stretch>
            <a:fillRect/>
          </a:stretch>
        </p:blipFill>
        <p:spPr>
          <a:xfrm>
            <a:off x="6043378" y="2311695"/>
            <a:ext cx="495610" cy="497738"/>
          </a:xfrm>
          <a:prstGeom prst="ellipse">
            <a:avLst/>
          </a:prstGeom>
        </p:spPr>
      </p:pic>
      <p:grpSp>
        <p:nvGrpSpPr>
          <p:cNvPr id="34" name="组合 33"/>
          <p:cNvGrpSpPr/>
          <p:nvPr/>
        </p:nvGrpSpPr>
        <p:grpSpPr>
          <a:xfrm>
            <a:off x="194601" y="154638"/>
            <a:ext cx="1131184" cy="6464978"/>
            <a:chOff x="194601" y="154638"/>
            <a:chExt cx="1131184" cy="6464978"/>
          </a:xfrm>
        </p:grpSpPr>
        <p:grpSp>
          <p:nvGrpSpPr>
            <p:cNvPr id="35" name="组合 34"/>
            <p:cNvGrpSpPr/>
            <p:nvPr/>
          </p:nvGrpSpPr>
          <p:grpSpPr>
            <a:xfrm>
              <a:off x="1039064" y="428431"/>
              <a:ext cx="171961" cy="6155366"/>
              <a:chOff x="3287688" y="-597610"/>
              <a:chExt cx="171961" cy="6155366"/>
            </a:xfrm>
          </p:grpSpPr>
          <p:cxnSp>
            <p:nvCxnSpPr>
              <p:cNvPr id="50" name="直接箭头连接符 49"/>
              <p:cNvCxnSpPr/>
              <p:nvPr/>
            </p:nvCxnSpPr>
            <p:spPr>
              <a:xfrm flipV="1">
                <a:off x="3287688" y="-597610"/>
                <a:ext cx="0" cy="6155366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直接连接符 50"/>
              <p:cNvCxnSpPr/>
              <p:nvPr/>
            </p:nvCxnSpPr>
            <p:spPr>
              <a:xfrm>
                <a:off x="3287688" y="3789040"/>
                <a:ext cx="144016" cy="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直接连接符 51"/>
              <p:cNvCxnSpPr/>
              <p:nvPr/>
            </p:nvCxnSpPr>
            <p:spPr>
              <a:xfrm>
                <a:off x="3301841" y="4941168"/>
                <a:ext cx="144016" cy="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直接连接符 52"/>
              <p:cNvCxnSpPr/>
              <p:nvPr/>
            </p:nvCxnSpPr>
            <p:spPr>
              <a:xfrm>
                <a:off x="3301480" y="4365104"/>
                <a:ext cx="144016" cy="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直接连接符 53"/>
              <p:cNvCxnSpPr/>
              <p:nvPr/>
            </p:nvCxnSpPr>
            <p:spPr>
              <a:xfrm>
                <a:off x="3301480" y="764704"/>
                <a:ext cx="144016" cy="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直接连接符 54"/>
              <p:cNvCxnSpPr/>
              <p:nvPr/>
            </p:nvCxnSpPr>
            <p:spPr>
              <a:xfrm>
                <a:off x="3301480" y="3140968"/>
                <a:ext cx="144016" cy="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直接连接符 55"/>
              <p:cNvCxnSpPr/>
              <p:nvPr/>
            </p:nvCxnSpPr>
            <p:spPr>
              <a:xfrm>
                <a:off x="3301480" y="2564904"/>
                <a:ext cx="144016" cy="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直接连接符 56"/>
              <p:cNvCxnSpPr/>
              <p:nvPr/>
            </p:nvCxnSpPr>
            <p:spPr>
              <a:xfrm>
                <a:off x="3315633" y="1916832"/>
                <a:ext cx="144016" cy="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直接连接符 57"/>
              <p:cNvCxnSpPr/>
              <p:nvPr/>
            </p:nvCxnSpPr>
            <p:spPr>
              <a:xfrm>
                <a:off x="3315272" y="1340768"/>
                <a:ext cx="144016" cy="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6" name="文本框 35"/>
            <p:cNvSpPr txBox="1"/>
            <p:nvPr/>
          </p:nvSpPr>
          <p:spPr>
            <a:xfrm>
              <a:off x="627149" y="6250284"/>
              <a:ext cx="44314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i="1" dirty="0"/>
                <a:t>O</a:t>
              </a:r>
              <a:endParaRPr lang="zh-CN" altLang="en-US" b="1" i="1" dirty="0"/>
            </a:p>
          </p:txBody>
        </p:sp>
        <p:sp>
          <p:nvSpPr>
            <p:cNvPr id="37" name="文本框 36"/>
            <p:cNvSpPr txBox="1"/>
            <p:nvPr/>
          </p:nvSpPr>
          <p:spPr>
            <a:xfrm>
              <a:off x="194601" y="154638"/>
              <a:ext cx="6457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b="1" dirty="0"/>
                <a:t>助攻</a:t>
              </a:r>
              <a:endParaRPr lang="zh-CN" altLang="en-US" b="1" dirty="0"/>
            </a:p>
          </p:txBody>
        </p:sp>
        <p:sp>
          <p:nvSpPr>
            <p:cNvPr id="38" name="文本框 37"/>
            <p:cNvSpPr txBox="1"/>
            <p:nvPr/>
          </p:nvSpPr>
          <p:spPr>
            <a:xfrm>
              <a:off x="652062" y="5229200"/>
              <a:ext cx="32501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/>
                <a:t>3</a:t>
              </a:r>
              <a:endParaRPr lang="zh-CN" altLang="en-US" b="1" dirty="0"/>
            </a:p>
          </p:txBody>
        </p:sp>
        <p:sp>
          <p:nvSpPr>
            <p:cNvPr id="39" name="文本框 38"/>
            <p:cNvSpPr txBox="1"/>
            <p:nvPr/>
          </p:nvSpPr>
          <p:spPr>
            <a:xfrm>
              <a:off x="652061" y="4653136"/>
              <a:ext cx="32501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/>
                <a:t>4</a:t>
              </a:r>
              <a:endParaRPr lang="zh-CN" altLang="en-US" b="1" dirty="0"/>
            </a:p>
          </p:txBody>
        </p:sp>
        <p:sp>
          <p:nvSpPr>
            <p:cNvPr id="40" name="文本框 39"/>
            <p:cNvSpPr txBox="1"/>
            <p:nvPr/>
          </p:nvSpPr>
          <p:spPr>
            <a:xfrm>
              <a:off x="649015" y="4005064"/>
              <a:ext cx="32501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/>
                <a:t>5</a:t>
              </a:r>
              <a:endParaRPr lang="zh-CN" altLang="en-US" b="1" dirty="0"/>
            </a:p>
          </p:txBody>
        </p:sp>
        <p:sp>
          <p:nvSpPr>
            <p:cNvPr id="41" name="文本框 40"/>
            <p:cNvSpPr txBox="1"/>
            <p:nvPr/>
          </p:nvSpPr>
          <p:spPr>
            <a:xfrm>
              <a:off x="653553" y="3429000"/>
              <a:ext cx="32501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/>
                <a:t>6</a:t>
              </a:r>
              <a:endParaRPr lang="zh-CN" altLang="en-US" b="1" dirty="0"/>
            </a:p>
          </p:txBody>
        </p:sp>
        <p:sp>
          <p:nvSpPr>
            <p:cNvPr id="42" name="文本框 41"/>
            <p:cNvSpPr txBox="1"/>
            <p:nvPr/>
          </p:nvSpPr>
          <p:spPr>
            <a:xfrm>
              <a:off x="653553" y="2780928"/>
              <a:ext cx="32501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/>
                <a:t>7</a:t>
              </a:r>
              <a:endParaRPr lang="zh-CN" altLang="en-US" b="1" dirty="0"/>
            </a:p>
          </p:txBody>
        </p:sp>
        <p:sp>
          <p:nvSpPr>
            <p:cNvPr id="43" name="文本框 42"/>
            <p:cNvSpPr txBox="1"/>
            <p:nvPr/>
          </p:nvSpPr>
          <p:spPr>
            <a:xfrm>
              <a:off x="670472" y="2232046"/>
              <a:ext cx="32501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/>
                <a:t>8</a:t>
              </a:r>
              <a:endParaRPr lang="zh-CN" altLang="en-US" b="1" dirty="0"/>
            </a:p>
          </p:txBody>
        </p:sp>
        <p:sp>
          <p:nvSpPr>
            <p:cNvPr id="44" name="文本框 43"/>
            <p:cNvSpPr txBox="1"/>
            <p:nvPr/>
          </p:nvSpPr>
          <p:spPr>
            <a:xfrm>
              <a:off x="695400" y="1628800"/>
              <a:ext cx="32501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/>
                <a:t>9</a:t>
              </a:r>
              <a:endParaRPr lang="zh-CN" altLang="en-US" b="1" dirty="0"/>
            </a:p>
          </p:txBody>
        </p:sp>
        <p:sp>
          <p:nvSpPr>
            <p:cNvPr id="45" name="文本框 44"/>
            <p:cNvSpPr txBox="1"/>
            <p:nvPr/>
          </p:nvSpPr>
          <p:spPr>
            <a:xfrm>
              <a:off x="632062" y="1077033"/>
              <a:ext cx="66656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/>
                <a:t>10</a:t>
              </a:r>
              <a:endParaRPr lang="zh-CN" altLang="en-US" b="1" dirty="0"/>
            </a:p>
          </p:txBody>
        </p:sp>
        <p:cxnSp>
          <p:nvCxnSpPr>
            <p:cNvPr id="46" name="直接连接符 45"/>
            <p:cNvCxnSpPr/>
            <p:nvPr/>
          </p:nvCxnSpPr>
          <p:spPr>
            <a:xfrm>
              <a:off x="1053217" y="1210947"/>
              <a:ext cx="144016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直接连接符 46"/>
            <p:cNvCxnSpPr/>
            <p:nvPr/>
          </p:nvCxnSpPr>
          <p:spPr>
            <a:xfrm>
              <a:off x="1052856" y="634883"/>
              <a:ext cx="144016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8" name="文本框 47"/>
            <p:cNvSpPr txBox="1"/>
            <p:nvPr/>
          </p:nvSpPr>
          <p:spPr>
            <a:xfrm>
              <a:off x="659220" y="508731"/>
              <a:ext cx="666565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altLang="zh-CN" b="1" dirty="0"/>
                <a:t>11</a:t>
              </a:r>
              <a:endParaRPr lang="zh-CN" altLang="en-US" b="1" dirty="0"/>
            </a:p>
          </p:txBody>
        </p:sp>
        <p:sp>
          <p:nvSpPr>
            <p:cNvPr id="49" name="文本框 48"/>
            <p:cNvSpPr txBox="1"/>
            <p:nvPr/>
          </p:nvSpPr>
          <p:spPr>
            <a:xfrm>
              <a:off x="645819" y="5802804"/>
              <a:ext cx="32501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/>
                <a:t>2</a:t>
              </a:r>
              <a:endParaRPr lang="zh-CN" altLang="en-US" b="1" dirty="0"/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61" name="文本框 60"/>
              <p:cNvSpPr txBox="1"/>
              <p:nvPr/>
            </p:nvSpPr>
            <p:spPr>
              <a:xfrm>
                <a:off x="4651010" y="2100541"/>
                <a:ext cx="95141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9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61" name="文本框 6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51010" y="2100541"/>
                <a:ext cx="951414" cy="276999"/>
              </a:xfrm>
              <a:prstGeom prst="rect">
                <a:avLst/>
              </a:prstGeom>
              <a:blipFill rotWithShape="1">
                <a:blip r:embed="rId8"/>
                <a:stretch>
                  <a:fillRect l="-28" t="-215" r="-3890" b="3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2" name="文本框 61"/>
              <p:cNvSpPr txBox="1"/>
              <p:nvPr/>
            </p:nvSpPr>
            <p:spPr>
              <a:xfrm>
                <a:off x="1624830" y="5388865"/>
                <a:ext cx="95141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62" name="文本框 6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4830" y="5388865"/>
                <a:ext cx="951414" cy="276999"/>
              </a:xfrm>
              <a:prstGeom prst="rect">
                <a:avLst/>
              </a:prstGeom>
              <a:blipFill rotWithShape="1">
                <a:blip r:embed="rId9"/>
                <a:stretch>
                  <a:fillRect l="-53" t="-92" r="-3866" b="14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3" name="文本框 62"/>
              <p:cNvSpPr txBox="1"/>
              <p:nvPr/>
            </p:nvSpPr>
            <p:spPr>
              <a:xfrm>
                <a:off x="2859121" y="5121784"/>
                <a:ext cx="95141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63" name="文本框 6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9121" y="5121784"/>
                <a:ext cx="951414" cy="276999"/>
              </a:xfrm>
              <a:prstGeom prst="rect">
                <a:avLst/>
              </a:prstGeom>
              <a:blipFill rotWithShape="1">
                <a:blip r:embed="rId10"/>
                <a:stretch>
                  <a:fillRect l="-37" t="-184" r="-3882" b="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4" name="文本框 63"/>
              <p:cNvSpPr txBox="1"/>
              <p:nvPr/>
            </p:nvSpPr>
            <p:spPr>
              <a:xfrm>
                <a:off x="3103045" y="3904503"/>
                <a:ext cx="95141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9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64" name="文本框 6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03045" y="3904503"/>
                <a:ext cx="951414" cy="276999"/>
              </a:xfrm>
              <a:prstGeom prst="rect">
                <a:avLst/>
              </a:prstGeom>
              <a:blipFill rotWithShape="1">
                <a:blip r:embed="rId11"/>
                <a:stretch>
                  <a:fillRect l="-46" t="-189" r="-3873" b="1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5" name="文本框 64"/>
              <p:cNvSpPr txBox="1"/>
              <p:nvPr/>
            </p:nvSpPr>
            <p:spPr>
              <a:xfrm>
                <a:off x="1631845" y="3564435"/>
                <a:ext cx="95141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65" name="文本框 6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1845" y="3564435"/>
                <a:ext cx="951414" cy="276999"/>
              </a:xfrm>
              <a:prstGeom prst="rect">
                <a:avLst/>
              </a:prstGeom>
              <a:blipFill rotWithShape="1">
                <a:blip r:embed="rId12"/>
                <a:stretch>
                  <a:fillRect l="-56" t="-65" r="-3863" b="11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6" name="文本框 65"/>
              <p:cNvSpPr txBox="1"/>
              <p:nvPr/>
            </p:nvSpPr>
            <p:spPr>
              <a:xfrm>
                <a:off x="5841531" y="2922675"/>
                <a:ext cx="107965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12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66" name="文本框 6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41531" y="2922675"/>
                <a:ext cx="1079655" cy="276999"/>
              </a:xfrm>
              <a:prstGeom prst="rect">
                <a:avLst/>
              </a:prstGeom>
              <a:blipFill rotWithShape="1">
                <a:blip r:embed="rId13"/>
                <a:stretch>
                  <a:fillRect l="-15" t="-146" r="-3323" b="19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7" name="文本框 66"/>
              <p:cNvSpPr txBox="1"/>
              <p:nvPr/>
            </p:nvSpPr>
            <p:spPr>
              <a:xfrm>
                <a:off x="4185552" y="4731215"/>
                <a:ext cx="95141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67" name="文本框 6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85552" y="4731215"/>
                <a:ext cx="951414" cy="276999"/>
              </a:xfrm>
              <a:prstGeom prst="rect">
                <a:avLst/>
              </a:prstGeom>
              <a:blipFill rotWithShape="1">
                <a:blip r:embed="rId14"/>
                <a:stretch>
                  <a:fillRect l="-28" t="-168" r="-3890" b="21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0" name="椭圆 89"/>
          <p:cNvSpPr/>
          <p:nvPr/>
        </p:nvSpPr>
        <p:spPr>
          <a:xfrm>
            <a:off x="4481258" y="1523434"/>
            <a:ext cx="534622" cy="534622"/>
          </a:xfrm>
          <a:prstGeom prst="ellipse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9" name="椭圆 98"/>
          <p:cNvSpPr/>
          <p:nvPr/>
        </p:nvSpPr>
        <p:spPr>
          <a:xfrm>
            <a:off x="2762586" y="4502111"/>
            <a:ext cx="550756" cy="550756"/>
          </a:xfrm>
          <a:prstGeom prst="ellipse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2" name="椭圆 101"/>
          <p:cNvSpPr/>
          <p:nvPr/>
        </p:nvSpPr>
        <p:spPr>
          <a:xfrm>
            <a:off x="1754877" y="4656928"/>
            <a:ext cx="616462" cy="646352"/>
          </a:xfrm>
          <a:prstGeom prst="ellipse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5" name="椭圆 104"/>
          <p:cNvSpPr/>
          <p:nvPr/>
        </p:nvSpPr>
        <p:spPr>
          <a:xfrm>
            <a:off x="6039781" y="2287276"/>
            <a:ext cx="513321" cy="522157"/>
          </a:xfrm>
          <a:prstGeom prst="ellipse">
            <a:avLst/>
          </a:prstGeom>
          <a:noFill/>
          <a:ln>
            <a:solidFill>
              <a:srgbClr val="558ED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3" name="椭圆 122"/>
          <p:cNvSpPr/>
          <p:nvPr/>
        </p:nvSpPr>
        <p:spPr>
          <a:xfrm>
            <a:off x="2184467" y="2988881"/>
            <a:ext cx="571208" cy="597884"/>
          </a:xfrm>
          <a:prstGeom prst="ellipse">
            <a:avLst/>
          </a:prstGeom>
          <a:noFill/>
          <a:ln>
            <a:solidFill>
              <a:schemeClr val="bg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9" name="椭圆 128"/>
          <p:cNvSpPr/>
          <p:nvPr/>
        </p:nvSpPr>
        <p:spPr>
          <a:xfrm>
            <a:off x="2828923" y="3338300"/>
            <a:ext cx="536824" cy="536824"/>
          </a:xfrm>
          <a:prstGeom prst="ellipse">
            <a:avLst/>
          </a:prstGeom>
          <a:noFill/>
          <a:ln>
            <a:solidFill>
              <a:schemeClr val="bg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3" name="椭圆 132"/>
          <p:cNvSpPr/>
          <p:nvPr/>
        </p:nvSpPr>
        <p:spPr>
          <a:xfrm>
            <a:off x="3698500" y="4290816"/>
            <a:ext cx="549761" cy="556639"/>
          </a:xfrm>
          <a:prstGeom prst="ellipse">
            <a:avLst/>
          </a:prstGeom>
          <a:noFill/>
          <a:ln>
            <a:solidFill>
              <a:schemeClr val="bg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2" name="椭圆 111"/>
          <p:cNvSpPr/>
          <p:nvPr/>
        </p:nvSpPr>
        <p:spPr>
          <a:xfrm>
            <a:off x="6039780" y="2287276"/>
            <a:ext cx="513321" cy="522157"/>
          </a:xfrm>
          <a:prstGeom prst="ellipse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2" name="椭圆 91"/>
          <p:cNvSpPr/>
          <p:nvPr/>
        </p:nvSpPr>
        <p:spPr>
          <a:xfrm>
            <a:off x="5168913" y="2180567"/>
            <a:ext cx="312329" cy="312329"/>
          </a:xfrm>
          <a:prstGeom prst="ellipse">
            <a:avLst/>
          </a:prstGeom>
          <a:solidFill>
            <a:srgbClr val="FFFF00"/>
          </a:solidFill>
          <a:ln w="571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3" name="椭圆 92"/>
          <p:cNvSpPr/>
          <p:nvPr/>
        </p:nvSpPr>
        <p:spPr>
          <a:xfrm>
            <a:off x="2755060" y="4090095"/>
            <a:ext cx="312329" cy="312329"/>
          </a:xfrm>
          <a:prstGeom prst="ellipse">
            <a:avLst/>
          </a:prstGeom>
          <a:solidFill>
            <a:srgbClr val="00B0F0"/>
          </a:solidFill>
          <a:ln w="571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5" name="文本框 94"/>
              <p:cNvSpPr txBox="1"/>
              <p:nvPr/>
            </p:nvSpPr>
            <p:spPr>
              <a:xfrm>
                <a:off x="5603566" y="2136368"/>
                <a:ext cx="842475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CN" sz="160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6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9</m:t>
                          </m:r>
                          <m:r>
                            <a:rPr lang="en-US" altLang="zh-CN" sz="16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altLang="zh-CN" sz="16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  <m:r>
                            <a:rPr lang="en-US" altLang="zh-CN" sz="16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CN" sz="16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7</m:t>
                          </m:r>
                          <m:r>
                            <a:rPr lang="en-US" altLang="zh-CN" sz="16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altLang="zh-CN" sz="16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9</m:t>
                          </m:r>
                        </m:e>
                      </m:d>
                    </m:oMath>
                  </m:oMathPara>
                </a14:m>
                <a:endParaRPr lang="zh-CN" altLang="en-US" sz="1600" dirty="0">
                  <a:solidFill>
                    <a:srgbClr val="FFFF00"/>
                  </a:solidFill>
                </a:endParaRPr>
              </a:p>
            </p:txBody>
          </p:sp>
        </mc:Choice>
        <mc:Fallback>
          <p:sp>
            <p:nvSpPr>
              <p:cNvPr id="95" name="文本框 9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03566" y="2136368"/>
                <a:ext cx="842475" cy="246221"/>
              </a:xfrm>
              <a:prstGeom prst="rect">
                <a:avLst/>
              </a:prstGeom>
              <a:blipFill rotWithShape="1">
                <a:blip r:embed="rId15"/>
                <a:stretch>
                  <a:fillRect l="-39" t="-93" r="-4127" b="2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6" name="文本框 95"/>
              <p:cNvSpPr txBox="1"/>
              <p:nvPr/>
            </p:nvSpPr>
            <p:spPr>
              <a:xfrm>
                <a:off x="1678393" y="4210550"/>
                <a:ext cx="1070101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CN" sz="160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6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  <m:r>
                            <a:rPr lang="en-US" altLang="zh-CN" sz="16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altLang="zh-CN" sz="16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66</m:t>
                          </m:r>
                          <m:r>
                            <a:rPr lang="en-US" altLang="zh-CN" sz="16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CN" sz="16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n-US" altLang="zh-CN" sz="16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altLang="zh-CN" sz="16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84</m:t>
                          </m:r>
                        </m:e>
                      </m:d>
                    </m:oMath>
                  </m:oMathPara>
                </a14:m>
                <a:endParaRPr lang="zh-CN" altLang="en-US" sz="1600" dirty="0">
                  <a:solidFill>
                    <a:srgbClr val="00B0F0"/>
                  </a:solidFill>
                </a:endParaRPr>
              </a:p>
            </p:txBody>
          </p:sp>
        </mc:Choice>
        <mc:Fallback>
          <p:sp>
            <p:nvSpPr>
              <p:cNvPr id="96" name="文本框 9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78393" y="4210550"/>
                <a:ext cx="1070101" cy="246221"/>
              </a:xfrm>
              <a:prstGeom prst="rect">
                <a:avLst/>
              </a:prstGeom>
              <a:blipFill rotWithShape="1">
                <a:blip r:embed="rId16"/>
                <a:stretch>
                  <a:fillRect l="-8" t="-203" r="-3125" b="13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0" name="组合 99"/>
          <p:cNvGrpSpPr/>
          <p:nvPr/>
        </p:nvGrpSpPr>
        <p:grpSpPr>
          <a:xfrm>
            <a:off x="7019000" y="1895822"/>
            <a:ext cx="5046251" cy="3502961"/>
            <a:chOff x="6981502" y="2509607"/>
            <a:chExt cx="5046251" cy="3502961"/>
          </a:xfrm>
        </p:grpSpPr>
        <p:sp>
          <p:nvSpPr>
            <p:cNvPr id="101" name="矩形 100"/>
            <p:cNvSpPr/>
            <p:nvPr/>
          </p:nvSpPr>
          <p:spPr>
            <a:xfrm>
              <a:off x="6981502" y="2509607"/>
              <a:ext cx="5046251" cy="3502961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3" name="文本框 102"/>
            <p:cNvSpPr txBox="1"/>
            <p:nvPr/>
          </p:nvSpPr>
          <p:spPr>
            <a:xfrm>
              <a:off x="7032104" y="3508427"/>
              <a:ext cx="109819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篮板：</a:t>
              </a:r>
              <a:endPara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4" name="文本框 103"/>
            <p:cNvSpPr txBox="1"/>
            <p:nvPr/>
          </p:nvSpPr>
          <p:spPr>
            <a:xfrm>
              <a:off x="7086499" y="4309807"/>
              <a:ext cx="109819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助攻：</a:t>
              </a:r>
              <a:endPara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6" name="矩形 105"/>
            <p:cNvSpPr/>
            <p:nvPr/>
          </p:nvSpPr>
          <p:spPr>
            <a:xfrm>
              <a:off x="8689458" y="2690307"/>
              <a:ext cx="1630341" cy="323566"/>
            </a:xfrm>
            <a:prstGeom prst="rect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蓝队真实能力</a:t>
              </a:r>
              <a:endPara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7" name="矩形 106"/>
            <p:cNvSpPr/>
            <p:nvPr/>
          </p:nvSpPr>
          <p:spPr>
            <a:xfrm>
              <a:off x="8747129" y="5029887"/>
              <a:ext cx="1572670" cy="408704"/>
            </a:xfrm>
            <a:prstGeom prst="rect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黄队真实能力</a:t>
              </a:r>
              <a:endPara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108" name="组合 107"/>
            <p:cNvGrpSpPr/>
            <p:nvPr/>
          </p:nvGrpSpPr>
          <p:grpSpPr>
            <a:xfrm>
              <a:off x="8150127" y="3278464"/>
              <a:ext cx="3293249" cy="815319"/>
              <a:chOff x="9400269" y="1830764"/>
              <a:chExt cx="3293249" cy="815319"/>
            </a:xfrm>
          </p:grpSpPr>
          <p:cxnSp>
            <p:nvCxnSpPr>
              <p:cNvPr id="121" name="直接连接符 120"/>
              <p:cNvCxnSpPr/>
              <p:nvPr/>
            </p:nvCxnSpPr>
            <p:spPr>
              <a:xfrm>
                <a:off x="9400269" y="2230857"/>
                <a:ext cx="2560280" cy="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2" name="文本框 121"/>
              <p:cNvSpPr txBox="1"/>
              <p:nvPr/>
            </p:nvSpPr>
            <p:spPr>
              <a:xfrm>
                <a:off x="10521510" y="2245973"/>
                <a:ext cx="417425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000" dirty="0"/>
                  <a:t>5</a:t>
                </a:r>
                <a:endParaRPr lang="zh-CN" altLang="en-US" sz="2000" dirty="0"/>
              </a:p>
            </p:txBody>
          </p:sp>
          <p:sp>
            <p:nvSpPr>
              <p:cNvPr id="124" name="文本框 123"/>
              <p:cNvSpPr txBox="1"/>
              <p:nvPr/>
            </p:nvSpPr>
            <p:spPr>
              <a:xfrm>
                <a:off x="9403882" y="1830764"/>
                <a:ext cx="3289636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000" dirty="0"/>
                  <a:t>4.2+5.8+7.4+5.9+5.0</a:t>
                </a:r>
                <a:endParaRPr lang="zh-CN" altLang="en-US" sz="2000" dirty="0"/>
              </a:p>
            </p:txBody>
          </p:sp>
        </p:grpSp>
        <p:sp>
          <p:nvSpPr>
            <p:cNvPr id="109" name="文本框 108"/>
            <p:cNvSpPr txBox="1"/>
            <p:nvPr/>
          </p:nvSpPr>
          <p:spPr>
            <a:xfrm>
              <a:off x="10814366" y="4309807"/>
              <a:ext cx="41324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dirty="0"/>
                <a:t>=</a:t>
              </a:r>
              <a:endParaRPr lang="zh-CN" altLang="en-US" sz="2000" dirty="0"/>
            </a:p>
          </p:txBody>
        </p:sp>
        <p:sp>
          <p:nvSpPr>
            <p:cNvPr id="111" name="文本框 110"/>
            <p:cNvSpPr txBox="1"/>
            <p:nvPr/>
          </p:nvSpPr>
          <p:spPr>
            <a:xfrm>
              <a:off x="10801973" y="3459564"/>
              <a:ext cx="31957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dirty="0"/>
                <a:t>=</a:t>
              </a:r>
              <a:endParaRPr lang="zh-CN" altLang="en-US" sz="2000" dirty="0"/>
            </a:p>
          </p:txBody>
        </p:sp>
        <p:grpSp>
          <p:nvGrpSpPr>
            <p:cNvPr id="114" name="组合 113"/>
            <p:cNvGrpSpPr/>
            <p:nvPr/>
          </p:nvGrpSpPr>
          <p:grpSpPr>
            <a:xfrm>
              <a:off x="8210856" y="4093783"/>
              <a:ext cx="3168427" cy="801620"/>
              <a:chOff x="9916289" y="3575652"/>
              <a:chExt cx="3168427" cy="801620"/>
            </a:xfrm>
          </p:grpSpPr>
          <p:cxnSp>
            <p:nvCxnSpPr>
              <p:cNvPr id="118" name="直接连接符 117"/>
              <p:cNvCxnSpPr/>
              <p:nvPr/>
            </p:nvCxnSpPr>
            <p:spPr>
              <a:xfrm>
                <a:off x="9975145" y="3960093"/>
                <a:ext cx="2437198" cy="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9" name="文本框 118"/>
              <p:cNvSpPr txBox="1"/>
              <p:nvPr/>
            </p:nvSpPr>
            <p:spPr>
              <a:xfrm>
                <a:off x="11005331" y="3977162"/>
                <a:ext cx="417425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000" dirty="0"/>
                  <a:t>5</a:t>
                </a:r>
                <a:endParaRPr lang="zh-CN" altLang="en-US" sz="2000" dirty="0"/>
              </a:p>
            </p:txBody>
          </p:sp>
          <p:sp>
            <p:nvSpPr>
              <p:cNvPr id="120" name="文本框 119"/>
              <p:cNvSpPr txBox="1"/>
              <p:nvPr/>
            </p:nvSpPr>
            <p:spPr>
              <a:xfrm>
                <a:off x="9916289" y="3575652"/>
                <a:ext cx="3168427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000" dirty="0"/>
                  <a:t>3.6+4.0+4.3+5.8+6.5</a:t>
                </a:r>
                <a:endParaRPr lang="zh-CN" altLang="en-US" sz="2000" dirty="0"/>
              </a:p>
            </p:txBody>
          </p:sp>
        </p:grpSp>
        <p:sp>
          <p:nvSpPr>
            <p:cNvPr id="115" name="文本框 114"/>
            <p:cNvSpPr txBox="1"/>
            <p:nvPr/>
          </p:nvSpPr>
          <p:spPr>
            <a:xfrm>
              <a:off x="8740382" y="5534784"/>
              <a:ext cx="218405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000" dirty="0"/>
                <a:t>（</a:t>
              </a:r>
              <a:r>
                <a:rPr lang="en-US" altLang="zh-CN" sz="2000" dirty="0"/>
                <a:t>9.6, 7.9</a:t>
              </a:r>
              <a:r>
                <a:rPr lang="zh-CN" altLang="en-US" sz="2000" dirty="0"/>
                <a:t>）</a:t>
              </a:r>
              <a:endParaRPr lang="zh-CN" altLang="en-US" sz="2000" dirty="0"/>
            </a:p>
          </p:txBody>
        </p:sp>
        <p:sp>
          <p:nvSpPr>
            <p:cNvPr id="116" name="矩形 115"/>
            <p:cNvSpPr/>
            <p:nvPr/>
          </p:nvSpPr>
          <p:spPr>
            <a:xfrm>
              <a:off x="11101776" y="4269573"/>
              <a:ext cx="683200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/>
              <a:r>
                <a:rPr lang="en-US" altLang="zh-CN" sz="2000" dirty="0">
                  <a:solidFill>
                    <a:prstClr val="white"/>
                  </a:solidFill>
                </a:rPr>
                <a:t>4.84</a:t>
              </a:r>
              <a:endParaRPr lang="zh-CN" altLang="en-US" sz="2000" dirty="0">
                <a:solidFill>
                  <a:prstClr val="white"/>
                </a:solidFill>
              </a:endParaRPr>
            </a:p>
          </p:txBody>
        </p:sp>
        <p:sp>
          <p:nvSpPr>
            <p:cNvPr id="117" name="矩形 116"/>
            <p:cNvSpPr/>
            <p:nvPr/>
          </p:nvSpPr>
          <p:spPr>
            <a:xfrm>
              <a:off x="11085066" y="3479785"/>
              <a:ext cx="683200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/>
              <a:r>
                <a:rPr lang="en-US" altLang="zh-CN" sz="2000" dirty="0">
                  <a:solidFill>
                    <a:prstClr val="white"/>
                  </a:solidFill>
                </a:rPr>
                <a:t>5.66</a:t>
              </a:r>
              <a:endParaRPr lang="zh-CN" altLang="en-US" sz="2000" dirty="0">
                <a:solidFill>
                  <a:prstClr val="white"/>
                </a:solidFill>
              </a:endParaRPr>
            </a:p>
          </p:txBody>
        </p:sp>
      </p:grpSp>
      <p:sp>
        <p:nvSpPr>
          <p:cNvPr id="125" name="文本框 124"/>
          <p:cNvSpPr txBox="1"/>
          <p:nvPr/>
        </p:nvSpPr>
        <p:spPr>
          <a:xfrm>
            <a:off x="7135033" y="908720"/>
            <a:ext cx="50569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/>
              <a:t>1</a:t>
            </a:r>
            <a:r>
              <a:rPr lang="zh-CN" altLang="en-US" sz="2000" b="1" dirty="0"/>
              <a:t>、类别划分</a:t>
            </a:r>
            <a:endParaRPr lang="zh-CN" altLang="en-US" sz="2000" b="1" dirty="0"/>
          </a:p>
        </p:txBody>
      </p:sp>
      <p:sp>
        <p:nvSpPr>
          <p:cNvPr id="126" name="文本框 125"/>
          <p:cNvSpPr txBox="1"/>
          <p:nvPr/>
        </p:nvSpPr>
        <p:spPr>
          <a:xfrm>
            <a:off x="7135033" y="1380051"/>
            <a:ext cx="391649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/>
              <a:t>2</a:t>
            </a:r>
            <a:r>
              <a:rPr lang="zh-CN" altLang="en-US" sz="2000" b="1" dirty="0"/>
              <a:t>、计算每类球员的真实平均能力</a:t>
            </a:r>
            <a:endParaRPr lang="zh-CN" altLang="en-US" sz="2000" b="1" dirty="0"/>
          </a:p>
        </p:txBody>
      </p:sp>
      <p:sp>
        <p:nvSpPr>
          <p:cNvPr id="127" name="矩形 126"/>
          <p:cNvSpPr/>
          <p:nvPr/>
        </p:nvSpPr>
        <p:spPr>
          <a:xfrm>
            <a:off x="7472599" y="2450900"/>
            <a:ext cx="3735969" cy="1786781"/>
          </a:xfrm>
          <a:prstGeom prst="rect">
            <a:avLst/>
          </a:prstGeom>
          <a:solidFill>
            <a:schemeClr val="tx1">
              <a:lumMod val="50000"/>
            </a:schemeClr>
          </a:solidFill>
        </p:spPr>
        <p:txBody>
          <a:bodyPr wrap="square" rtlCol="0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zh-CN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if 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真实平均能力 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!= 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假定平均能力：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假定平均能力 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= 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真实平均能力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else: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return 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聚类中心，聚类结果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zh-CN" altLang="en-US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8" name="文本框 127"/>
          <p:cNvSpPr txBox="1"/>
          <p:nvPr/>
        </p:nvSpPr>
        <p:spPr>
          <a:xfrm>
            <a:off x="7160283" y="1861440"/>
            <a:ext cx="45219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/>
              <a:t>3</a:t>
            </a:r>
            <a:r>
              <a:rPr lang="zh-CN" altLang="en-US" sz="2000" b="1" dirty="0"/>
              <a:t>、判断聚类是否结束</a:t>
            </a:r>
            <a:endParaRPr lang="zh-CN" altLang="en-US" sz="2000" b="1" dirty="0"/>
          </a:p>
        </p:txBody>
      </p:sp>
      <p:cxnSp>
        <p:nvCxnSpPr>
          <p:cNvPr id="130" name="直接箭头连接符 129"/>
          <p:cNvCxnSpPr>
            <a:stCxn id="92" idx="3"/>
            <a:endCxn id="29" idx="7"/>
          </p:cNvCxnSpPr>
          <p:nvPr/>
        </p:nvCxnSpPr>
        <p:spPr>
          <a:xfrm flipH="1">
            <a:off x="4176346" y="2447156"/>
            <a:ext cx="1038307" cy="1918610"/>
          </a:xfrm>
          <a:prstGeom prst="straightConnector1">
            <a:avLst/>
          </a:prstGeom>
          <a:ln w="38100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直接箭头连接符 130"/>
          <p:cNvCxnSpPr>
            <a:stCxn id="133" idx="2"/>
            <a:endCxn id="93" idx="5"/>
          </p:cNvCxnSpPr>
          <p:nvPr/>
        </p:nvCxnSpPr>
        <p:spPr>
          <a:xfrm flipH="1" flipV="1">
            <a:off x="3021649" y="4356684"/>
            <a:ext cx="676851" cy="212452"/>
          </a:xfrm>
          <a:prstGeom prst="straightConnector1">
            <a:avLst/>
          </a:prstGeom>
          <a:ln w="38100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2" name="椭圆 131"/>
          <p:cNvSpPr/>
          <p:nvPr/>
        </p:nvSpPr>
        <p:spPr>
          <a:xfrm rot="3923023">
            <a:off x="1231754" y="2983723"/>
            <a:ext cx="3304086" cy="2858053"/>
          </a:xfrm>
          <a:prstGeom prst="ellipse">
            <a:avLst/>
          </a:prstGeom>
          <a:noFill/>
          <a:ln w="57150">
            <a:solidFill>
              <a:schemeClr val="bg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4" name="椭圆 133"/>
          <p:cNvSpPr/>
          <p:nvPr/>
        </p:nvSpPr>
        <p:spPr>
          <a:xfrm rot="346687">
            <a:off x="3496129" y="1383128"/>
            <a:ext cx="3164003" cy="2014142"/>
          </a:xfrm>
          <a:prstGeom prst="ellipse">
            <a:avLst/>
          </a:prstGeom>
          <a:noFill/>
          <a:ln w="5715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5" name="任意多边形 134"/>
          <p:cNvSpPr/>
          <p:nvPr/>
        </p:nvSpPr>
        <p:spPr>
          <a:xfrm>
            <a:off x="3402778" y="1204686"/>
            <a:ext cx="3300558" cy="1941192"/>
          </a:xfrm>
          <a:custGeom>
            <a:avLst/>
            <a:gdLst>
              <a:gd name="connsiteX0" fmla="*/ 493486 w 3077029"/>
              <a:gd name="connsiteY0" fmla="*/ 0 h 1814285"/>
              <a:gd name="connsiteX1" fmla="*/ 130629 w 3077029"/>
              <a:gd name="connsiteY1" fmla="*/ 522514 h 1814285"/>
              <a:gd name="connsiteX2" fmla="*/ 0 w 3077029"/>
              <a:gd name="connsiteY2" fmla="*/ 1074057 h 1814285"/>
              <a:gd name="connsiteX3" fmla="*/ 116115 w 3077029"/>
              <a:gd name="connsiteY3" fmla="*/ 1538514 h 1814285"/>
              <a:gd name="connsiteX4" fmla="*/ 827315 w 3077029"/>
              <a:gd name="connsiteY4" fmla="*/ 1814285 h 1814285"/>
              <a:gd name="connsiteX5" fmla="*/ 1364343 w 3077029"/>
              <a:gd name="connsiteY5" fmla="*/ 1770743 h 1814285"/>
              <a:gd name="connsiteX6" fmla="*/ 2046515 w 3077029"/>
              <a:gd name="connsiteY6" fmla="*/ 1814285 h 1814285"/>
              <a:gd name="connsiteX7" fmla="*/ 2960915 w 3077029"/>
              <a:gd name="connsiteY7" fmla="*/ 1683657 h 1814285"/>
              <a:gd name="connsiteX8" fmla="*/ 3077029 w 3077029"/>
              <a:gd name="connsiteY8" fmla="*/ 1233714 h 1814285"/>
              <a:gd name="connsiteX9" fmla="*/ 2801258 w 3077029"/>
              <a:gd name="connsiteY9" fmla="*/ 986971 h 1814285"/>
              <a:gd name="connsiteX10" fmla="*/ 2409372 w 3077029"/>
              <a:gd name="connsiteY10" fmla="*/ 696685 h 1814285"/>
              <a:gd name="connsiteX11" fmla="*/ 1683658 w 3077029"/>
              <a:gd name="connsiteY11" fmla="*/ 449943 h 1814285"/>
              <a:gd name="connsiteX12" fmla="*/ 1219200 w 3077029"/>
              <a:gd name="connsiteY12" fmla="*/ 159657 h 1814285"/>
              <a:gd name="connsiteX13" fmla="*/ 943429 w 3077029"/>
              <a:gd name="connsiteY13" fmla="*/ 43543 h 1814285"/>
              <a:gd name="connsiteX14" fmla="*/ 493486 w 3077029"/>
              <a:gd name="connsiteY14" fmla="*/ 0 h 18142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3077029" h="1814285">
                <a:moveTo>
                  <a:pt x="493486" y="0"/>
                </a:moveTo>
                <a:lnTo>
                  <a:pt x="130629" y="522514"/>
                </a:lnTo>
                <a:lnTo>
                  <a:pt x="0" y="1074057"/>
                </a:lnTo>
                <a:lnTo>
                  <a:pt x="116115" y="1538514"/>
                </a:lnTo>
                <a:lnTo>
                  <a:pt x="827315" y="1814285"/>
                </a:lnTo>
                <a:lnTo>
                  <a:pt x="1364343" y="1770743"/>
                </a:lnTo>
                <a:lnTo>
                  <a:pt x="2046515" y="1814285"/>
                </a:lnTo>
                <a:lnTo>
                  <a:pt x="2960915" y="1683657"/>
                </a:lnTo>
                <a:lnTo>
                  <a:pt x="3077029" y="1233714"/>
                </a:lnTo>
                <a:lnTo>
                  <a:pt x="2801258" y="986971"/>
                </a:lnTo>
                <a:lnTo>
                  <a:pt x="2409372" y="696685"/>
                </a:lnTo>
                <a:lnTo>
                  <a:pt x="1683658" y="449943"/>
                </a:lnTo>
                <a:lnTo>
                  <a:pt x="1219200" y="159657"/>
                </a:lnTo>
                <a:lnTo>
                  <a:pt x="943429" y="43543"/>
                </a:lnTo>
                <a:lnTo>
                  <a:pt x="493486" y="0"/>
                </a:lnTo>
                <a:close/>
              </a:path>
            </a:pathLst>
          </a:custGeom>
          <a:noFill/>
          <a:ln w="57150">
            <a:solidFill>
              <a:srgbClr val="FFFF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2000" b="1" dirty="0"/>
          </a:p>
        </p:txBody>
      </p:sp>
      <p:sp>
        <p:nvSpPr>
          <p:cNvPr id="137" name="任意多边形 136"/>
          <p:cNvSpPr/>
          <p:nvPr/>
        </p:nvSpPr>
        <p:spPr>
          <a:xfrm>
            <a:off x="1582057" y="2685143"/>
            <a:ext cx="3004457" cy="2801257"/>
          </a:xfrm>
          <a:custGeom>
            <a:avLst/>
            <a:gdLst>
              <a:gd name="connsiteX0" fmla="*/ 493486 w 3004457"/>
              <a:gd name="connsiteY0" fmla="*/ 72571 h 2801257"/>
              <a:gd name="connsiteX1" fmla="*/ 159657 w 3004457"/>
              <a:gd name="connsiteY1" fmla="*/ 943428 h 2801257"/>
              <a:gd name="connsiteX2" fmla="*/ 14514 w 3004457"/>
              <a:gd name="connsiteY2" fmla="*/ 1843314 h 2801257"/>
              <a:gd name="connsiteX3" fmla="*/ 0 w 3004457"/>
              <a:gd name="connsiteY3" fmla="*/ 2627086 h 2801257"/>
              <a:gd name="connsiteX4" fmla="*/ 1190172 w 3004457"/>
              <a:gd name="connsiteY4" fmla="*/ 2801257 h 2801257"/>
              <a:gd name="connsiteX5" fmla="*/ 2090057 w 3004457"/>
              <a:gd name="connsiteY5" fmla="*/ 2540000 h 2801257"/>
              <a:gd name="connsiteX6" fmla="*/ 2873829 w 3004457"/>
              <a:gd name="connsiteY6" fmla="*/ 2235200 h 2801257"/>
              <a:gd name="connsiteX7" fmla="*/ 3004457 w 3004457"/>
              <a:gd name="connsiteY7" fmla="*/ 1625600 h 2801257"/>
              <a:gd name="connsiteX8" fmla="*/ 2699657 w 3004457"/>
              <a:gd name="connsiteY8" fmla="*/ 1088571 h 2801257"/>
              <a:gd name="connsiteX9" fmla="*/ 2061029 w 3004457"/>
              <a:gd name="connsiteY9" fmla="*/ 769257 h 2801257"/>
              <a:gd name="connsiteX10" fmla="*/ 1494972 w 3004457"/>
              <a:gd name="connsiteY10" fmla="*/ 275771 h 2801257"/>
              <a:gd name="connsiteX11" fmla="*/ 1277257 w 3004457"/>
              <a:gd name="connsiteY11" fmla="*/ 0 h 2801257"/>
              <a:gd name="connsiteX12" fmla="*/ 493486 w 3004457"/>
              <a:gd name="connsiteY12" fmla="*/ 72571 h 28012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004457" h="2801257">
                <a:moveTo>
                  <a:pt x="493486" y="72571"/>
                </a:moveTo>
                <a:lnTo>
                  <a:pt x="159657" y="943428"/>
                </a:lnTo>
                <a:lnTo>
                  <a:pt x="14514" y="1843314"/>
                </a:lnTo>
                <a:lnTo>
                  <a:pt x="0" y="2627086"/>
                </a:lnTo>
                <a:lnTo>
                  <a:pt x="1190172" y="2801257"/>
                </a:lnTo>
                <a:lnTo>
                  <a:pt x="2090057" y="2540000"/>
                </a:lnTo>
                <a:lnTo>
                  <a:pt x="2873829" y="2235200"/>
                </a:lnTo>
                <a:lnTo>
                  <a:pt x="3004457" y="1625600"/>
                </a:lnTo>
                <a:lnTo>
                  <a:pt x="2699657" y="1088571"/>
                </a:lnTo>
                <a:lnTo>
                  <a:pt x="2061029" y="769257"/>
                </a:lnTo>
                <a:lnTo>
                  <a:pt x="1494972" y="275771"/>
                </a:lnTo>
                <a:lnTo>
                  <a:pt x="1277257" y="0"/>
                </a:lnTo>
                <a:lnTo>
                  <a:pt x="493486" y="72571"/>
                </a:lnTo>
                <a:close/>
              </a:path>
            </a:pathLst>
          </a:custGeom>
          <a:noFill/>
          <a:ln w="57150">
            <a:solidFill>
              <a:srgbClr val="00B0F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2000" b="1" dirty="0"/>
          </a:p>
        </p:txBody>
      </p:sp>
      <p:pic>
        <p:nvPicPr>
          <p:cNvPr id="113" name="图片 112"/>
          <p:cNvPicPr>
            <a:picLocks noChangeAspect="1"/>
          </p:cNvPicPr>
          <p:nvPr/>
        </p:nvPicPr>
        <p:blipFill rotWithShape="1"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557" t="446" r="27557" b="52305"/>
          <a:stretch>
            <a:fillRect/>
          </a:stretch>
        </p:blipFill>
        <p:spPr>
          <a:xfrm>
            <a:off x="3968133" y="2405791"/>
            <a:ext cx="512896" cy="553388"/>
          </a:xfrm>
          <a:prstGeom prst="ellipse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36" name="文本框 135"/>
              <p:cNvSpPr txBox="1"/>
              <p:nvPr/>
            </p:nvSpPr>
            <p:spPr>
              <a:xfrm>
                <a:off x="3640723" y="2991956"/>
                <a:ext cx="95141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136" name="文本框 13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40723" y="2991956"/>
                <a:ext cx="951414" cy="276999"/>
              </a:xfrm>
              <a:prstGeom prst="rect">
                <a:avLst/>
              </a:prstGeom>
              <a:blipFill rotWithShape="1">
                <a:blip r:embed="rId18"/>
                <a:stretch>
                  <a:fillRect l="-28" t="-170" r="-3890" b="22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8" name="椭圆 137"/>
          <p:cNvSpPr/>
          <p:nvPr/>
        </p:nvSpPr>
        <p:spPr>
          <a:xfrm>
            <a:off x="3955645" y="2412062"/>
            <a:ext cx="534622" cy="534622"/>
          </a:xfrm>
          <a:prstGeom prst="ellipse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500" tmFilter="0, 0; .2, .5; .8, .5; 1, 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0" dur="250" autoRev="1" fill="hold"/>
                                        <p:tgtEl>
                                          <p:spTgt spid="13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 tmFilter="0, 0; .2, .5; .8, .5; 1, 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5" dur="250" autoRev="1" fill="hold"/>
                                        <p:tgtEl>
                                          <p:spTgt spid="13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26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" dur="500" tmFilter="0, 0; .2, .5; .8, .5; 1, 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4" dur="250" autoRev="1" fill="hold"/>
                                        <p:tgtEl>
                                          <p:spTgt spid="9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26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" dur="500" tmFilter="0, 0; .2, .5; .8, .5; 1, 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8" dur="250" autoRev="1" fill="hold"/>
                                        <p:tgtEl>
                                          <p:spTgt spid="12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000"/>
                            </p:stCondLst>
                            <p:childTnLst>
                              <p:par>
                                <p:cTn id="40" presetID="26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" dur="500" tmFilter="0, 0; .2, .5; .8, .5; 1, 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2" dur="250" autoRev="1" fill="hold"/>
                                        <p:tgtEl>
                                          <p:spTgt spid="10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1500"/>
                            </p:stCondLst>
                            <p:childTnLst>
                              <p:par>
                                <p:cTn id="44" presetID="26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5" dur="500" tmFilter="0, 0; .2, .5; .8, .5; 1, 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6" dur="250" autoRev="1" fill="hold"/>
                                        <p:tgtEl>
                                          <p:spTgt spid="10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2000"/>
                            </p:stCondLst>
                            <p:childTnLst>
                              <p:par>
                                <p:cTn id="48" presetID="26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9" dur="500" tmFilter="0, 0; .2, .5; .8, .5; 1, 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0" dur="250" autoRev="1" fill="hold"/>
                                        <p:tgtEl>
                                          <p:spTgt spid="12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51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" dur="500" tmFilter="0, 0; .2, .5; .8, .5; 1, 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3" dur="250" autoRev="1" fill="hold"/>
                                        <p:tgtEl>
                                          <p:spTgt spid="13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2500"/>
                            </p:stCondLst>
                            <p:childTnLst>
                              <p:par>
                                <p:cTn id="55" presetID="26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6" dur="500" tmFilter="0, 0; .2, .5; .8, .5; 1, 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7" dur="250" autoRev="1" fill="hold"/>
                                        <p:tgtEl>
                                          <p:spTgt spid="9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5" presetClass="emph" presetSubtype="0" repeatCount="2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66" dur="1000" fill="hold"/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35" presetClass="emph" presetSubtype="0" repeatCount="2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68" dur="1000" fill="hold"/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6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35" presetClass="emph" presetSubtype="0" repeatCount="2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80" dur="10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35" presetClass="emph" presetSubtype="0" repeatCount="2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82" dur="10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35" presetClass="emph" presetSubtype="0" repeatCount="2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84" dur="10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35" presetClass="emph" presetSubtype="0" repeatCount="2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86" dur="10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47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0" dur="25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1" dur="250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250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4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5" dur="5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8" dur="5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500"/>
                            </p:stCondLst>
                            <p:childTnLst>
                              <p:par>
                                <p:cTn id="10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6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0" grpId="0" animBg="1"/>
      <p:bldP spid="99" grpId="0" animBg="1"/>
      <p:bldP spid="102" grpId="0" animBg="1"/>
      <p:bldP spid="105" grpId="0" animBg="1"/>
      <p:bldP spid="123" grpId="0" animBg="1"/>
      <p:bldP spid="129" grpId="0" animBg="1"/>
      <p:bldP spid="133" grpId="0" animBg="1"/>
      <p:bldP spid="92" grpId="0" animBg="1"/>
      <p:bldP spid="93" grpId="0" animBg="1"/>
      <p:bldP spid="95" grpId="0"/>
      <p:bldP spid="96" grpId="0"/>
      <p:bldP spid="125" grpId="0"/>
      <p:bldP spid="126" grpId="0"/>
      <p:bldP spid="127" grpId="0" animBg="1"/>
      <p:bldP spid="128" grpId="0"/>
      <p:bldP spid="132" grpId="0" animBg="1"/>
      <p:bldP spid="134" grpId="0" animBg="1"/>
      <p:bldP spid="135" grpId="0" animBg="1"/>
      <p:bldP spid="135" grpId="1" animBg="1"/>
      <p:bldP spid="135" grpId="2" animBg="1"/>
      <p:bldP spid="137" grpId="0" animBg="1"/>
      <p:bldP spid="137" grpId="1" animBg="1"/>
      <p:bldP spid="137" grpId="2" animBg="1"/>
      <p:bldP spid="138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2063552" y="404664"/>
            <a:ext cx="4044697" cy="1107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6600" dirty="0"/>
              <a:t>K - means</a:t>
            </a:r>
            <a:endParaRPr lang="zh-CN" altLang="en-US" sz="6600" dirty="0"/>
          </a:p>
        </p:txBody>
      </p:sp>
      <p:cxnSp>
        <p:nvCxnSpPr>
          <p:cNvPr id="4" name="直接箭头连接符 3"/>
          <p:cNvCxnSpPr/>
          <p:nvPr/>
        </p:nvCxnSpPr>
        <p:spPr>
          <a:xfrm>
            <a:off x="2423592" y="1484784"/>
            <a:ext cx="0" cy="1008112"/>
          </a:xfrm>
          <a:prstGeom prst="straightConnector1">
            <a:avLst/>
          </a:prstGeom>
          <a:ln w="76200">
            <a:solidFill>
              <a:schemeClr val="bg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/>
          <p:cNvSpPr/>
          <p:nvPr/>
        </p:nvSpPr>
        <p:spPr>
          <a:xfrm>
            <a:off x="1305337" y="2740568"/>
            <a:ext cx="223651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200" dirty="0"/>
              <a:t>类别的个数</a:t>
            </a:r>
            <a:endParaRPr lang="zh-CN" altLang="en-US" sz="3200" dirty="0"/>
          </a:p>
        </p:txBody>
      </p:sp>
      <p:cxnSp>
        <p:nvCxnSpPr>
          <p:cNvPr id="20" name="直接箭头连接符 19"/>
          <p:cNvCxnSpPr/>
          <p:nvPr/>
        </p:nvCxnSpPr>
        <p:spPr>
          <a:xfrm>
            <a:off x="4799856" y="1484784"/>
            <a:ext cx="0" cy="1008112"/>
          </a:xfrm>
          <a:prstGeom prst="straightConnector1">
            <a:avLst/>
          </a:prstGeom>
          <a:ln w="76200">
            <a:solidFill>
              <a:schemeClr val="bg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矩形 20"/>
          <p:cNvSpPr/>
          <p:nvPr/>
        </p:nvSpPr>
        <p:spPr>
          <a:xfrm>
            <a:off x="4297154" y="2448181"/>
            <a:ext cx="1005403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200" dirty="0"/>
              <a:t>平均</a:t>
            </a:r>
            <a:endParaRPr lang="zh-CN" altLang="en-US" sz="3200" dirty="0"/>
          </a:p>
        </p:txBody>
      </p:sp>
      <p:sp>
        <p:nvSpPr>
          <p:cNvPr id="22" name="矩形 21"/>
          <p:cNvSpPr/>
          <p:nvPr/>
        </p:nvSpPr>
        <p:spPr>
          <a:xfrm>
            <a:off x="3935760" y="2988240"/>
            <a:ext cx="551946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200" dirty="0"/>
              <a:t>计算每类球员的真实平均能力</a:t>
            </a:r>
            <a:endParaRPr lang="zh-CN" altLang="en-US" sz="3200" dirty="0"/>
          </a:p>
        </p:txBody>
      </p:sp>
      <p:cxnSp>
        <p:nvCxnSpPr>
          <p:cNvPr id="18" name="直接连接符 17"/>
          <p:cNvCxnSpPr/>
          <p:nvPr/>
        </p:nvCxnSpPr>
        <p:spPr>
          <a:xfrm>
            <a:off x="7752184" y="3573015"/>
            <a:ext cx="1512168" cy="0"/>
          </a:xfrm>
          <a:prstGeom prst="line">
            <a:avLst/>
          </a:prstGeom>
          <a:ln w="571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连接符 24"/>
          <p:cNvCxnSpPr/>
          <p:nvPr/>
        </p:nvCxnSpPr>
        <p:spPr>
          <a:xfrm>
            <a:off x="1305337" y="3325343"/>
            <a:ext cx="931327" cy="0"/>
          </a:xfrm>
          <a:prstGeom prst="line">
            <a:avLst/>
          </a:prstGeom>
          <a:ln w="571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箭头连接符 26"/>
          <p:cNvCxnSpPr/>
          <p:nvPr/>
        </p:nvCxnSpPr>
        <p:spPr>
          <a:xfrm>
            <a:off x="2063552" y="3775971"/>
            <a:ext cx="1872208" cy="777280"/>
          </a:xfrm>
          <a:prstGeom prst="straightConnector1">
            <a:avLst/>
          </a:prstGeom>
          <a:ln w="76200">
            <a:solidFill>
              <a:schemeClr val="bg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箭头连接符 27"/>
          <p:cNvCxnSpPr/>
          <p:nvPr/>
        </p:nvCxnSpPr>
        <p:spPr>
          <a:xfrm flipH="1">
            <a:off x="6384032" y="3775971"/>
            <a:ext cx="1800201" cy="777280"/>
          </a:xfrm>
          <a:prstGeom prst="straightConnector1">
            <a:avLst/>
          </a:prstGeom>
          <a:ln w="76200">
            <a:solidFill>
              <a:schemeClr val="bg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矩形 30"/>
          <p:cNvSpPr/>
          <p:nvPr/>
        </p:nvSpPr>
        <p:spPr>
          <a:xfrm>
            <a:off x="3158380" y="4756207"/>
            <a:ext cx="4288353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200" dirty="0"/>
              <a:t>代表每类平均能力的点</a:t>
            </a:r>
            <a:endParaRPr lang="zh-CN" altLang="en-US" sz="3200" dirty="0"/>
          </a:p>
        </p:txBody>
      </p:sp>
      <p:cxnSp>
        <p:nvCxnSpPr>
          <p:cNvPr id="35" name="直接箭头连接符 34"/>
          <p:cNvCxnSpPr>
            <a:endCxn id="34" idx="0"/>
          </p:cNvCxnSpPr>
          <p:nvPr/>
        </p:nvCxnSpPr>
        <p:spPr>
          <a:xfrm>
            <a:off x="5268699" y="5340982"/>
            <a:ext cx="0" cy="613978"/>
          </a:xfrm>
          <a:prstGeom prst="straightConnector1">
            <a:avLst/>
          </a:prstGeom>
          <a:ln w="76200">
            <a:solidFill>
              <a:schemeClr val="bg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矩形 33"/>
          <p:cNvSpPr/>
          <p:nvPr/>
        </p:nvSpPr>
        <p:spPr>
          <a:xfrm>
            <a:off x="4765997" y="5954960"/>
            <a:ext cx="1005403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200" dirty="0">
                <a:solidFill>
                  <a:prstClr val="white"/>
                </a:solidFill>
              </a:rPr>
              <a:t>质心</a:t>
            </a:r>
            <a:endParaRPr lang="zh-CN" altLang="en-US" sz="3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000"/>
                            </p:stCondLst>
                            <p:childTnLst>
                              <p:par>
                                <p:cTn id="41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500"/>
                            </p:stCondLst>
                            <p:childTnLst>
                              <p:par>
                                <p:cTn id="4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2000"/>
                            </p:stCondLst>
                            <p:childTnLst>
                              <p:par>
                                <p:cTn id="4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21" grpId="0"/>
      <p:bldP spid="22" grpId="0"/>
      <p:bldP spid="31" grpId="0"/>
      <p:bldP spid="34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263352" y="383256"/>
            <a:ext cx="433965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600" dirty="0"/>
              <a:t>K-means</a:t>
            </a:r>
            <a:r>
              <a:rPr lang="zh-CN" altLang="en-US" sz="3600" dirty="0"/>
              <a:t>聚类流程图</a:t>
            </a:r>
            <a:endParaRPr lang="zh-CN" altLang="en-US" sz="3600" dirty="0"/>
          </a:p>
        </p:txBody>
      </p:sp>
      <p:sp>
        <p:nvSpPr>
          <p:cNvPr id="8" name="椭圆 7"/>
          <p:cNvSpPr/>
          <p:nvPr/>
        </p:nvSpPr>
        <p:spPr>
          <a:xfrm>
            <a:off x="5447928" y="6101776"/>
            <a:ext cx="555685" cy="531060"/>
          </a:xfrm>
          <a:prstGeom prst="ellipse">
            <a:avLst/>
          </a:prstGeom>
          <a:noFill/>
          <a:ln w="762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 b="1" dirty="0"/>
          </a:p>
        </p:txBody>
      </p:sp>
      <p:grpSp>
        <p:nvGrpSpPr>
          <p:cNvPr id="36" name="组合 35"/>
          <p:cNvGrpSpPr/>
          <p:nvPr/>
        </p:nvGrpSpPr>
        <p:grpSpPr>
          <a:xfrm>
            <a:off x="5492139" y="548680"/>
            <a:ext cx="501856" cy="1080120"/>
            <a:chOff x="5492139" y="730341"/>
            <a:chExt cx="501856" cy="1080120"/>
          </a:xfrm>
        </p:grpSpPr>
        <p:sp>
          <p:nvSpPr>
            <p:cNvPr id="2" name="椭圆 1"/>
            <p:cNvSpPr/>
            <p:nvPr/>
          </p:nvSpPr>
          <p:spPr>
            <a:xfrm>
              <a:off x="5492139" y="730341"/>
              <a:ext cx="501856" cy="511296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 b="1" dirty="0"/>
            </a:p>
          </p:txBody>
        </p:sp>
        <p:cxnSp>
          <p:nvCxnSpPr>
            <p:cNvPr id="12" name="直接箭头连接符 11"/>
            <p:cNvCxnSpPr/>
            <p:nvPr/>
          </p:nvCxnSpPr>
          <p:spPr>
            <a:xfrm>
              <a:off x="5745545" y="1247613"/>
              <a:ext cx="0" cy="562848"/>
            </a:xfrm>
            <a:prstGeom prst="straightConnector1">
              <a:avLst/>
            </a:prstGeom>
            <a:ln w="28575">
              <a:solidFill>
                <a:schemeClr val="tx1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7" name="组合 36"/>
          <p:cNvGrpSpPr/>
          <p:nvPr/>
        </p:nvGrpSpPr>
        <p:grpSpPr>
          <a:xfrm>
            <a:off x="4586554" y="1649947"/>
            <a:ext cx="2317982" cy="986965"/>
            <a:chOff x="4586554" y="1831608"/>
            <a:chExt cx="2317982" cy="986965"/>
          </a:xfrm>
        </p:grpSpPr>
        <p:sp>
          <p:nvSpPr>
            <p:cNvPr id="4" name="流程图: 可选过程 3"/>
            <p:cNvSpPr/>
            <p:nvPr/>
          </p:nvSpPr>
          <p:spPr>
            <a:xfrm>
              <a:off x="4586554" y="1831608"/>
              <a:ext cx="2317982" cy="373256"/>
            </a:xfrm>
            <a:prstGeom prst="flowChartAlternateProcess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000" b="1" dirty="0"/>
                <a:t>随机生成</a:t>
              </a:r>
              <a:r>
                <a:rPr lang="en-US" altLang="zh-CN" sz="2000" b="1" dirty="0"/>
                <a:t>K</a:t>
              </a:r>
              <a:r>
                <a:rPr lang="zh-CN" altLang="en-US" sz="2000" b="1" dirty="0"/>
                <a:t>个质心</a:t>
              </a:r>
              <a:endParaRPr lang="zh-CN" altLang="en-US" sz="2000" b="1" dirty="0"/>
            </a:p>
          </p:txBody>
        </p:sp>
        <p:cxnSp>
          <p:nvCxnSpPr>
            <p:cNvPr id="18" name="直接箭头连接符 17"/>
            <p:cNvCxnSpPr/>
            <p:nvPr/>
          </p:nvCxnSpPr>
          <p:spPr>
            <a:xfrm>
              <a:off x="5745545" y="2228091"/>
              <a:ext cx="0" cy="590482"/>
            </a:xfrm>
            <a:prstGeom prst="straightConnector1">
              <a:avLst/>
            </a:prstGeom>
            <a:ln w="28575">
              <a:solidFill>
                <a:schemeClr val="tx1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8" name="组合 37"/>
          <p:cNvGrpSpPr/>
          <p:nvPr/>
        </p:nvGrpSpPr>
        <p:grpSpPr>
          <a:xfrm>
            <a:off x="4784576" y="2622203"/>
            <a:ext cx="1921938" cy="1016918"/>
            <a:chOff x="4784576" y="2795346"/>
            <a:chExt cx="1921938" cy="1016918"/>
          </a:xfrm>
        </p:grpSpPr>
        <p:sp>
          <p:nvSpPr>
            <p:cNvPr id="9" name="流程图: 可选过程 8"/>
            <p:cNvSpPr/>
            <p:nvPr/>
          </p:nvSpPr>
          <p:spPr>
            <a:xfrm>
              <a:off x="4784576" y="2795346"/>
              <a:ext cx="1921938" cy="417629"/>
            </a:xfrm>
            <a:prstGeom prst="flowChartAlternateProcess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000" b="1" dirty="0"/>
                <a:t>按照距离聚类</a:t>
              </a:r>
              <a:endParaRPr lang="zh-CN" altLang="en-US" sz="2000" b="1" dirty="0"/>
            </a:p>
          </p:txBody>
        </p:sp>
        <p:cxnSp>
          <p:nvCxnSpPr>
            <p:cNvPr id="19" name="直接箭头连接符 18"/>
            <p:cNvCxnSpPr/>
            <p:nvPr/>
          </p:nvCxnSpPr>
          <p:spPr>
            <a:xfrm>
              <a:off x="5735634" y="3250696"/>
              <a:ext cx="0" cy="561568"/>
            </a:xfrm>
            <a:prstGeom prst="straightConnector1">
              <a:avLst/>
            </a:prstGeom>
            <a:ln w="28575">
              <a:solidFill>
                <a:schemeClr val="tx1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9" name="组合 38"/>
          <p:cNvGrpSpPr/>
          <p:nvPr/>
        </p:nvGrpSpPr>
        <p:grpSpPr>
          <a:xfrm>
            <a:off x="4784576" y="3658321"/>
            <a:ext cx="1921938" cy="994815"/>
            <a:chOff x="4784576" y="3874344"/>
            <a:chExt cx="1921938" cy="994815"/>
          </a:xfrm>
        </p:grpSpPr>
        <p:sp>
          <p:nvSpPr>
            <p:cNvPr id="10" name="流程图: 可选过程 9"/>
            <p:cNvSpPr/>
            <p:nvPr/>
          </p:nvSpPr>
          <p:spPr>
            <a:xfrm>
              <a:off x="4784576" y="3874344"/>
              <a:ext cx="1921938" cy="418751"/>
            </a:xfrm>
            <a:prstGeom prst="flowChartAlternateProcess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000" b="1" dirty="0"/>
                <a:t>计算新的质心</a:t>
              </a:r>
              <a:endParaRPr lang="zh-CN" altLang="en-US" sz="2000" b="1" dirty="0"/>
            </a:p>
          </p:txBody>
        </p:sp>
        <p:cxnSp>
          <p:nvCxnSpPr>
            <p:cNvPr id="21" name="直接箭头连接符 20"/>
            <p:cNvCxnSpPr/>
            <p:nvPr/>
          </p:nvCxnSpPr>
          <p:spPr>
            <a:xfrm>
              <a:off x="5736045" y="4330741"/>
              <a:ext cx="0" cy="538418"/>
            </a:xfrm>
            <a:prstGeom prst="straightConnector1">
              <a:avLst/>
            </a:prstGeom>
            <a:ln w="28575">
              <a:solidFill>
                <a:schemeClr val="tx1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0" name="组合 39"/>
          <p:cNvGrpSpPr/>
          <p:nvPr/>
        </p:nvGrpSpPr>
        <p:grpSpPr>
          <a:xfrm>
            <a:off x="4439901" y="4615491"/>
            <a:ext cx="2592288" cy="1441281"/>
            <a:chOff x="4439901" y="4830393"/>
            <a:chExt cx="2592288" cy="1441281"/>
          </a:xfrm>
        </p:grpSpPr>
        <p:sp>
          <p:nvSpPr>
            <p:cNvPr id="6" name="流程图: 决策 5"/>
            <p:cNvSpPr/>
            <p:nvPr/>
          </p:nvSpPr>
          <p:spPr>
            <a:xfrm>
              <a:off x="4439901" y="4830393"/>
              <a:ext cx="2592288" cy="902863"/>
            </a:xfrm>
            <a:prstGeom prst="flowChartDecision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000" b="1" dirty="0"/>
                <a:t>新旧质心是否相同</a:t>
              </a:r>
              <a:endParaRPr lang="zh-CN" altLang="en-US" sz="2000" b="1" dirty="0"/>
            </a:p>
          </p:txBody>
        </p:sp>
        <p:sp>
          <p:nvSpPr>
            <p:cNvPr id="7" name="文本框 6"/>
            <p:cNvSpPr txBox="1"/>
            <p:nvPr/>
          </p:nvSpPr>
          <p:spPr>
            <a:xfrm>
              <a:off x="5743067" y="5840301"/>
              <a:ext cx="97510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>
                  <a:solidFill>
                    <a:schemeClr val="accent1">
                      <a:lumMod val="20000"/>
                      <a:lumOff val="80000"/>
                    </a:schemeClr>
                  </a:solidFill>
                </a:rPr>
                <a:t>True</a:t>
              </a:r>
              <a:endParaRPr lang="zh-CN" altLang="en-US" b="1" dirty="0">
                <a:solidFill>
                  <a:schemeClr val="accent1">
                    <a:lumMod val="20000"/>
                    <a:lumOff val="80000"/>
                  </a:schemeClr>
                </a:solidFill>
              </a:endParaRPr>
            </a:p>
          </p:txBody>
        </p:sp>
        <p:cxnSp>
          <p:nvCxnSpPr>
            <p:cNvPr id="22" name="直接箭头连接符 21"/>
            <p:cNvCxnSpPr/>
            <p:nvPr/>
          </p:nvCxnSpPr>
          <p:spPr>
            <a:xfrm>
              <a:off x="5740590" y="5778260"/>
              <a:ext cx="4955" cy="493414"/>
            </a:xfrm>
            <a:prstGeom prst="straightConnector1">
              <a:avLst/>
            </a:prstGeom>
            <a:ln w="28575">
              <a:solidFill>
                <a:schemeClr val="tx1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1" name="组合 40"/>
          <p:cNvGrpSpPr/>
          <p:nvPr/>
        </p:nvGrpSpPr>
        <p:grpSpPr>
          <a:xfrm>
            <a:off x="2963694" y="4697590"/>
            <a:ext cx="1476207" cy="369332"/>
            <a:chOff x="2963694" y="4710694"/>
            <a:chExt cx="1476207" cy="369332"/>
          </a:xfrm>
        </p:grpSpPr>
        <p:sp>
          <p:nvSpPr>
            <p:cNvPr id="13" name="文本框 12"/>
            <p:cNvSpPr txBox="1"/>
            <p:nvPr/>
          </p:nvSpPr>
          <p:spPr>
            <a:xfrm>
              <a:off x="3188771" y="4710694"/>
              <a:ext cx="77406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/>
                <a:t>False</a:t>
              </a:r>
              <a:endParaRPr lang="zh-CN" altLang="en-US" b="1" dirty="0"/>
            </a:p>
          </p:txBody>
        </p:sp>
        <p:cxnSp>
          <p:nvCxnSpPr>
            <p:cNvPr id="17" name="直接连接符 16"/>
            <p:cNvCxnSpPr>
              <a:stCxn id="6" idx="1"/>
            </p:cNvCxnSpPr>
            <p:nvPr/>
          </p:nvCxnSpPr>
          <p:spPr>
            <a:xfrm flipH="1" flipV="1">
              <a:off x="2963694" y="5056628"/>
              <a:ext cx="1476207" cy="10295"/>
            </a:xfrm>
            <a:prstGeom prst="line">
              <a:avLst/>
            </a:prstGeom>
            <a:ln w="28575">
              <a:solidFill>
                <a:schemeClr val="tx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5" name="直接箭头连接符 24"/>
          <p:cNvCxnSpPr/>
          <p:nvPr/>
        </p:nvCxnSpPr>
        <p:spPr>
          <a:xfrm>
            <a:off x="2921585" y="2220404"/>
            <a:ext cx="2814460" cy="0"/>
          </a:xfrm>
          <a:prstGeom prst="straightConnector1">
            <a:avLst/>
          </a:prstGeom>
          <a:ln w="38100">
            <a:solidFill>
              <a:schemeClr val="tx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2" name="组合 41"/>
          <p:cNvGrpSpPr/>
          <p:nvPr/>
        </p:nvGrpSpPr>
        <p:grpSpPr>
          <a:xfrm>
            <a:off x="1757949" y="2220404"/>
            <a:ext cx="2411491" cy="2825931"/>
            <a:chOff x="1757949" y="2402065"/>
            <a:chExt cx="2411491" cy="2825931"/>
          </a:xfrm>
        </p:grpSpPr>
        <p:cxnSp>
          <p:nvCxnSpPr>
            <p:cNvPr id="23" name="直接连接符 22"/>
            <p:cNvCxnSpPr/>
            <p:nvPr/>
          </p:nvCxnSpPr>
          <p:spPr>
            <a:xfrm flipV="1">
              <a:off x="2921585" y="2402065"/>
              <a:ext cx="0" cy="1153202"/>
            </a:xfrm>
            <a:prstGeom prst="line">
              <a:avLst/>
            </a:prstGeom>
            <a:ln w="38100">
              <a:solidFill>
                <a:schemeClr val="tx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流程图: 可选过程 28"/>
            <p:cNvSpPr/>
            <p:nvPr/>
          </p:nvSpPr>
          <p:spPr>
            <a:xfrm>
              <a:off x="1757949" y="3531480"/>
              <a:ext cx="2411491" cy="464924"/>
            </a:xfrm>
            <a:prstGeom prst="flowChartAlternateProcess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000" b="1" dirty="0"/>
                <a:t>新质心赋给旧质心</a:t>
              </a:r>
              <a:endParaRPr lang="zh-CN" altLang="en-US" sz="2000" b="1" dirty="0"/>
            </a:p>
          </p:txBody>
        </p:sp>
        <p:cxnSp>
          <p:nvCxnSpPr>
            <p:cNvPr id="35" name="直接箭头连接符 34"/>
            <p:cNvCxnSpPr>
              <a:endCxn id="29" idx="2"/>
            </p:cNvCxnSpPr>
            <p:nvPr/>
          </p:nvCxnSpPr>
          <p:spPr>
            <a:xfrm flipV="1">
              <a:off x="2963694" y="3996404"/>
              <a:ext cx="1" cy="1231592"/>
            </a:xfrm>
            <a:prstGeom prst="straightConnector1">
              <a:avLst/>
            </a:prstGeom>
            <a:ln w="38100">
              <a:solidFill>
                <a:schemeClr val="tx1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1000"/>
                            </p:stCondLst>
                            <p:childTnLst>
                              <p:par>
                                <p:cTn id="4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2855640" y="1268760"/>
            <a:ext cx="6840760" cy="4248472"/>
            <a:chOff x="2855640" y="1268760"/>
            <a:chExt cx="6840760" cy="4248472"/>
          </a:xfrm>
        </p:grpSpPr>
        <p:sp>
          <p:nvSpPr>
            <p:cNvPr id="16" name="矩形 15"/>
            <p:cNvSpPr/>
            <p:nvPr/>
          </p:nvSpPr>
          <p:spPr>
            <a:xfrm>
              <a:off x="2855640" y="1268760"/>
              <a:ext cx="6840760" cy="424847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7" name="直接连接符 16"/>
            <p:cNvCxnSpPr/>
            <p:nvPr/>
          </p:nvCxnSpPr>
          <p:spPr>
            <a:xfrm>
              <a:off x="2855640" y="2276872"/>
              <a:ext cx="6840760" cy="0"/>
            </a:xfrm>
            <a:prstGeom prst="line">
              <a:avLst/>
            </a:prstGeom>
            <a:ln w="38100">
              <a:solidFill>
                <a:schemeClr val="bg2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文本框 17"/>
            <p:cNvSpPr txBox="1"/>
            <p:nvPr/>
          </p:nvSpPr>
          <p:spPr>
            <a:xfrm>
              <a:off x="5439420" y="1397766"/>
              <a:ext cx="216024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200" b="1" dirty="0" err="1"/>
                <a:t>kmeans</a:t>
              </a:r>
              <a:endParaRPr lang="zh-CN" altLang="en-US" sz="3200" b="1" dirty="0"/>
            </a:p>
          </p:txBody>
        </p:sp>
        <p:cxnSp>
          <p:nvCxnSpPr>
            <p:cNvPr id="19" name="直接连接符 18"/>
            <p:cNvCxnSpPr/>
            <p:nvPr/>
          </p:nvCxnSpPr>
          <p:spPr>
            <a:xfrm>
              <a:off x="2855640" y="2924944"/>
              <a:ext cx="6840760" cy="0"/>
            </a:xfrm>
            <a:prstGeom prst="line">
              <a:avLst/>
            </a:prstGeom>
            <a:ln w="12700">
              <a:solidFill>
                <a:schemeClr val="bg2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连接符 20"/>
            <p:cNvCxnSpPr/>
            <p:nvPr/>
          </p:nvCxnSpPr>
          <p:spPr>
            <a:xfrm>
              <a:off x="2882482" y="3573016"/>
              <a:ext cx="6813918" cy="0"/>
            </a:xfrm>
            <a:prstGeom prst="line">
              <a:avLst/>
            </a:prstGeom>
            <a:ln w="12700">
              <a:solidFill>
                <a:schemeClr val="bg2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接连接符 21"/>
            <p:cNvCxnSpPr/>
            <p:nvPr/>
          </p:nvCxnSpPr>
          <p:spPr>
            <a:xfrm>
              <a:off x="2855640" y="4221088"/>
              <a:ext cx="6840760" cy="0"/>
            </a:xfrm>
            <a:prstGeom prst="line">
              <a:avLst/>
            </a:prstGeom>
            <a:ln w="12700">
              <a:solidFill>
                <a:schemeClr val="bg2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连接符 22"/>
            <p:cNvCxnSpPr/>
            <p:nvPr/>
          </p:nvCxnSpPr>
          <p:spPr>
            <a:xfrm>
              <a:off x="2882482" y="4869160"/>
              <a:ext cx="6813918" cy="0"/>
            </a:xfrm>
            <a:prstGeom prst="line">
              <a:avLst/>
            </a:prstGeom>
            <a:ln w="12700">
              <a:solidFill>
                <a:schemeClr val="bg2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连接符 19"/>
            <p:cNvCxnSpPr/>
            <p:nvPr/>
          </p:nvCxnSpPr>
          <p:spPr>
            <a:xfrm>
              <a:off x="2855640" y="2036879"/>
              <a:ext cx="6840760" cy="0"/>
            </a:xfrm>
            <a:prstGeom prst="line">
              <a:avLst/>
            </a:prstGeom>
            <a:ln w="38100">
              <a:solidFill>
                <a:schemeClr val="bg2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标题 1"/>
          <p:cNvSpPr txBox="1"/>
          <p:nvPr/>
        </p:nvSpPr>
        <p:spPr bwMode="auto">
          <a:xfrm>
            <a:off x="-240704" y="25809"/>
            <a:ext cx="3420347" cy="104775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r>
              <a:rPr lang="zh-CN" altLang="en-US" sz="3600" dirty="0"/>
              <a:t>代码</a:t>
            </a:r>
            <a:r>
              <a:rPr lang="zh-CN" altLang="en-US" sz="3200" dirty="0"/>
              <a:t>类图</a:t>
            </a:r>
            <a:endParaRPr lang="zh-CN" altLang="en-US" sz="3200" dirty="0"/>
          </a:p>
        </p:txBody>
      </p:sp>
      <p:sp>
        <p:nvSpPr>
          <p:cNvPr id="24" name="文本框 23"/>
          <p:cNvSpPr txBox="1"/>
          <p:nvPr/>
        </p:nvSpPr>
        <p:spPr>
          <a:xfrm>
            <a:off x="2999656" y="2391271"/>
            <a:ext cx="41044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/>
              <a:t>+</a:t>
            </a:r>
            <a:r>
              <a:rPr lang="en-US" altLang="zh-CN" sz="2400" b="1" dirty="0" err="1"/>
              <a:t>randCent</a:t>
            </a:r>
            <a:r>
              <a:rPr lang="en-US" altLang="zh-CN" sz="2400" b="1" dirty="0"/>
              <a:t>(</a:t>
            </a:r>
            <a:r>
              <a:rPr lang="en-US" altLang="zh-CN" sz="2400" b="1" dirty="0" err="1"/>
              <a:t>dataSet</a:t>
            </a:r>
            <a:r>
              <a:rPr lang="en-US" altLang="zh-CN" sz="2400" b="1" dirty="0"/>
              <a:t>, k)</a:t>
            </a:r>
            <a:endParaRPr lang="en-US" altLang="zh-CN" sz="2400" b="1" dirty="0"/>
          </a:p>
        </p:txBody>
      </p:sp>
      <p:sp>
        <p:nvSpPr>
          <p:cNvPr id="26" name="文本框 25"/>
          <p:cNvSpPr txBox="1"/>
          <p:nvPr/>
        </p:nvSpPr>
        <p:spPr>
          <a:xfrm>
            <a:off x="2999656" y="3019015"/>
            <a:ext cx="41044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/>
              <a:t>+</a:t>
            </a:r>
            <a:r>
              <a:rPr lang="en-US" altLang="zh-CN" sz="2400" b="1" dirty="0" err="1"/>
              <a:t>distEclud</a:t>
            </a:r>
            <a:r>
              <a:rPr lang="en-US" altLang="zh-CN" sz="2400" b="1" dirty="0"/>
              <a:t>(</a:t>
            </a:r>
            <a:r>
              <a:rPr lang="en-US" altLang="zh-CN" sz="2400" b="1" dirty="0" err="1"/>
              <a:t>vecA</a:t>
            </a:r>
            <a:r>
              <a:rPr lang="en-US" altLang="zh-CN" sz="2400" b="1" dirty="0"/>
              <a:t>, </a:t>
            </a:r>
            <a:r>
              <a:rPr lang="en-US" altLang="zh-CN" sz="2400" b="1" dirty="0" err="1"/>
              <a:t>vecB</a:t>
            </a:r>
            <a:r>
              <a:rPr lang="en-US" altLang="zh-CN" sz="2400" b="1" dirty="0"/>
              <a:t>)</a:t>
            </a:r>
            <a:endParaRPr lang="en-US" altLang="zh-CN" sz="2400" b="1" dirty="0"/>
          </a:p>
        </p:txBody>
      </p:sp>
      <p:sp>
        <p:nvSpPr>
          <p:cNvPr id="27" name="文本框 26"/>
          <p:cNvSpPr txBox="1"/>
          <p:nvPr/>
        </p:nvSpPr>
        <p:spPr>
          <a:xfrm>
            <a:off x="2999656" y="3665353"/>
            <a:ext cx="48965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/>
              <a:t>+cluster(</a:t>
            </a:r>
            <a:r>
              <a:rPr lang="en-US" altLang="zh-CN" sz="2400" b="1" dirty="0" err="1"/>
              <a:t>dataSet,k,cenBefor</a:t>
            </a:r>
            <a:r>
              <a:rPr lang="en-US" altLang="zh-CN" sz="2400" b="1" dirty="0"/>
              <a:t>)</a:t>
            </a:r>
            <a:endParaRPr lang="en-US" altLang="zh-CN" sz="2400" b="1" dirty="0"/>
          </a:p>
        </p:txBody>
      </p:sp>
      <p:sp>
        <p:nvSpPr>
          <p:cNvPr id="28" name="文本框 27"/>
          <p:cNvSpPr txBox="1"/>
          <p:nvPr/>
        </p:nvSpPr>
        <p:spPr>
          <a:xfrm>
            <a:off x="2999656" y="4314292"/>
            <a:ext cx="56886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/>
              <a:t>+</a:t>
            </a:r>
            <a:r>
              <a:rPr lang="en-US" altLang="zh-CN" sz="2400" b="1" dirty="0" err="1"/>
              <a:t>calCent</a:t>
            </a:r>
            <a:r>
              <a:rPr lang="en-US" altLang="zh-CN" sz="2400" b="1" dirty="0"/>
              <a:t>(</a:t>
            </a:r>
            <a:r>
              <a:rPr lang="en-US" altLang="zh-CN" sz="2400" b="1" dirty="0" err="1"/>
              <a:t>dataSet,k,clusterAssment</a:t>
            </a:r>
            <a:r>
              <a:rPr lang="en-US" altLang="zh-CN" sz="2400" b="1" dirty="0"/>
              <a:t>)</a:t>
            </a:r>
            <a:endParaRPr lang="en-US" altLang="zh-CN" sz="2400" b="1" dirty="0"/>
          </a:p>
        </p:txBody>
      </p:sp>
      <p:sp>
        <p:nvSpPr>
          <p:cNvPr id="29" name="文本框 28"/>
          <p:cNvSpPr txBox="1"/>
          <p:nvPr/>
        </p:nvSpPr>
        <p:spPr>
          <a:xfrm>
            <a:off x="2999656" y="4972092"/>
            <a:ext cx="66967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/>
              <a:t>+</a:t>
            </a:r>
            <a:r>
              <a:rPr lang="en-US" altLang="zh-CN" sz="2400" b="1" dirty="0" err="1"/>
              <a:t>KMeans</a:t>
            </a:r>
            <a:r>
              <a:rPr lang="en-US" altLang="zh-CN" sz="2400" b="1" dirty="0"/>
              <a:t>(</a:t>
            </a:r>
            <a:r>
              <a:rPr lang="en-US" altLang="zh-CN" sz="2400" b="1" dirty="0" err="1"/>
              <a:t>dataSet</a:t>
            </a:r>
            <a:r>
              <a:rPr lang="en-US" altLang="zh-CN" sz="2400" b="1" dirty="0"/>
              <a:t>, </a:t>
            </a:r>
            <a:r>
              <a:rPr lang="en-US" altLang="zh-CN" sz="2400" b="1" dirty="0" err="1"/>
              <a:t>k,reateCent</a:t>
            </a:r>
            <a:r>
              <a:rPr lang="en-US" altLang="zh-CN" sz="2400" b="1" dirty="0"/>
              <a:t> = </a:t>
            </a:r>
            <a:r>
              <a:rPr lang="en-US" altLang="zh-CN" sz="2400" b="1" dirty="0" err="1"/>
              <a:t>randCent</a:t>
            </a:r>
            <a:r>
              <a:rPr lang="en-US" altLang="zh-CN" sz="2400" b="1" dirty="0"/>
              <a:t>)</a:t>
            </a:r>
            <a:endParaRPr lang="en-US" altLang="zh-CN" sz="2400" b="1" dirty="0"/>
          </a:p>
        </p:txBody>
      </p:sp>
      <p:sp>
        <p:nvSpPr>
          <p:cNvPr id="45" name="文本框 44"/>
          <p:cNvSpPr txBox="1"/>
          <p:nvPr/>
        </p:nvSpPr>
        <p:spPr>
          <a:xfrm>
            <a:off x="6888088" y="2417117"/>
            <a:ext cx="244065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solidFill>
                  <a:schemeClr val="bg1"/>
                </a:solidFill>
              </a:rPr>
              <a:t>随机生成质心</a:t>
            </a:r>
            <a:endParaRPr lang="zh-CN" altLang="en-US" sz="2000" b="1" dirty="0">
              <a:solidFill>
                <a:schemeClr val="bg1"/>
              </a:solidFill>
            </a:endParaRPr>
          </a:p>
        </p:txBody>
      </p:sp>
      <p:sp>
        <p:nvSpPr>
          <p:cNvPr id="46" name="文本框 45"/>
          <p:cNvSpPr txBox="1"/>
          <p:nvPr/>
        </p:nvSpPr>
        <p:spPr>
          <a:xfrm>
            <a:off x="6888088" y="3064100"/>
            <a:ext cx="244065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solidFill>
                  <a:schemeClr val="bg1"/>
                </a:solidFill>
              </a:rPr>
              <a:t>计算欧式距离</a:t>
            </a:r>
            <a:endParaRPr lang="zh-CN" altLang="en-US" sz="2000" b="1" dirty="0">
              <a:solidFill>
                <a:schemeClr val="bg1"/>
              </a:solidFill>
            </a:endParaRPr>
          </a:p>
        </p:txBody>
      </p:sp>
      <p:sp>
        <p:nvSpPr>
          <p:cNvPr id="47" name="文本框 46"/>
          <p:cNvSpPr txBox="1"/>
          <p:nvPr/>
        </p:nvSpPr>
        <p:spPr>
          <a:xfrm>
            <a:off x="7399762" y="3696130"/>
            <a:ext cx="85647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solidFill>
                  <a:schemeClr val="bg1"/>
                </a:solidFill>
              </a:rPr>
              <a:t>聚类</a:t>
            </a:r>
            <a:endParaRPr lang="zh-CN" altLang="en-US" sz="2000" b="1" dirty="0">
              <a:solidFill>
                <a:schemeClr val="bg1"/>
              </a:solidFill>
            </a:endParaRPr>
          </a:p>
        </p:txBody>
      </p:sp>
      <p:sp>
        <p:nvSpPr>
          <p:cNvPr id="48" name="文本框 47"/>
          <p:cNvSpPr txBox="1"/>
          <p:nvPr/>
        </p:nvSpPr>
        <p:spPr>
          <a:xfrm>
            <a:off x="8262867" y="4360243"/>
            <a:ext cx="185895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solidFill>
                  <a:schemeClr val="bg1"/>
                </a:solidFill>
              </a:rPr>
              <a:t>计算新质心</a:t>
            </a:r>
            <a:endParaRPr lang="zh-CN" altLang="en-US" sz="20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9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4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9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4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26" grpId="0"/>
      <p:bldP spid="27" grpId="0"/>
      <p:bldP spid="28" grpId="0"/>
      <p:bldP spid="29" grpId="0"/>
      <p:bldP spid="45" grpId="0"/>
      <p:bldP spid="46" grpId="0"/>
      <p:bldP spid="47" grpId="0"/>
      <p:bldP spid="48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627149" y="6093296"/>
            <a:ext cx="7170831" cy="612492"/>
            <a:chOff x="2906758" y="6323422"/>
            <a:chExt cx="7170831" cy="612492"/>
          </a:xfrm>
        </p:grpSpPr>
        <p:cxnSp>
          <p:nvCxnSpPr>
            <p:cNvPr id="5" name="直接箭头连接符 4"/>
            <p:cNvCxnSpPr/>
            <p:nvPr/>
          </p:nvCxnSpPr>
          <p:spPr>
            <a:xfrm>
              <a:off x="2906758" y="6494231"/>
              <a:ext cx="6476963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直接连接符 5"/>
            <p:cNvCxnSpPr/>
            <p:nvPr/>
          </p:nvCxnSpPr>
          <p:spPr>
            <a:xfrm>
              <a:off x="3647728" y="6323423"/>
              <a:ext cx="0" cy="170808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直接连接符 6"/>
            <p:cNvCxnSpPr/>
            <p:nvPr/>
          </p:nvCxnSpPr>
          <p:spPr>
            <a:xfrm>
              <a:off x="4223792" y="6323423"/>
              <a:ext cx="0" cy="170808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直接连接符 7"/>
            <p:cNvCxnSpPr/>
            <p:nvPr/>
          </p:nvCxnSpPr>
          <p:spPr>
            <a:xfrm>
              <a:off x="4799856" y="6323423"/>
              <a:ext cx="0" cy="170808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直接连接符 8"/>
            <p:cNvCxnSpPr/>
            <p:nvPr/>
          </p:nvCxnSpPr>
          <p:spPr>
            <a:xfrm>
              <a:off x="5375920" y="6323422"/>
              <a:ext cx="0" cy="170808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直接连接符 9"/>
            <p:cNvCxnSpPr/>
            <p:nvPr/>
          </p:nvCxnSpPr>
          <p:spPr>
            <a:xfrm>
              <a:off x="5951984" y="6323422"/>
              <a:ext cx="0" cy="170808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直接连接符 10"/>
            <p:cNvCxnSpPr/>
            <p:nvPr/>
          </p:nvCxnSpPr>
          <p:spPr>
            <a:xfrm>
              <a:off x="6528048" y="6323422"/>
              <a:ext cx="0" cy="170808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接连接符 11"/>
            <p:cNvCxnSpPr/>
            <p:nvPr/>
          </p:nvCxnSpPr>
          <p:spPr>
            <a:xfrm>
              <a:off x="7151473" y="6323422"/>
              <a:ext cx="0" cy="170808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接连接符 12"/>
            <p:cNvCxnSpPr/>
            <p:nvPr/>
          </p:nvCxnSpPr>
          <p:spPr>
            <a:xfrm>
              <a:off x="7655529" y="6323422"/>
              <a:ext cx="0" cy="170808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/>
            <p:nvPr/>
          </p:nvCxnSpPr>
          <p:spPr>
            <a:xfrm>
              <a:off x="8159585" y="6323422"/>
              <a:ext cx="0" cy="170808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连接符 14"/>
            <p:cNvCxnSpPr/>
            <p:nvPr/>
          </p:nvCxnSpPr>
          <p:spPr>
            <a:xfrm>
              <a:off x="8688288" y="6323422"/>
              <a:ext cx="0" cy="170808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文本框 15"/>
            <p:cNvSpPr txBox="1"/>
            <p:nvPr/>
          </p:nvSpPr>
          <p:spPr>
            <a:xfrm>
              <a:off x="9044797" y="6566582"/>
              <a:ext cx="103279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b="1" dirty="0"/>
                <a:t>篮板</a:t>
              </a:r>
              <a:endParaRPr lang="zh-CN" altLang="en-US" b="1" dirty="0"/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3494872" y="6478899"/>
              <a:ext cx="32501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/>
                <a:t>3</a:t>
              </a:r>
              <a:endParaRPr lang="zh-CN" altLang="en-US" b="1" dirty="0"/>
            </a:p>
          </p:txBody>
        </p:sp>
        <p:sp>
          <p:nvSpPr>
            <p:cNvPr id="18" name="文本框 17"/>
            <p:cNvSpPr txBox="1"/>
            <p:nvPr/>
          </p:nvSpPr>
          <p:spPr>
            <a:xfrm>
              <a:off x="4055127" y="6470969"/>
              <a:ext cx="32501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/>
                <a:t>4</a:t>
              </a:r>
              <a:endParaRPr lang="zh-CN" altLang="en-US" b="1" dirty="0"/>
            </a:p>
          </p:txBody>
        </p:sp>
        <p:sp>
          <p:nvSpPr>
            <p:cNvPr id="19" name="文本框 18"/>
            <p:cNvSpPr txBox="1"/>
            <p:nvPr/>
          </p:nvSpPr>
          <p:spPr>
            <a:xfrm>
              <a:off x="4637956" y="6475151"/>
              <a:ext cx="32501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/>
                <a:t>5</a:t>
              </a:r>
              <a:endParaRPr lang="zh-CN" altLang="en-US" b="1" dirty="0"/>
            </a:p>
          </p:txBody>
        </p:sp>
        <p:sp>
          <p:nvSpPr>
            <p:cNvPr id="20" name="文本框 19"/>
            <p:cNvSpPr txBox="1"/>
            <p:nvPr/>
          </p:nvSpPr>
          <p:spPr>
            <a:xfrm>
              <a:off x="5214019" y="6455987"/>
              <a:ext cx="32501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/>
                <a:t>6</a:t>
              </a:r>
              <a:endParaRPr lang="zh-CN" altLang="en-US" b="1" dirty="0"/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5805891" y="6490296"/>
              <a:ext cx="32501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/>
                <a:t>7</a:t>
              </a:r>
              <a:endParaRPr lang="zh-CN" altLang="en-US" b="1" dirty="0"/>
            </a:p>
          </p:txBody>
        </p:sp>
        <p:sp>
          <p:nvSpPr>
            <p:cNvPr id="22" name="文本框 21"/>
            <p:cNvSpPr txBox="1"/>
            <p:nvPr/>
          </p:nvSpPr>
          <p:spPr>
            <a:xfrm>
              <a:off x="6366146" y="6482366"/>
              <a:ext cx="32501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/>
                <a:t>8</a:t>
              </a:r>
              <a:endParaRPr lang="zh-CN" altLang="en-US" b="1" dirty="0"/>
            </a:p>
          </p:txBody>
        </p:sp>
        <p:sp>
          <p:nvSpPr>
            <p:cNvPr id="23" name="文本框 22"/>
            <p:cNvSpPr txBox="1"/>
            <p:nvPr/>
          </p:nvSpPr>
          <p:spPr>
            <a:xfrm>
              <a:off x="6935416" y="6470969"/>
              <a:ext cx="32501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/>
                <a:t>9</a:t>
              </a:r>
              <a:endParaRPr lang="zh-CN" altLang="en-US" b="1" dirty="0"/>
            </a:p>
          </p:txBody>
        </p:sp>
        <p:sp>
          <p:nvSpPr>
            <p:cNvPr id="24" name="文本框 23"/>
            <p:cNvSpPr txBox="1"/>
            <p:nvPr/>
          </p:nvSpPr>
          <p:spPr>
            <a:xfrm>
              <a:off x="7453348" y="6463754"/>
              <a:ext cx="45365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/>
                <a:t>10</a:t>
              </a:r>
              <a:endParaRPr lang="zh-CN" altLang="en-US" b="1" dirty="0"/>
            </a:p>
          </p:txBody>
        </p:sp>
        <p:sp>
          <p:nvSpPr>
            <p:cNvPr id="25" name="文本框 24"/>
            <p:cNvSpPr txBox="1"/>
            <p:nvPr/>
          </p:nvSpPr>
          <p:spPr>
            <a:xfrm>
              <a:off x="7957762" y="6465598"/>
              <a:ext cx="59584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/>
                <a:t>11</a:t>
              </a:r>
              <a:endParaRPr lang="zh-CN" altLang="en-US" b="1" dirty="0"/>
            </a:p>
          </p:txBody>
        </p:sp>
        <p:sp>
          <p:nvSpPr>
            <p:cNvPr id="26" name="文本框 25"/>
            <p:cNvSpPr txBox="1"/>
            <p:nvPr/>
          </p:nvSpPr>
          <p:spPr>
            <a:xfrm>
              <a:off x="8475527" y="6477979"/>
              <a:ext cx="50741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/>
                <a:t>12</a:t>
              </a:r>
              <a:endParaRPr lang="zh-CN" altLang="en-US" b="1" dirty="0"/>
            </a:p>
          </p:txBody>
        </p:sp>
      </p:grpSp>
      <p:pic>
        <p:nvPicPr>
          <p:cNvPr id="27" name="图片 26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389" r="21923" b="36428"/>
          <a:stretch>
            <a:fillRect/>
          </a:stretch>
        </p:blipFill>
        <p:spPr>
          <a:xfrm>
            <a:off x="1795275" y="4655088"/>
            <a:ext cx="576064" cy="646030"/>
          </a:xfrm>
          <a:prstGeom prst="ellipse">
            <a:avLst/>
          </a:prstGeom>
        </p:spPr>
      </p:pic>
      <p:pic>
        <p:nvPicPr>
          <p:cNvPr id="28" name="图片 27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130" r="26899" b="47125"/>
          <a:stretch>
            <a:fillRect/>
          </a:stretch>
        </p:blipFill>
        <p:spPr>
          <a:xfrm>
            <a:off x="2752310" y="4512946"/>
            <a:ext cx="576064" cy="534646"/>
          </a:xfrm>
          <a:prstGeom prst="ellipse">
            <a:avLst/>
          </a:prstGeom>
        </p:spPr>
      </p:pic>
      <p:pic>
        <p:nvPicPr>
          <p:cNvPr id="29" name="图片 2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5368" y="4281528"/>
            <a:ext cx="575216" cy="575216"/>
          </a:xfrm>
          <a:prstGeom prst="ellipse">
            <a:avLst/>
          </a:prstGeom>
        </p:spPr>
      </p:pic>
      <p:pic>
        <p:nvPicPr>
          <p:cNvPr id="30" name="图片 29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086" r="19844" b="44050"/>
          <a:stretch>
            <a:fillRect/>
          </a:stretch>
        </p:blipFill>
        <p:spPr>
          <a:xfrm>
            <a:off x="2181979" y="2976164"/>
            <a:ext cx="576064" cy="613708"/>
          </a:xfrm>
          <a:prstGeom prst="ellipse">
            <a:avLst/>
          </a:prstGeom>
        </p:spPr>
      </p:pic>
      <p:pic>
        <p:nvPicPr>
          <p:cNvPr id="31" name="图片 30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045" t="8887" r="22876" b="45424"/>
          <a:stretch>
            <a:fillRect/>
          </a:stretch>
        </p:blipFill>
        <p:spPr>
          <a:xfrm>
            <a:off x="2837178" y="3353288"/>
            <a:ext cx="529020" cy="507760"/>
          </a:xfrm>
          <a:prstGeom prst="ellipse">
            <a:avLst/>
          </a:prstGeom>
        </p:spPr>
      </p:pic>
      <p:pic>
        <p:nvPicPr>
          <p:cNvPr id="32" name="图片 31"/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341" r="20773" b="47362"/>
          <a:stretch>
            <a:fillRect/>
          </a:stretch>
        </p:blipFill>
        <p:spPr>
          <a:xfrm>
            <a:off x="4494919" y="1530038"/>
            <a:ext cx="504057" cy="521415"/>
          </a:xfrm>
          <a:prstGeom prst="ellipse">
            <a:avLst/>
          </a:prstGeom>
        </p:spPr>
      </p:pic>
      <p:pic>
        <p:nvPicPr>
          <p:cNvPr id="33" name="图片 32"/>
          <p:cNvPicPr>
            <a:picLocks noChangeAspect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929" t="-193" r="25178" b="54927"/>
          <a:stretch>
            <a:fillRect/>
          </a:stretch>
        </p:blipFill>
        <p:spPr>
          <a:xfrm>
            <a:off x="6043378" y="2311695"/>
            <a:ext cx="495610" cy="497738"/>
          </a:xfrm>
          <a:prstGeom prst="ellipse">
            <a:avLst/>
          </a:prstGeom>
        </p:spPr>
      </p:pic>
      <p:grpSp>
        <p:nvGrpSpPr>
          <p:cNvPr id="34" name="组合 33"/>
          <p:cNvGrpSpPr/>
          <p:nvPr/>
        </p:nvGrpSpPr>
        <p:grpSpPr>
          <a:xfrm>
            <a:off x="194601" y="154638"/>
            <a:ext cx="1131184" cy="6464978"/>
            <a:chOff x="194601" y="154638"/>
            <a:chExt cx="1131184" cy="6464978"/>
          </a:xfrm>
        </p:grpSpPr>
        <p:grpSp>
          <p:nvGrpSpPr>
            <p:cNvPr id="35" name="组合 34"/>
            <p:cNvGrpSpPr/>
            <p:nvPr/>
          </p:nvGrpSpPr>
          <p:grpSpPr>
            <a:xfrm>
              <a:off x="1039064" y="428431"/>
              <a:ext cx="171961" cy="6155366"/>
              <a:chOff x="3287688" y="-597610"/>
              <a:chExt cx="171961" cy="6155366"/>
            </a:xfrm>
          </p:grpSpPr>
          <p:cxnSp>
            <p:nvCxnSpPr>
              <p:cNvPr id="50" name="直接箭头连接符 49"/>
              <p:cNvCxnSpPr/>
              <p:nvPr/>
            </p:nvCxnSpPr>
            <p:spPr>
              <a:xfrm flipV="1">
                <a:off x="3287688" y="-597610"/>
                <a:ext cx="0" cy="6155366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直接连接符 50"/>
              <p:cNvCxnSpPr/>
              <p:nvPr/>
            </p:nvCxnSpPr>
            <p:spPr>
              <a:xfrm>
                <a:off x="3287688" y="3789040"/>
                <a:ext cx="144016" cy="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直接连接符 51"/>
              <p:cNvCxnSpPr/>
              <p:nvPr/>
            </p:nvCxnSpPr>
            <p:spPr>
              <a:xfrm>
                <a:off x="3301841" y="4941168"/>
                <a:ext cx="144016" cy="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直接连接符 52"/>
              <p:cNvCxnSpPr/>
              <p:nvPr/>
            </p:nvCxnSpPr>
            <p:spPr>
              <a:xfrm>
                <a:off x="3301480" y="4365104"/>
                <a:ext cx="144016" cy="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直接连接符 53"/>
              <p:cNvCxnSpPr/>
              <p:nvPr/>
            </p:nvCxnSpPr>
            <p:spPr>
              <a:xfrm>
                <a:off x="3301480" y="764704"/>
                <a:ext cx="144016" cy="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直接连接符 54"/>
              <p:cNvCxnSpPr/>
              <p:nvPr/>
            </p:nvCxnSpPr>
            <p:spPr>
              <a:xfrm>
                <a:off x="3301480" y="3140968"/>
                <a:ext cx="144016" cy="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直接连接符 55"/>
              <p:cNvCxnSpPr/>
              <p:nvPr/>
            </p:nvCxnSpPr>
            <p:spPr>
              <a:xfrm>
                <a:off x="3301480" y="2564904"/>
                <a:ext cx="144016" cy="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直接连接符 56"/>
              <p:cNvCxnSpPr/>
              <p:nvPr/>
            </p:nvCxnSpPr>
            <p:spPr>
              <a:xfrm>
                <a:off x="3315633" y="1916832"/>
                <a:ext cx="144016" cy="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直接连接符 57"/>
              <p:cNvCxnSpPr/>
              <p:nvPr/>
            </p:nvCxnSpPr>
            <p:spPr>
              <a:xfrm>
                <a:off x="3315272" y="1340768"/>
                <a:ext cx="144016" cy="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6" name="文本框 35"/>
            <p:cNvSpPr txBox="1"/>
            <p:nvPr/>
          </p:nvSpPr>
          <p:spPr>
            <a:xfrm>
              <a:off x="627149" y="6250284"/>
              <a:ext cx="44314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i="1" dirty="0"/>
                <a:t>O</a:t>
              </a:r>
              <a:endParaRPr lang="zh-CN" altLang="en-US" b="1" i="1" dirty="0"/>
            </a:p>
          </p:txBody>
        </p:sp>
        <p:sp>
          <p:nvSpPr>
            <p:cNvPr id="37" name="文本框 36"/>
            <p:cNvSpPr txBox="1"/>
            <p:nvPr/>
          </p:nvSpPr>
          <p:spPr>
            <a:xfrm>
              <a:off x="194601" y="154638"/>
              <a:ext cx="6457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b="1" dirty="0"/>
                <a:t>助攻</a:t>
              </a:r>
              <a:endParaRPr lang="zh-CN" altLang="en-US" b="1" dirty="0"/>
            </a:p>
          </p:txBody>
        </p:sp>
        <p:sp>
          <p:nvSpPr>
            <p:cNvPr id="38" name="文本框 37"/>
            <p:cNvSpPr txBox="1"/>
            <p:nvPr/>
          </p:nvSpPr>
          <p:spPr>
            <a:xfrm>
              <a:off x="652062" y="5229200"/>
              <a:ext cx="32501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/>
                <a:t>3</a:t>
              </a:r>
              <a:endParaRPr lang="zh-CN" altLang="en-US" b="1" dirty="0"/>
            </a:p>
          </p:txBody>
        </p:sp>
        <p:sp>
          <p:nvSpPr>
            <p:cNvPr id="39" name="文本框 38"/>
            <p:cNvSpPr txBox="1"/>
            <p:nvPr/>
          </p:nvSpPr>
          <p:spPr>
            <a:xfrm>
              <a:off x="652061" y="4653136"/>
              <a:ext cx="32501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/>
                <a:t>4</a:t>
              </a:r>
              <a:endParaRPr lang="zh-CN" altLang="en-US" b="1" dirty="0"/>
            </a:p>
          </p:txBody>
        </p:sp>
        <p:sp>
          <p:nvSpPr>
            <p:cNvPr id="40" name="文本框 39"/>
            <p:cNvSpPr txBox="1"/>
            <p:nvPr/>
          </p:nvSpPr>
          <p:spPr>
            <a:xfrm>
              <a:off x="649015" y="4005064"/>
              <a:ext cx="32501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/>
                <a:t>5</a:t>
              </a:r>
              <a:endParaRPr lang="zh-CN" altLang="en-US" b="1" dirty="0"/>
            </a:p>
          </p:txBody>
        </p:sp>
        <p:sp>
          <p:nvSpPr>
            <p:cNvPr id="41" name="文本框 40"/>
            <p:cNvSpPr txBox="1"/>
            <p:nvPr/>
          </p:nvSpPr>
          <p:spPr>
            <a:xfrm>
              <a:off x="653553" y="3429000"/>
              <a:ext cx="32501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/>
                <a:t>6</a:t>
              </a:r>
              <a:endParaRPr lang="zh-CN" altLang="en-US" b="1" dirty="0"/>
            </a:p>
          </p:txBody>
        </p:sp>
        <p:sp>
          <p:nvSpPr>
            <p:cNvPr id="42" name="文本框 41"/>
            <p:cNvSpPr txBox="1"/>
            <p:nvPr/>
          </p:nvSpPr>
          <p:spPr>
            <a:xfrm>
              <a:off x="653553" y="2780928"/>
              <a:ext cx="32501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/>
                <a:t>7</a:t>
              </a:r>
              <a:endParaRPr lang="zh-CN" altLang="en-US" b="1" dirty="0"/>
            </a:p>
          </p:txBody>
        </p:sp>
        <p:sp>
          <p:nvSpPr>
            <p:cNvPr id="43" name="文本框 42"/>
            <p:cNvSpPr txBox="1"/>
            <p:nvPr/>
          </p:nvSpPr>
          <p:spPr>
            <a:xfrm>
              <a:off x="670472" y="2232046"/>
              <a:ext cx="32501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/>
                <a:t>8</a:t>
              </a:r>
              <a:endParaRPr lang="zh-CN" altLang="en-US" b="1" dirty="0"/>
            </a:p>
          </p:txBody>
        </p:sp>
        <p:sp>
          <p:nvSpPr>
            <p:cNvPr id="44" name="文本框 43"/>
            <p:cNvSpPr txBox="1"/>
            <p:nvPr/>
          </p:nvSpPr>
          <p:spPr>
            <a:xfrm>
              <a:off x="695400" y="1628800"/>
              <a:ext cx="32501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/>
                <a:t>9</a:t>
              </a:r>
              <a:endParaRPr lang="zh-CN" altLang="en-US" b="1" dirty="0"/>
            </a:p>
          </p:txBody>
        </p:sp>
        <p:sp>
          <p:nvSpPr>
            <p:cNvPr id="45" name="文本框 44"/>
            <p:cNvSpPr txBox="1"/>
            <p:nvPr/>
          </p:nvSpPr>
          <p:spPr>
            <a:xfrm>
              <a:off x="632062" y="1077033"/>
              <a:ext cx="66656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/>
                <a:t>10</a:t>
              </a:r>
              <a:endParaRPr lang="zh-CN" altLang="en-US" b="1" dirty="0"/>
            </a:p>
          </p:txBody>
        </p:sp>
        <p:cxnSp>
          <p:nvCxnSpPr>
            <p:cNvPr id="46" name="直接连接符 45"/>
            <p:cNvCxnSpPr/>
            <p:nvPr/>
          </p:nvCxnSpPr>
          <p:spPr>
            <a:xfrm>
              <a:off x="1053217" y="1210947"/>
              <a:ext cx="144016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直接连接符 46"/>
            <p:cNvCxnSpPr/>
            <p:nvPr/>
          </p:nvCxnSpPr>
          <p:spPr>
            <a:xfrm>
              <a:off x="1052856" y="634883"/>
              <a:ext cx="144016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8" name="文本框 47"/>
            <p:cNvSpPr txBox="1"/>
            <p:nvPr/>
          </p:nvSpPr>
          <p:spPr>
            <a:xfrm>
              <a:off x="659220" y="508731"/>
              <a:ext cx="666565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altLang="zh-CN" b="1" dirty="0"/>
                <a:t>11</a:t>
              </a:r>
              <a:endParaRPr lang="zh-CN" altLang="en-US" b="1" dirty="0"/>
            </a:p>
          </p:txBody>
        </p:sp>
        <p:sp>
          <p:nvSpPr>
            <p:cNvPr id="49" name="文本框 48"/>
            <p:cNvSpPr txBox="1"/>
            <p:nvPr/>
          </p:nvSpPr>
          <p:spPr>
            <a:xfrm>
              <a:off x="645819" y="5802804"/>
              <a:ext cx="32501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/>
                <a:t>2</a:t>
              </a:r>
              <a:endParaRPr lang="zh-CN" altLang="en-US" b="1" dirty="0"/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62" name="文本框 61"/>
              <p:cNvSpPr txBox="1"/>
              <p:nvPr/>
            </p:nvSpPr>
            <p:spPr>
              <a:xfrm>
                <a:off x="1624830" y="5388865"/>
                <a:ext cx="95141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62" name="文本框 6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4830" y="5388865"/>
                <a:ext cx="951414" cy="276999"/>
              </a:xfrm>
              <a:prstGeom prst="rect">
                <a:avLst/>
              </a:prstGeom>
              <a:blipFill rotWithShape="1">
                <a:blip r:embed="rId8"/>
                <a:stretch>
                  <a:fillRect l="-53" t="-92" r="-3866" b="14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3" name="文本框 62"/>
              <p:cNvSpPr txBox="1"/>
              <p:nvPr/>
            </p:nvSpPr>
            <p:spPr>
              <a:xfrm>
                <a:off x="2859121" y="5121784"/>
                <a:ext cx="95141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63" name="文本框 6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9121" y="5121784"/>
                <a:ext cx="951414" cy="276999"/>
              </a:xfrm>
              <a:prstGeom prst="rect">
                <a:avLst/>
              </a:prstGeom>
              <a:blipFill rotWithShape="1">
                <a:blip r:embed="rId9"/>
                <a:stretch>
                  <a:fillRect l="-37" t="-184" r="-3882" b="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4" name="文本框 63"/>
              <p:cNvSpPr txBox="1"/>
              <p:nvPr/>
            </p:nvSpPr>
            <p:spPr>
              <a:xfrm>
                <a:off x="3103045" y="3904503"/>
                <a:ext cx="95141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9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64" name="文本框 6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03045" y="3904503"/>
                <a:ext cx="951414" cy="276999"/>
              </a:xfrm>
              <a:prstGeom prst="rect">
                <a:avLst/>
              </a:prstGeom>
              <a:blipFill rotWithShape="1">
                <a:blip r:embed="rId10"/>
                <a:stretch>
                  <a:fillRect l="-46" t="-189" r="-3873" b="1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5" name="文本框 64"/>
              <p:cNvSpPr txBox="1"/>
              <p:nvPr/>
            </p:nvSpPr>
            <p:spPr>
              <a:xfrm>
                <a:off x="1631845" y="3564435"/>
                <a:ext cx="95141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65" name="文本框 6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1845" y="3564435"/>
                <a:ext cx="951414" cy="276999"/>
              </a:xfrm>
              <a:prstGeom prst="rect">
                <a:avLst/>
              </a:prstGeom>
              <a:blipFill rotWithShape="1">
                <a:blip r:embed="rId11"/>
                <a:stretch>
                  <a:fillRect l="-56" t="-65" r="-3863" b="11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6" name="文本框 65"/>
              <p:cNvSpPr txBox="1"/>
              <p:nvPr/>
            </p:nvSpPr>
            <p:spPr>
              <a:xfrm>
                <a:off x="5841531" y="2922675"/>
                <a:ext cx="107965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12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66" name="文本框 6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41531" y="2922675"/>
                <a:ext cx="1079655" cy="276999"/>
              </a:xfrm>
              <a:prstGeom prst="rect">
                <a:avLst/>
              </a:prstGeom>
              <a:blipFill rotWithShape="1">
                <a:blip r:embed="rId12"/>
                <a:stretch>
                  <a:fillRect l="-15" t="-146" r="-3323" b="19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7" name="文本框 66"/>
              <p:cNvSpPr txBox="1"/>
              <p:nvPr/>
            </p:nvSpPr>
            <p:spPr>
              <a:xfrm>
                <a:off x="4185552" y="4731215"/>
                <a:ext cx="95141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67" name="文本框 6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85552" y="4731215"/>
                <a:ext cx="951414" cy="276999"/>
              </a:xfrm>
              <a:prstGeom prst="rect">
                <a:avLst/>
              </a:prstGeom>
              <a:blipFill rotWithShape="1">
                <a:blip r:embed="rId13"/>
                <a:stretch>
                  <a:fillRect l="-28" t="-168" r="-3890" b="21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0" name="椭圆 89"/>
          <p:cNvSpPr/>
          <p:nvPr/>
        </p:nvSpPr>
        <p:spPr>
          <a:xfrm>
            <a:off x="4481258" y="1523434"/>
            <a:ext cx="534622" cy="534622"/>
          </a:xfrm>
          <a:prstGeom prst="ellipse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9" name="椭圆 98"/>
          <p:cNvSpPr/>
          <p:nvPr/>
        </p:nvSpPr>
        <p:spPr>
          <a:xfrm>
            <a:off x="2762586" y="4502111"/>
            <a:ext cx="550756" cy="550756"/>
          </a:xfrm>
          <a:prstGeom prst="ellipse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2" name="椭圆 101"/>
          <p:cNvSpPr/>
          <p:nvPr/>
        </p:nvSpPr>
        <p:spPr>
          <a:xfrm>
            <a:off x="1754877" y="4656928"/>
            <a:ext cx="616462" cy="646352"/>
          </a:xfrm>
          <a:prstGeom prst="ellipse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5" name="椭圆 104"/>
          <p:cNvSpPr/>
          <p:nvPr/>
        </p:nvSpPr>
        <p:spPr>
          <a:xfrm>
            <a:off x="6039781" y="2287276"/>
            <a:ext cx="513321" cy="522157"/>
          </a:xfrm>
          <a:prstGeom prst="ellipse">
            <a:avLst/>
          </a:prstGeom>
          <a:noFill/>
          <a:ln>
            <a:solidFill>
              <a:srgbClr val="558ED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3" name="椭圆 122"/>
          <p:cNvSpPr/>
          <p:nvPr/>
        </p:nvSpPr>
        <p:spPr>
          <a:xfrm>
            <a:off x="2184467" y="2988881"/>
            <a:ext cx="571208" cy="597884"/>
          </a:xfrm>
          <a:prstGeom prst="ellipse">
            <a:avLst/>
          </a:prstGeom>
          <a:noFill/>
          <a:ln>
            <a:solidFill>
              <a:schemeClr val="bg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9" name="椭圆 128"/>
          <p:cNvSpPr/>
          <p:nvPr/>
        </p:nvSpPr>
        <p:spPr>
          <a:xfrm>
            <a:off x="2828923" y="3338300"/>
            <a:ext cx="536824" cy="536824"/>
          </a:xfrm>
          <a:prstGeom prst="ellipse">
            <a:avLst/>
          </a:prstGeom>
          <a:noFill/>
          <a:ln>
            <a:solidFill>
              <a:schemeClr val="bg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3" name="椭圆 132"/>
          <p:cNvSpPr/>
          <p:nvPr/>
        </p:nvSpPr>
        <p:spPr>
          <a:xfrm>
            <a:off x="3698500" y="4290816"/>
            <a:ext cx="549761" cy="556639"/>
          </a:xfrm>
          <a:prstGeom prst="ellipse">
            <a:avLst/>
          </a:prstGeom>
          <a:noFill/>
          <a:ln>
            <a:solidFill>
              <a:schemeClr val="bg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2" name="椭圆 111"/>
          <p:cNvSpPr/>
          <p:nvPr/>
        </p:nvSpPr>
        <p:spPr>
          <a:xfrm>
            <a:off x="6039780" y="2287276"/>
            <a:ext cx="513321" cy="522157"/>
          </a:xfrm>
          <a:prstGeom prst="ellipse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2" name="椭圆 91"/>
          <p:cNvSpPr/>
          <p:nvPr/>
        </p:nvSpPr>
        <p:spPr>
          <a:xfrm>
            <a:off x="5168913" y="2090934"/>
            <a:ext cx="312329" cy="312329"/>
          </a:xfrm>
          <a:prstGeom prst="ellipse">
            <a:avLst/>
          </a:prstGeom>
          <a:solidFill>
            <a:srgbClr val="FFFF00"/>
          </a:solidFill>
          <a:ln w="571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3" name="椭圆 92"/>
          <p:cNvSpPr/>
          <p:nvPr/>
        </p:nvSpPr>
        <p:spPr>
          <a:xfrm>
            <a:off x="2755060" y="4090095"/>
            <a:ext cx="312329" cy="312329"/>
          </a:xfrm>
          <a:prstGeom prst="ellipse">
            <a:avLst/>
          </a:prstGeom>
          <a:solidFill>
            <a:srgbClr val="00B0F0"/>
          </a:solidFill>
          <a:ln w="571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5" name="文本框 94"/>
              <p:cNvSpPr txBox="1"/>
              <p:nvPr/>
            </p:nvSpPr>
            <p:spPr>
              <a:xfrm>
                <a:off x="5603566" y="2046735"/>
                <a:ext cx="842475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CN" sz="160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6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9</m:t>
                          </m:r>
                          <m:r>
                            <a:rPr lang="en-US" altLang="zh-CN" sz="16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altLang="zh-CN" sz="16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  <m:r>
                            <a:rPr lang="en-US" altLang="zh-CN" sz="16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CN" sz="16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8</m:t>
                          </m:r>
                          <m:r>
                            <a:rPr lang="en-US" altLang="zh-CN" sz="16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altLang="zh-CN" sz="16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</m:oMath>
                  </m:oMathPara>
                </a14:m>
                <a:endParaRPr lang="zh-CN" altLang="en-US" sz="1600" dirty="0">
                  <a:solidFill>
                    <a:srgbClr val="FFFF00"/>
                  </a:solidFill>
                </a:endParaRPr>
              </a:p>
            </p:txBody>
          </p:sp>
        </mc:Choice>
        <mc:Fallback>
          <p:sp>
            <p:nvSpPr>
              <p:cNvPr id="95" name="文本框 9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03566" y="2046735"/>
                <a:ext cx="842475" cy="246221"/>
              </a:xfrm>
              <a:prstGeom prst="rect">
                <a:avLst/>
              </a:prstGeom>
              <a:blipFill rotWithShape="1">
                <a:blip r:embed="rId14"/>
                <a:stretch>
                  <a:fillRect l="-39" t="-53" r="-4127" b="24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6" name="文本框 95"/>
              <p:cNvSpPr txBox="1"/>
              <p:nvPr/>
            </p:nvSpPr>
            <p:spPr>
              <a:xfrm>
                <a:off x="1678393" y="4210550"/>
                <a:ext cx="1070101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CN" sz="160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6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  <m:r>
                            <a:rPr lang="en-US" altLang="zh-CN" sz="16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altLang="zh-CN" sz="16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66</m:t>
                          </m:r>
                          <m:r>
                            <a:rPr lang="en-US" altLang="zh-CN" sz="16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CN" sz="16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n-US" altLang="zh-CN" sz="16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altLang="zh-CN" sz="16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84</m:t>
                          </m:r>
                        </m:e>
                      </m:d>
                    </m:oMath>
                  </m:oMathPara>
                </a14:m>
                <a:endParaRPr lang="zh-CN" altLang="en-US" sz="1600" dirty="0">
                  <a:solidFill>
                    <a:srgbClr val="00B0F0"/>
                  </a:solidFill>
                </a:endParaRPr>
              </a:p>
            </p:txBody>
          </p:sp>
        </mc:Choice>
        <mc:Fallback>
          <p:sp>
            <p:nvSpPr>
              <p:cNvPr id="96" name="文本框 9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78393" y="4210550"/>
                <a:ext cx="1070101" cy="246221"/>
              </a:xfrm>
              <a:prstGeom prst="rect">
                <a:avLst/>
              </a:prstGeom>
              <a:blipFill rotWithShape="1">
                <a:blip r:embed="rId15"/>
                <a:stretch>
                  <a:fillRect l="-8" t="-203" r="-3125" b="13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2" name="椭圆 131"/>
          <p:cNvSpPr/>
          <p:nvPr/>
        </p:nvSpPr>
        <p:spPr>
          <a:xfrm rot="3923023">
            <a:off x="1231754" y="2983723"/>
            <a:ext cx="3304086" cy="2858053"/>
          </a:xfrm>
          <a:prstGeom prst="ellipse">
            <a:avLst/>
          </a:prstGeom>
          <a:noFill/>
          <a:ln w="57150">
            <a:solidFill>
              <a:schemeClr val="bg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4" name="椭圆 133"/>
          <p:cNvSpPr/>
          <p:nvPr/>
        </p:nvSpPr>
        <p:spPr>
          <a:xfrm rot="346687">
            <a:off x="3434762" y="1380031"/>
            <a:ext cx="3225527" cy="2014142"/>
          </a:xfrm>
          <a:prstGeom prst="ellipse">
            <a:avLst/>
          </a:prstGeom>
          <a:noFill/>
          <a:ln w="5715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1" name="图片 80"/>
          <p:cNvPicPr>
            <a:picLocks noChangeAspect="1"/>
          </p:cNvPicPr>
          <p:nvPr/>
        </p:nvPicPr>
        <p:blipFill rotWithShape="1"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557" t="446" r="27557" b="52305"/>
          <a:stretch>
            <a:fillRect/>
          </a:stretch>
        </p:blipFill>
        <p:spPr>
          <a:xfrm>
            <a:off x="3615098" y="2202646"/>
            <a:ext cx="512896" cy="553388"/>
          </a:xfrm>
          <a:prstGeom prst="ellipse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82" name="文本框 81"/>
              <p:cNvSpPr txBox="1"/>
              <p:nvPr/>
            </p:nvSpPr>
            <p:spPr>
              <a:xfrm>
                <a:off x="3287688" y="2788811"/>
                <a:ext cx="95141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82" name="文本框 8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87688" y="2788811"/>
                <a:ext cx="951414" cy="276999"/>
              </a:xfrm>
              <a:prstGeom prst="rect">
                <a:avLst/>
              </a:prstGeom>
              <a:blipFill rotWithShape="1">
                <a:blip r:embed="rId17"/>
                <a:stretch>
                  <a:fillRect l="-31" t="-190" r="-3888" b="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3" name="椭圆 82"/>
          <p:cNvSpPr/>
          <p:nvPr/>
        </p:nvSpPr>
        <p:spPr>
          <a:xfrm>
            <a:off x="3602610" y="2208917"/>
            <a:ext cx="534622" cy="534622"/>
          </a:xfrm>
          <a:prstGeom prst="ellipse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1" name="文本框 60"/>
              <p:cNvSpPr txBox="1"/>
              <p:nvPr/>
            </p:nvSpPr>
            <p:spPr>
              <a:xfrm>
                <a:off x="4651010" y="2100541"/>
                <a:ext cx="95141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9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61" name="文本框 6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51010" y="2100541"/>
                <a:ext cx="951414" cy="276999"/>
              </a:xfrm>
              <a:prstGeom prst="rect">
                <a:avLst/>
              </a:prstGeom>
              <a:blipFill rotWithShape="1">
                <a:blip r:embed="rId18"/>
                <a:stretch>
                  <a:fillRect l="-28" t="-215" r="-3890" b="3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pPr algn="ctr" eaLnBrk="1" hangingPunct="1"/>
            <a:r>
              <a:rPr lang="zh-CN" altLang="en-US" dirty="0"/>
              <a:t>总结</a:t>
            </a:r>
            <a:endParaRPr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2315579" y="2900864"/>
            <a:ext cx="1800201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dirty="0">
                <a:latin typeface="-apple-system"/>
              </a:rPr>
              <a:t>客户分类管理</a:t>
            </a:r>
            <a:endParaRPr lang="zh-CN" altLang="en-US" sz="2000" dirty="0"/>
          </a:p>
        </p:txBody>
      </p:sp>
      <p:grpSp>
        <p:nvGrpSpPr>
          <p:cNvPr id="6" name="组合 5"/>
          <p:cNvGrpSpPr/>
          <p:nvPr/>
        </p:nvGrpSpPr>
        <p:grpSpPr>
          <a:xfrm>
            <a:off x="1055440" y="2178859"/>
            <a:ext cx="6552728" cy="461665"/>
            <a:chOff x="1055440" y="2079248"/>
            <a:chExt cx="5688632" cy="461665"/>
          </a:xfrm>
        </p:grpSpPr>
        <p:sp>
          <p:nvSpPr>
            <p:cNvPr id="7" name="矩形 6"/>
            <p:cNvSpPr/>
            <p:nvPr/>
          </p:nvSpPr>
          <p:spPr>
            <a:xfrm>
              <a:off x="1487488" y="2079248"/>
              <a:ext cx="5256584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zh-CN" sz="2400" dirty="0">
                  <a:latin typeface="-apple-system"/>
                </a:rPr>
                <a:t>K-means</a:t>
              </a:r>
              <a:r>
                <a:rPr lang="zh-CN" altLang="en-US" sz="2400" dirty="0">
                  <a:latin typeface="-apple-system"/>
                </a:rPr>
                <a:t>聚类过程</a:t>
              </a:r>
              <a:r>
                <a:rPr lang="en-US" altLang="zh-CN" sz="2400" dirty="0">
                  <a:latin typeface="-apple-system"/>
                </a:rPr>
                <a:t>——NBA</a:t>
              </a:r>
              <a:r>
                <a:rPr lang="zh-CN" altLang="en-US" sz="2400" dirty="0">
                  <a:latin typeface="-apple-system"/>
                </a:rPr>
                <a:t>球员能力分析</a:t>
              </a:r>
              <a:endParaRPr lang="zh-CN" altLang="en-US" sz="2400" dirty="0"/>
            </a:p>
          </p:txBody>
        </p:sp>
        <p:sp>
          <p:nvSpPr>
            <p:cNvPr id="8" name="菱形 7"/>
            <p:cNvSpPr/>
            <p:nvPr/>
          </p:nvSpPr>
          <p:spPr>
            <a:xfrm>
              <a:off x="1055440" y="2171291"/>
              <a:ext cx="216024" cy="216024"/>
            </a:xfrm>
            <a:prstGeom prst="diamond">
              <a:avLst/>
            </a:prstGeom>
            <a:solidFill>
              <a:srgbClr val="558ED5"/>
            </a:solidFill>
            <a:ln>
              <a:solidFill>
                <a:srgbClr val="558ED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/>
            </a:p>
          </p:txBody>
        </p:sp>
      </p:grpSp>
      <p:sp>
        <p:nvSpPr>
          <p:cNvPr id="9" name="菱形 8"/>
          <p:cNvSpPr/>
          <p:nvPr/>
        </p:nvSpPr>
        <p:spPr>
          <a:xfrm>
            <a:off x="2063552" y="3028911"/>
            <a:ext cx="144016" cy="144016"/>
          </a:xfrm>
          <a:prstGeom prst="diamond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23592" y="3744635"/>
            <a:ext cx="2939527" cy="2204645"/>
          </a:xfrm>
          <a:prstGeom prst="rect">
            <a:avLst/>
          </a:prstGeom>
        </p:spPr>
      </p:pic>
      <p:sp>
        <p:nvSpPr>
          <p:cNvPr id="11" name="矩形 10"/>
          <p:cNvSpPr/>
          <p:nvPr/>
        </p:nvSpPr>
        <p:spPr>
          <a:xfrm>
            <a:off x="6384032" y="2902161"/>
            <a:ext cx="1800201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dirty="0">
                <a:latin typeface="-apple-system"/>
              </a:rPr>
              <a:t>文本分类管理</a:t>
            </a:r>
            <a:endParaRPr lang="zh-CN" altLang="en-US" sz="2000" dirty="0"/>
          </a:p>
        </p:txBody>
      </p:sp>
      <p:sp>
        <p:nvSpPr>
          <p:cNvPr id="12" name="菱形 11"/>
          <p:cNvSpPr/>
          <p:nvPr/>
        </p:nvSpPr>
        <p:spPr>
          <a:xfrm>
            <a:off x="6132005" y="3030208"/>
            <a:ext cx="144016" cy="144016"/>
          </a:xfrm>
          <a:prstGeom prst="diamond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56040" y="3733709"/>
            <a:ext cx="2695132" cy="2215571"/>
          </a:xfrm>
          <a:prstGeom prst="rect">
            <a:avLst/>
          </a:prstGeom>
        </p:spPr>
      </p:pic>
      <p:grpSp>
        <p:nvGrpSpPr>
          <p:cNvPr id="14" name="组合 13"/>
          <p:cNvGrpSpPr/>
          <p:nvPr/>
        </p:nvGrpSpPr>
        <p:grpSpPr>
          <a:xfrm>
            <a:off x="1055440" y="1548299"/>
            <a:ext cx="9793087" cy="461665"/>
            <a:chOff x="1055440" y="2079248"/>
            <a:chExt cx="8501691" cy="461665"/>
          </a:xfrm>
        </p:grpSpPr>
        <p:sp>
          <p:nvSpPr>
            <p:cNvPr id="15" name="矩形 14"/>
            <p:cNvSpPr/>
            <p:nvPr/>
          </p:nvSpPr>
          <p:spPr>
            <a:xfrm>
              <a:off x="1487488" y="2079248"/>
              <a:ext cx="8069643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400" dirty="0">
                  <a:latin typeface="-apple-system"/>
                </a:rPr>
                <a:t>聚类</a:t>
              </a:r>
              <a:r>
                <a:rPr lang="en-US" altLang="zh-CN" sz="2400" dirty="0">
                  <a:latin typeface="-apple-system"/>
                </a:rPr>
                <a:t>——</a:t>
              </a:r>
              <a:r>
                <a:rPr lang="zh-CN" altLang="en-US" sz="2400" dirty="0">
                  <a:latin typeface="-apple-system"/>
                </a:rPr>
                <a:t>将对象的集合分成由类似的对象组成的多个类别的过程</a:t>
              </a:r>
              <a:endParaRPr lang="zh-CN" altLang="en-US" sz="2400" dirty="0">
                <a:latin typeface="-apple-system"/>
              </a:endParaRPr>
            </a:p>
          </p:txBody>
        </p:sp>
        <p:sp>
          <p:nvSpPr>
            <p:cNvPr id="16" name="菱形 15"/>
            <p:cNvSpPr/>
            <p:nvPr/>
          </p:nvSpPr>
          <p:spPr>
            <a:xfrm>
              <a:off x="1055440" y="2171291"/>
              <a:ext cx="216024" cy="216024"/>
            </a:xfrm>
            <a:prstGeom prst="diamond">
              <a:avLst/>
            </a:prstGeom>
            <a:solidFill>
              <a:srgbClr val="558ED5"/>
            </a:solidFill>
            <a:ln>
              <a:solidFill>
                <a:srgbClr val="558ED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9" grpId="0" animBg="1"/>
      <p:bldP spid="11" grpId="0"/>
      <p:bldP spid="12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zh-CN" altLang="en-US" dirty="0"/>
              <a:t>谢 谢 ！</a:t>
            </a:r>
            <a:endParaRPr lang="zh-CN" alt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沉稳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80000"/>
              </a:schemeClr>
            </a:gs>
            <a:gs pos="62000">
              <a:schemeClr val="phClr">
                <a:tint val="30000"/>
                <a:satMod val="180000"/>
              </a:schemeClr>
            </a:gs>
            <a:gs pos="100000">
              <a:schemeClr val="phClr">
                <a:tint val="22000"/>
                <a:satMod val="18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58000"/>
                <a:satMod val="150000"/>
              </a:schemeClr>
            </a:gs>
            <a:gs pos="72000">
              <a:schemeClr val="phClr">
                <a:tint val="90000"/>
                <a:satMod val="135000"/>
              </a:schemeClr>
            </a:gs>
            <a:gs pos="100000">
              <a:schemeClr val="phClr">
                <a:tint val="8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80000"/>
            </a:schemeClr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soft" dir="tl">
              <a:rot lat="0" lon="0" rev="20000000"/>
            </a:lightRig>
          </a:scene3d>
          <a:sp3d prstMaterial="matte">
            <a:bevelT w="63500" h="6350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>
            <a:lumMod val="75000"/>
          </a:schemeClr>
        </a:solidFill>
        <a:ln>
          <a:solidFill>
            <a:schemeClr val="accent1">
              <a:lumMod val="75000"/>
            </a:schemeClr>
          </a:solidFill>
        </a:ln>
      </a:spPr>
      <a:bodyPr rtlCol="0" anchor="ctr"/>
      <a:lstStyle>
        <a:defPPr algn="ctr">
          <a:defRPr sz="2000" b="1"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3044</Words>
  <Application>WPS 演示</Application>
  <PresentationFormat>宽屏</PresentationFormat>
  <Paragraphs>1011</Paragraphs>
  <Slides>18</Slides>
  <Notes>16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18</vt:i4>
      </vt:variant>
    </vt:vector>
  </HeadingPairs>
  <TitlesOfParts>
    <vt:vector size="28" baseType="lpstr">
      <vt:lpstr>Arial</vt:lpstr>
      <vt:lpstr>宋体</vt:lpstr>
      <vt:lpstr>Wingdings</vt:lpstr>
      <vt:lpstr>微软雅黑</vt:lpstr>
      <vt:lpstr>Calibri</vt:lpstr>
      <vt:lpstr>Cambria Math</vt:lpstr>
      <vt:lpstr>-apple-system</vt:lpstr>
      <vt:lpstr>Arial Unicode MS</vt:lpstr>
      <vt:lpstr>Office 主题</vt:lpstr>
      <vt:lpstr>自定义设计方案</vt:lpstr>
      <vt:lpstr>聚类算法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总结</vt:lpstr>
      <vt:lpstr>谢 谢 ！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模式识别与应用</dc:title>
  <dc:creator/>
  <cp:lastModifiedBy>杨吉钰</cp:lastModifiedBy>
  <cp:revision>4</cp:revision>
  <dcterms:created xsi:type="dcterms:W3CDTF">2026-06-30T05:57:18Z</dcterms:created>
  <dcterms:modified xsi:type="dcterms:W3CDTF">2026-06-30T05:57:43Z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C9DECC5C10FA45E5B8FD57A43CB392D7_12</vt:lpwstr>
  </property>
  <property fmtid="{D5CDD505-2E9C-101B-9397-08002B2CF9AE}" pid="3" name="KSOProductBuildVer">
    <vt:lpwstr>2052-12.1.0.26895</vt:lpwstr>
  </property>
</Properties>
</file>